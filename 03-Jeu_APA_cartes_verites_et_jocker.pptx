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0693400" cy="7556500"/>
  <p:notesSz cx="6858000" cy="9144000"/>
  <p:embeddedFontLst>
    <p:embeddedFont>
      <p:font typeface="The Seasons" charset="1" panose="00000000000000000000"/>
      <p:regular r:id="rId12"/>
    </p:embeddedFont>
    <p:embeddedFont>
      <p:font typeface="The Seasons Bold" charset="1" panose="00000000000000000000"/>
      <p:regular r:id="rId13"/>
    </p:embeddedFont>
    <p:embeddedFont>
      <p:font typeface="Nunito" charset="1" panose="00000000000000000000"/>
      <p:regular r:id="rId14"/>
    </p:embeddedFont>
    <p:embeddedFont>
      <p:font typeface="Nunito Italics" charset="1" panose="00000000000000000000"/>
      <p:regular r:id="rId15"/>
    </p:embeddedFont>
    <p:embeddedFont>
      <p:font typeface="Nunito Bold Italics" charset="1" panose="00000000000000000000"/>
      <p:regular r:id="rId16"/>
    </p:embeddedFont>
    <p:embeddedFont>
      <p:font typeface="Cocomat Pro Bold" charset="1" panose="000007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16" Target="../media/image18.png" Type="http://schemas.openxmlformats.org/officeDocument/2006/relationships/image"/><Relationship Id="rId17" Target="../media/image19.sv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16" Target="../media/image18.png" Type="http://schemas.openxmlformats.org/officeDocument/2006/relationships/image"/><Relationship Id="rId17" Target="../media/image19.sv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11" Target="mailto:infotheque.hets@hesge.ch" TargetMode="External" Type="http://schemas.openxmlformats.org/officeDocument/2006/relationships/hyperlink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31.png" Type="http://schemas.openxmlformats.org/officeDocument/2006/relationships/image"/><Relationship Id="rId15" Target="../media/image32.svg" Type="http://schemas.openxmlformats.org/officeDocument/2006/relationships/image"/><Relationship Id="rId16" Target="../media/image33.png" Type="http://schemas.openxmlformats.org/officeDocument/2006/relationships/image"/><Relationship Id="rId17" Target="../media/image34.sv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41323" y="181223"/>
            <a:ext cx="2431848" cy="3504122"/>
            <a:chOff x="0" y="0"/>
            <a:chExt cx="1864859" cy="26871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EF6F4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41323" y="3874655"/>
            <a:ext cx="2431848" cy="3504122"/>
            <a:chOff x="0" y="0"/>
            <a:chExt cx="1864859" cy="26871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EF6F4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6480" y="181223"/>
            <a:ext cx="2431848" cy="3504122"/>
            <a:chOff x="0" y="0"/>
            <a:chExt cx="1864859" cy="26871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EF6F4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818829" y="181223"/>
            <a:ext cx="2431848" cy="3504122"/>
            <a:chOff x="0" y="0"/>
            <a:chExt cx="1864859" cy="26871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EF6F4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940238" y="1150157"/>
            <a:ext cx="2189176" cy="1342548"/>
            <a:chOff x="0" y="0"/>
            <a:chExt cx="784551" cy="4811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4551" cy="481139"/>
            </a:xfrm>
            <a:custGeom>
              <a:avLst/>
              <a:gdLst/>
              <a:ahLst/>
              <a:cxnLst/>
              <a:rect r="r" b="b" t="t" l="l"/>
              <a:pathLst>
                <a:path h="481139" w="784551">
                  <a:moveTo>
                    <a:pt x="35365" y="0"/>
                  </a:moveTo>
                  <a:lnTo>
                    <a:pt x="749187" y="0"/>
                  </a:lnTo>
                  <a:cubicBezTo>
                    <a:pt x="768718" y="0"/>
                    <a:pt x="784551" y="15833"/>
                    <a:pt x="784551" y="35365"/>
                  </a:cubicBezTo>
                  <a:lnTo>
                    <a:pt x="784551" y="445774"/>
                  </a:lnTo>
                  <a:cubicBezTo>
                    <a:pt x="784551" y="465306"/>
                    <a:pt x="768718" y="481139"/>
                    <a:pt x="749187" y="481139"/>
                  </a:cubicBezTo>
                  <a:lnTo>
                    <a:pt x="35365" y="481139"/>
                  </a:lnTo>
                  <a:cubicBezTo>
                    <a:pt x="25985" y="481139"/>
                    <a:pt x="16990" y="477413"/>
                    <a:pt x="10358" y="470781"/>
                  </a:cubicBezTo>
                  <a:cubicBezTo>
                    <a:pt x="3726" y="464149"/>
                    <a:pt x="0" y="455153"/>
                    <a:pt x="0" y="445774"/>
                  </a:cubicBezTo>
                  <a:lnTo>
                    <a:pt x="0" y="35365"/>
                  </a:lnTo>
                  <a:cubicBezTo>
                    <a:pt x="0" y="15833"/>
                    <a:pt x="15833" y="0"/>
                    <a:pt x="35365" y="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784551" cy="5097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818829" y="3874655"/>
            <a:ext cx="2431848" cy="3504122"/>
            <a:chOff x="0" y="0"/>
            <a:chExt cx="1864859" cy="26871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EF6F4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063817" y="181223"/>
            <a:ext cx="2431848" cy="3504122"/>
            <a:chOff x="0" y="0"/>
            <a:chExt cx="1864859" cy="26871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EF6F4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185153" y="4842614"/>
            <a:ext cx="2189176" cy="1021889"/>
            <a:chOff x="0" y="0"/>
            <a:chExt cx="784551" cy="36622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84551" cy="366222"/>
            </a:xfrm>
            <a:custGeom>
              <a:avLst/>
              <a:gdLst/>
              <a:ahLst/>
              <a:cxnLst/>
              <a:rect r="r" b="b" t="t" l="l"/>
              <a:pathLst>
                <a:path h="366222" w="784551">
                  <a:moveTo>
                    <a:pt x="35365" y="0"/>
                  </a:moveTo>
                  <a:lnTo>
                    <a:pt x="749187" y="0"/>
                  </a:lnTo>
                  <a:cubicBezTo>
                    <a:pt x="768718" y="0"/>
                    <a:pt x="784551" y="15833"/>
                    <a:pt x="784551" y="35365"/>
                  </a:cubicBezTo>
                  <a:lnTo>
                    <a:pt x="784551" y="330857"/>
                  </a:lnTo>
                  <a:cubicBezTo>
                    <a:pt x="784551" y="340237"/>
                    <a:pt x="780826" y="349232"/>
                    <a:pt x="774193" y="355864"/>
                  </a:cubicBezTo>
                  <a:cubicBezTo>
                    <a:pt x="767561" y="362496"/>
                    <a:pt x="758566" y="366222"/>
                    <a:pt x="749187" y="366222"/>
                  </a:cubicBezTo>
                  <a:lnTo>
                    <a:pt x="35365" y="366222"/>
                  </a:lnTo>
                  <a:cubicBezTo>
                    <a:pt x="15833" y="366222"/>
                    <a:pt x="0" y="350389"/>
                    <a:pt x="0" y="330857"/>
                  </a:cubicBezTo>
                  <a:lnTo>
                    <a:pt x="0" y="35365"/>
                  </a:lnTo>
                  <a:cubicBezTo>
                    <a:pt x="0" y="15833"/>
                    <a:pt x="15833" y="0"/>
                    <a:pt x="35365" y="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784551" cy="394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8587449" y="4821518"/>
            <a:ext cx="1437148" cy="1463761"/>
          </a:xfrm>
          <a:custGeom>
            <a:avLst/>
            <a:gdLst/>
            <a:ahLst/>
            <a:cxnLst/>
            <a:rect r="r" b="b" t="t" l="l"/>
            <a:pathLst>
              <a:path h="1463761" w="1437148">
                <a:moveTo>
                  <a:pt x="0" y="0"/>
                </a:moveTo>
                <a:lnTo>
                  <a:pt x="1437148" y="0"/>
                </a:lnTo>
                <a:lnTo>
                  <a:pt x="1437148" y="1463761"/>
                </a:lnTo>
                <a:lnTo>
                  <a:pt x="0" y="14637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8063817" y="3874655"/>
            <a:ext cx="2431848" cy="3504122"/>
            <a:chOff x="0" y="0"/>
            <a:chExt cx="1864859" cy="268713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EF6F4E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940165" y="343997"/>
            <a:ext cx="2189176" cy="728985"/>
            <a:chOff x="0" y="0"/>
            <a:chExt cx="2918902" cy="97198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2835628" cy="664130"/>
              <a:chOff x="0" y="0"/>
              <a:chExt cx="2819702" cy="6604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31750" y="31750"/>
                <a:ext cx="2754961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2754961">
                    <a:moveTo>
                      <a:pt x="2663492" y="596900"/>
                    </a:moveTo>
                    <a:lnTo>
                      <a:pt x="92710" y="596900"/>
                    </a:lnTo>
                    <a:cubicBezTo>
                      <a:pt x="41910" y="596900"/>
                      <a:pt x="0" y="554990"/>
                      <a:pt x="0" y="504190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662223" y="0"/>
                    </a:lnTo>
                    <a:cubicBezTo>
                      <a:pt x="2713023" y="0"/>
                      <a:pt x="2754933" y="41910"/>
                      <a:pt x="2754933" y="92710"/>
                    </a:cubicBezTo>
                    <a:lnTo>
                      <a:pt x="2754933" y="502920"/>
                    </a:lnTo>
                    <a:cubicBezTo>
                      <a:pt x="2756203" y="554990"/>
                      <a:pt x="2714292" y="596900"/>
                      <a:pt x="2663492" y="596900"/>
                    </a:cubicBezTo>
                    <a:close/>
                  </a:path>
                </a:pathLst>
              </a:custGeom>
              <a:solidFill>
                <a:srgbClr val="F4BB97"/>
              </a:solidFill>
            </p:spPr>
          </p:sp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819703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2819703">
                    <a:moveTo>
                      <a:pt x="2695242" y="59690"/>
                    </a:moveTo>
                    <a:cubicBezTo>
                      <a:pt x="2730803" y="59690"/>
                      <a:pt x="2760013" y="88900"/>
                      <a:pt x="2760013" y="124460"/>
                    </a:cubicBezTo>
                    <a:lnTo>
                      <a:pt x="2760013" y="535940"/>
                    </a:lnTo>
                    <a:cubicBezTo>
                      <a:pt x="2760013" y="571500"/>
                      <a:pt x="2730803" y="600710"/>
                      <a:pt x="2695242" y="600710"/>
                    </a:cubicBezTo>
                    <a:lnTo>
                      <a:pt x="124460" y="600710"/>
                    </a:lnTo>
                    <a:cubicBezTo>
                      <a:pt x="88900" y="600710"/>
                      <a:pt x="59690" y="571500"/>
                      <a:pt x="59690" y="535940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695243" y="59690"/>
                    </a:lnTo>
                    <a:moveTo>
                      <a:pt x="269524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535940"/>
                    </a:lnTo>
                    <a:cubicBezTo>
                      <a:pt x="0" y="604520"/>
                      <a:pt x="55880" y="660400"/>
                      <a:pt x="124460" y="660400"/>
                    </a:cubicBezTo>
                    <a:lnTo>
                      <a:pt x="2695243" y="660400"/>
                    </a:lnTo>
                    <a:cubicBezTo>
                      <a:pt x="2763823" y="660400"/>
                      <a:pt x="2819703" y="604520"/>
                      <a:pt x="2819703" y="535940"/>
                    </a:cubicBezTo>
                    <a:lnTo>
                      <a:pt x="2819703" y="124460"/>
                    </a:lnTo>
                    <a:cubicBezTo>
                      <a:pt x="2819703" y="55880"/>
                      <a:pt x="2763823" y="0"/>
                      <a:pt x="269524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Freeform 34" id="34"/>
            <p:cNvSpPr/>
            <p:nvPr/>
          </p:nvSpPr>
          <p:spPr>
            <a:xfrm flipH="false" flipV="false" rot="0">
              <a:off x="2270619" y="346119"/>
              <a:ext cx="648283" cy="625861"/>
            </a:xfrm>
            <a:custGeom>
              <a:avLst/>
              <a:gdLst/>
              <a:ahLst/>
              <a:cxnLst/>
              <a:rect r="r" b="b" t="t" l="l"/>
              <a:pathLst>
                <a:path h="625861" w="648283">
                  <a:moveTo>
                    <a:pt x="0" y="0"/>
                  </a:moveTo>
                  <a:lnTo>
                    <a:pt x="648283" y="0"/>
                  </a:lnTo>
                  <a:lnTo>
                    <a:pt x="648283" y="625861"/>
                  </a:lnTo>
                  <a:lnTo>
                    <a:pt x="0" y="625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 rot="0">
              <a:off x="565009" y="65873"/>
              <a:ext cx="1705610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892309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Vrai / Faux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2375053" y="378803"/>
              <a:ext cx="326602" cy="513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892309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+1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565002" y="343997"/>
            <a:ext cx="2189176" cy="728985"/>
            <a:chOff x="0" y="0"/>
            <a:chExt cx="2918902" cy="971980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2835628" cy="664130"/>
              <a:chOff x="0" y="0"/>
              <a:chExt cx="2819702" cy="6604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31750" y="31750"/>
                <a:ext cx="2754961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2754961">
                    <a:moveTo>
                      <a:pt x="2663492" y="596900"/>
                    </a:moveTo>
                    <a:lnTo>
                      <a:pt x="92710" y="596900"/>
                    </a:lnTo>
                    <a:cubicBezTo>
                      <a:pt x="41910" y="596900"/>
                      <a:pt x="0" y="554990"/>
                      <a:pt x="0" y="504190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662223" y="0"/>
                    </a:lnTo>
                    <a:cubicBezTo>
                      <a:pt x="2713023" y="0"/>
                      <a:pt x="2754933" y="41910"/>
                      <a:pt x="2754933" y="92710"/>
                    </a:cubicBezTo>
                    <a:lnTo>
                      <a:pt x="2754933" y="502920"/>
                    </a:lnTo>
                    <a:cubicBezTo>
                      <a:pt x="2756203" y="554990"/>
                      <a:pt x="2714292" y="596900"/>
                      <a:pt x="2663492" y="596900"/>
                    </a:cubicBezTo>
                    <a:close/>
                  </a:path>
                </a:pathLst>
              </a:custGeom>
              <a:solidFill>
                <a:srgbClr val="F4BB97"/>
              </a:solidFill>
            </p:spPr>
          </p:sp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2819703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2819703">
                    <a:moveTo>
                      <a:pt x="2695242" y="59690"/>
                    </a:moveTo>
                    <a:cubicBezTo>
                      <a:pt x="2730803" y="59690"/>
                      <a:pt x="2760013" y="88900"/>
                      <a:pt x="2760013" y="124460"/>
                    </a:cubicBezTo>
                    <a:lnTo>
                      <a:pt x="2760013" y="535940"/>
                    </a:lnTo>
                    <a:cubicBezTo>
                      <a:pt x="2760013" y="571500"/>
                      <a:pt x="2730803" y="600710"/>
                      <a:pt x="2695242" y="600710"/>
                    </a:cubicBezTo>
                    <a:lnTo>
                      <a:pt x="124460" y="600710"/>
                    </a:lnTo>
                    <a:cubicBezTo>
                      <a:pt x="88900" y="600710"/>
                      <a:pt x="59690" y="571500"/>
                      <a:pt x="59690" y="535940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695243" y="59690"/>
                    </a:lnTo>
                    <a:moveTo>
                      <a:pt x="269524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535940"/>
                    </a:lnTo>
                    <a:cubicBezTo>
                      <a:pt x="0" y="604520"/>
                      <a:pt x="55880" y="660400"/>
                      <a:pt x="124460" y="660400"/>
                    </a:cubicBezTo>
                    <a:lnTo>
                      <a:pt x="2695243" y="660400"/>
                    </a:lnTo>
                    <a:cubicBezTo>
                      <a:pt x="2763823" y="660400"/>
                      <a:pt x="2819703" y="604520"/>
                      <a:pt x="2819703" y="535940"/>
                    </a:cubicBezTo>
                    <a:lnTo>
                      <a:pt x="2819703" y="124460"/>
                    </a:lnTo>
                    <a:cubicBezTo>
                      <a:pt x="2819703" y="55880"/>
                      <a:pt x="2763823" y="0"/>
                      <a:pt x="269524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Freeform 41" id="41"/>
            <p:cNvSpPr/>
            <p:nvPr/>
          </p:nvSpPr>
          <p:spPr>
            <a:xfrm flipH="false" flipV="false" rot="0">
              <a:off x="2270619" y="346119"/>
              <a:ext cx="648283" cy="625861"/>
            </a:xfrm>
            <a:custGeom>
              <a:avLst/>
              <a:gdLst/>
              <a:ahLst/>
              <a:cxnLst/>
              <a:rect r="r" b="b" t="t" l="l"/>
              <a:pathLst>
                <a:path h="625861" w="648283">
                  <a:moveTo>
                    <a:pt x="0" y="0"/>
                  </a:moveTo>
                  <a:lnTo>
                    <a:pt x="648283" y="0"/>
                  </a:lnTo>
                  <a:lnTo>
                    <a:pt x="648283" y="625861"/>
                  </a:lnTo>
                  <a:lnTo>
                    <a:pt x="0" y="625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 rot="0">
              <a:off x="565009" y="65873"/>
              <a:ext cx="1705610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892309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Vrai / Faux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2375053" y="378803"/>
              <a:ext cx="326602" cy="513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892309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+1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187496" y="343997"/>
            <a:ext cx="2189176" cy="728985"/>
            <a:chOff x="0" y="0"/>
            <a:chExt cx="2918902" cy="971980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2835628" cy="664130"/>
              <a:chOff x="0" y="0"/>
              <a:chExt cx="2819702" cy="6604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31750" y="31750"/>
                <a:ext cx="2754961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2754961">
                    <a:moveTo>
                      <a:pt x="2663492" y="596900"/>
                    </a:moveTo>
                    <a:lnTo>
                      <a:pt x="92710" y="596900"/>
                    </a:lnTo>
                    <a:cubicBezTo>
                      <a:pt x="41910" y="596900"/>
                      <a:pt x="0" y="554990"/>
                      <a:pt x="0" y="504190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662223" y="0"/>
                    </a:lnTo>
                    <a:cubicBezTo>
                      <a:pt x="2713023" y="0"/>
                      <a:pt x="2754933" y="41910"/>
                      <a:pt x="2754933" y="92710"/>
                    </a:cubicBezTo>
                    <a:lnTo>
                      <a:pt x="2754933" y="502920"/>
                    </a:lnTo>
                    <a:cubicBezTo>
                      <a:pt x="2756203" y="554990"/>
                      <a:pt x="2714292" y="596900"/>
                      <a:pt x="2663492" y="596900"/>
                    </a:cubicBezTo>
                    <a:close/>
                  </a:path>
                </a:pathLst>
              </a:custGeom>
              <a:solidFill>
                <a:srgbClr val="F4BB97"/>
              </a:solidFill>
            </p:spPr>
          </p:sp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2819703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2819703">
                    <a:moveTo>
                      <a:pt x="2695242" y="59690"/>
                    </a:moveTo>
                    <a:cubicBezTo>
                      <a:pt x="2730803" y="59690"/>
                      <a:pt x="2760013" y="88900"/>
                      <a:pt x="2760013" y="124460"/>
                    </a:cubicBezTo>
                    <a:lnTo>
                      <a:pt x="2760013" y="535940"/>
                    </a:lnTo>
                    <a:cubicBezTo>
                      <a:pt x="2760013" y="571500"/>
                      <a:pt x="2730803" y="600710"/>
                      <a:pt x="2695242" y="600710"/>
                    </a:cubicBezTo>
                    <a:lnTo>
                      <a:pt x="124460" y="600710"/>
                    </a:lnTo>
                    <a:cubicBezTo>
                      <a:pt x="88900" y="600710"/>
                      <a:pt x="59690" y="571500"/>
                      <a:pt x="59690" y="535940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695243" y="59690"/>
                    </a:lnTo>
                    <a:moveTo>
                      <a:pt x="269524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535940"/>
                    </a:lnTo>
                    <a:cubicBezTo>
                      <a:pt x="0" y="604520"/>
                      <a:pt x="55880" y="660400"/>
                      <a:pt x="124460" y="660400"/>
                    </a:cubicBezTo>
                    <a:lnTo>
                      <a:pt x="2695243" y="660400"/>
                    </a:lnTo>
                    <a:cubicBezTo>
                      <a:pt x="2763823" y="660400"/>
                      <a:pt x="2819703" y="604520"/>
                      <a:pt x="2819703" y="535940"/>
                    </a:cubicBezTo>
                    <a:lnTo>
                      <a:pt x="2819703" y="124460"/>
                    </a:lnTo>
                    <a:cubicBezTo>
                      <a:pt x="2819703" y="55880"/>
                      <a:pt x="2763823" y="0"/>
                      <a:pt x="269524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Freeform 48" id="48"/>
            <p:cNvSpPr/>
            <p:nvPr/>
          </p:nvSpPr>
          <p:spPr>
            <a:xfrm flipH="false" flipV="false" rot="0">
              <a:off x="2270619" y="346119"/>
              <a:ext cx="648283" cy="625861"/>
            </a:xfrm>
            <a:custGeom>
              <a:avLst/>
              <a:gdLst/>
              <a:ahLst/>
              <a:cxnLst/>
              <a:rect r="r" b="b" t="t" l="l"/>
              <a:pathLst>
                <a:path h="625861" w="648283">
                  <a:moveTo>
                    <a:pt x="0" y="0"/>
                  </a:moveTo>
                  <a:lnTo>
                    <a:pt x="648283" y="0"/>
                  </a:lnTo>
                  <a:lnTo>
                    <a:pt x="648283" y="625861"/>
                  </a:lnTo>
                  <a:lnTo>
                    <a:pt x="0" y="625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 rot="0">
              <a:off x="565009" y="65873"/>
              <a:ext cx="1705610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892309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À choix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2375053" y="378803"/>
              <a:ext cx="326602" cy="513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892309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+1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317816" y="1167766"/>
            <a:ext cx="2189176" cy="889746"/>
            <a:chOff x="0" y="0"/>
            <a:chExt cx="784551" cy="31886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84551" cy="318865"/>
            </a:xfrm>
            <a:custGeom>
              <a:avLst/>
              <a:gdLst/>
              <a:ahLst/>
              <a:cxnLst/>
              <a:rect r="r" b="b" t="t" l="l"/>
              <a:pathLst>
                <a:path h="318865" w="784551">
                  <a:moveTo>
                    <a:pt x="35365" y="0"/>
                  </a:moveTo>
                  <a:lnTo>
                    <a:pt x="749187" y="0"/>
                  </a:lnTo>
                  <a:cubicBezTo>
                    <a:pt x="768718" y="0"/>
                    <a:pt x="784551" y="15833"/>
                    <a:pt x="784551" y="35365"/>
                  </a:cubicBezTo>
                  <a:lnTo>
                    <a:pt x="784551" y="283500"/>
                  </a:lnTo>
                  <a:cubicBezTo>
                    <a:pt x="784551" y="292880"/>
                    <a:pt x="780826" y="301875"/>
                    <a:pt x="774193" y="308507"/>
                  </a:cubicBezTo>
                  <a:cubicBezTo>
                    <a:pt x="767561" y="315139"/>
                    <a:pt x="758566" y="318865"/>
                    <a:pt x="749187" y="318865"/>
                  </a:cubicBezTo>
                  <a:lnTo>
                    <a:pt x="35365" y="318865"/>
                  </a:lnTo>
                  <a:cubicBezTo>
                    <a:pt x="15833" y="318865"/>
                    <a:pt x="0" y="303032"/>
                    <a:pt x="0" y="283500"/>
                  </a:cubicBezTo>
                  <a:lnTo>
                    <a:pt x="0" y="35365"/>
                  </a:lnTo>
                  <a:cubicBezTo>
                    <a:pt x="0" y="15833"/>
                    <a:pt x="15833" y="0"/>
                    <a:pt x="35365" y="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784551" cy="347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5565002" y="1157314"/>
            <a:ext cx="2189176" cy="1259205"/>
            <a:chOff x="0" y="0"/>
            <a:chExt cx="784551" cy="45127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84551" cy="451271"/>
            </a:xfrm>
            <a:custGeom>
              <a:avLst/>
              <a:gdLst/>
              <a:ahLst/>
              <a:cxnLst/>
              <a:rect r="r" b="b" t="t" l="l"/>
              <a:pathLst>
                <a:path h="451271" w="784551">
                  <a:moveTo>
                    <a:pt x="35365" y="0"/>
                  </a:moveTo>
                  <a:lnTo>
                    <a:pt x="749187" y="0"/>
                  </a:lnTo>
                  <a:cubicBezTo>
                    <a:pt x="768718" y="0"/>
                    <a:pt x="784551" y="15833"/>
                    <a:pt x="784551" y="35365"/>
                  </a:cubicBezTo>
                  <a:lnTo>
                    <a:pt x="784551" y="415906"/>
                  </a:lnTo>
                  <a:cubicBezTo>
                    <a:pt x="784551" y="425285"/>
                    <a:pt x="780826" y="434281"/>
                    <a:pt x="774193" y="440913"/>
                  </a:cubicBezTo>
                  <a:cubicBezTo>
                    <a:pt x="767561" y="447545"/>
                    <a:pt x="758566" y="451271"/>
                    <a:pt x="749187" y="451271"/>
                  </a:cubicBezTo>
                  <a:lnTo>
                    <a:pt x="35365" y="451271"/>
                  </a:lnTo>
                  <a:cubicBezTo>
                    <a:pt x="15833" y="451271"/>
                    <a:pt x="0" y="435437"/>
                    <a:pt x="0" y="415906"/>
                  </a:cubicBezTo>
                  <a:lnTo>
                    <a:pt x="0" y="35365"/>
                  </a:lnTo>
                  <a:cubicBezTo>
                    <a:pt x="0" y="15833"/>
                    <a:pt x="15833" y="0"/>
                    <a:pt x="35365" y="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784551" cy="479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8185153" y="1167766"/>
            <a:ext cx="2189176" cy="1585428"/>
            <a:chOff x="0" y="0"/>
            <a:chExt cx="784551" cy="56818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84551" cy="568182"/>
            </a:xfrm>
            <a:custGeom>
              <a:avLst/>
              <a:gdLst/>
              <a:ahLst/>
              <a:cxnLst/>
              <a:rect r="r" b="b" t="t" l="l"/>
              <a:pathLst>
                <a:path h="568182" w="784551">
                  <a:moveTo>
                    <a:pt x="35365" y="0"/>
                  </a:moveTo>
                  <a:lnTo>
                    <a:pt x="749187" y="0"/>
                  </a:lnTo>
                  <a:cubicBezTo>
                    <a:pt x="768718" y="0"/>
                    <a:pt x="784551" y="15833"/>
                    <a:pt x="784551" y="35365"/>
                  </a:cubicBezTo>
                  <a:lnTo>
                    <a:pt x="784551" y="532817"/>
                  </a:lnTo>
                  <a:cubicBezTo>
                    <a:pt x="784551" y="542196"/>
                    <a:pt x="780826" y="551191"/>
                    <a:pt x="774193" y="557824"/>
                  </a:cubicBezTo>
                  <a:cubicBezTo>
                    <a:pt x="767561" y="564456"/>
                    <a:pt x="758566" y="568182"/>
                    <a:pt x="749187" y="568182"/>
                  </a:cubicBezTo>
                  <a:lnTo>
                    <a:pt x="35365" y="568182"/>
                  </a:lnTo>
                  <a:cubicBezTo>
                    <a:pt x="15833" y="568182"/>
                    <a:pt x="0" y="552348"/>
                    <a:pt x="0" y="532817"/>
                  </a:cubicBezTo>
                  <a:lnTo>
                    <a:pt x="0" y="35365"/>
                  </a:lnTo>
                  <a:cubicBezTo>
                    <a:pt x="0" y="15833"/>
                    <a:pt x="15833" y="0"/>
                    <a:pt x="35365" y="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784551" cy="59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96334" y="3874655"/>
            <a:ext cx="2431848" cy="3504122"/>
            <a:chOff x="0" y="0"/>
            <a:chExt cx="1864859" cy="268713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EF6F4E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320013" y="4037429"/>
            <a:ext cx="2189176" cy="728985"/>
            <a:chOff x="0" y="0"/>
            <a:chExt cx="2918902" cy="971980"/>
          </a:xfrm>
        </p:grpSpPr>
        <p:grpSp>
          <p:nvGrpSpPr>
            <p:cNvPr name="Group 64" id="64"/>
            <p:cNvGrpSpPr/>
            <p:nvPr/>
          </p:nvGrpSpPr>
          <p:grpSpPr>
            <a:xfrm rot="0">
              <a:off x="0" y="0"/>
              <a:ext cx="2835628" cy="664130"/>
              <a:chOff x="0" y="0"/>
              <a:chExt cx="2819702" cy="6604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31750" y="31750"/>
                <a:ext cx="2754961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2754961">
                    <a:moveTo>
                      <a:pt x="2663492" y="596900"/>
                    </a:moveTo>
                    <a:lnTo>
                      <a:pt x="92710" y="596900"/>
                    </a:lnTo>
                    <a:cubicBezTo>
                      <a:pt x="41910" y="596900"/>
                      <a:pt x="0" y="554990"/>
                      <a:pt x="0" y="504190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662223" y="0"/>
                    </a:lnTo>
                    <a:cubicBezTo>
                      <a:pt x="2713023" y="0"/>
                      <a:pt x="2754933" y="41910"/>
                      <a:pt x="2754933" y="92710"/>
                    </a:cubicBezTo>
                    <a:lnTo>
                      <a:pt x="2754933" y="502920"/>
                    </a:lnTo>
                    <a:cubicBezTo>
                      <a:pt x="2756203" y="554990"/>
                      <a:pt x="2714292" y="596900"/>
                      <a:pt x="2663492" y="596900"/>
                    </a:cubicBezTo>
                    <a:close/>
                  </a:path>
                </a:pathLst>
              </a:custGeom>
              <a:solidFill>
                <a:srgbClr val="F4BB97"/>
              </a:solidFill>
            </p:spPr>
          </p:sp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2819703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2819703">
                    <a:moveTo>
                      <a:pt x="2695242" y="59690"/>
                    </a:moveTo>
                    <a:cubicBezTo>
                      <a:pt x="2730803" y="59690"/>
                      <a:pt x="2760013" y="88900"/>
                      <a:pt x="2760013" y="124460"/>
                    </a:cubicBezTo>
                    <a:lnTo>
                      <a:pt x="2760013" y="535940"/>
                    </a:lnTo>
                    <a:cubicBezTo>
                      <a:pt x="2760013" y="571500"/>
                      <a:pt x="2730803" y="600710"/>
                      <a:pt x="2695242" y="600710"/>
                    </a:cubicBezTo>
                    <a:lnTo>
                      <a:pt x="124460" y="600710"/>
                    </a:lnTo>
                    <a:cubicBezTo>
                      <a:pt x="88900" y="600710"/>
                      <a:pt x="59690" y="571500"/>
                      <a:pt x="59690" y="535940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695243" y="59690"/>
                    </a:lnTo>
                    <a:moveTo>
                      <a:pt x="269524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535940"/>
                    </a:lnTo>
                    <a:cubicBezTo>
                      <a:pt x="0" y="604520"/>
                      <a:pt x="55880" y="660400"/>
                      <a:pt x="124460" y="660400"/>
                    </a:cubicBezTo>
                    <a:lnTo>
                      <a:pt x="2695243" y="660400"/>
                    </a:lnTo>
                    <a:cubicBezTo>
                      <a:pt x="2763823" y="660400"/>
                      <a:pt x="2819703" y="604520"/>
                      <a:pt x="2819703" y="535940"/>
                    </a:cubicBezTo>
                    <a:lnTo>
                      <a:pt x="2819703" y="124460"/>
                    </a:lnTo>
                    <a:cubicBezTo>
                      <a:pt x="2819703" y="55880"/>
                      <a:pt x="2763823" y="0"/>
                      <a:pt x="269524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Freeform 67" id="67"/>
            <p:cNvSpPr/>
            <p:nvPr/>
          </p:nvSpPr>
          <p:spPr>
            <a:xfrm flipH="false" flipV="false" rot="0">
              <a:off x="2270619" y="346119"/>
              <a:ext cx="648283" cy="625861"/>
            </a:xfrm>
            <a:custGeom>
              <a:avLst/>
              <a:gdLst/>
              <a:ahLst/>
              <a:cxnLst/>
              <a:rect r="r" b="b" t="t" l="l"/>
              <a:pathLst>
                <a:path h="625861" w="648283">
                  <a:moveTo>
                    <a:pt x="0" y="0"/>
                  </a:moveTo>
                  <a:lnTo>
                    <a:pt x="648283" y="0"/>
                  </a:lnTo>
                  <a:lnTo>
                    <a:pt x="648283" y="625861"/>
                  </a:lnTo>
                  <a:lnTo>
                    <a:pt x="0" y="625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 rot="0">
              <a:off x="565009" y="65873"/>
              <a:ext cx="1705610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892309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À choix</a:t>
              </a:r>
            </a:p>
          </p:txBody>
        </p:sp>
        <p:sp>
          <p:nvSpPr>
            <p:cNvPr name="TextBox 69" id="69"/>
            <p:cNvSpPr txBox="true"/>
            <p:nvPr/>
          </p:nvSpPr>
          <p:spPr>
            <a:xfrm rot="0">
              <a:off x="2375053" y="378803"/>
              <a:ext cx="326602" cy="513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892309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+1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317670" y="4821518"/>
            <a:ext cx="2189176" cy="2288558"/>
            <a:chOff x="0" y="0"/>
            <a:chExt cx="784551" cy="820167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84551" cy="820167"/>
            </a:xfrm>
            <a:custGeom>
              <a:avLst/>
              <a:gdLst/>
              <a:ahLst/>
              <a:cxnLst/>
              <a:rect r="r" b="b" t="t" l="l"/>
              <a:pathLst>
                <a:path h="820167" w="784551">
                  <a:moveTo>
                    <a:pt x="35365" y="0"/>
                  </a:moveTo>
                  <a:lnTo>
                    <a:pt x="749187" y="0"/>
                  </a:lnTo>
                  <a:cubicBezTo>
                    <a:pt x="768718" y="0"/>
                    <a:pt x="784551" y="15833"/>
                    <a:pt x="784551" y="35365"/>
                  </a:cubicBezTo>
                  <a:lnTo>
                    <a:pt x="784551" y="784803"/>
                  </a:lnTo>
                  <a:cubicBezTo>
                    <a:pt x="784551" y="804334"/>
                    <a:pt x="768718" y="820167"/>
                    <a:pt x="749187" y="820167"/>
                  </a:cubicBezTo>
                  <a:lnTo>
                    <a:pt x="35365" y="820167"/>
                  </a:lnTo>
                  <a:cubicBezTo>
                    <a:pt x="25985" y="820167"/>
                    <a:pt x="16990" y="816442"/>
                    <a:pt x="10358" y="809809"/>
                  </a:cubicBezTo>
                  <a:cubicBezTo>
                    <a:pt x="3726" y="803177"/>
                    <a:pt x="0" y="794182"/>
                    <a:pt x="0" y="784803"/>
                  </a:cubicBezTo>
                  <a:lnTo>
                    <a:pt x="0" y="35365"/>
                  </a:lnTo>
                  <a:cubicBezTo>
                    <a:pt x="0" y="15833"/>
                    <a:pt x="15833" y="0"/>
                    <a:pt x="35365" y="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784551" cy="848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2940238" y="4037429"/>
            <a:ext cx="2189176" cy="728985"/>
            <a:chOff x="0" y="0"/>
            <a:chExt cx="2918902" cy="971980"/>
          </a:xfrm>
        </p:grpSpPr>
        <p:grpSp>
          <p:nvGrpSpPr>
            <p:cNvPr name="Group 74" id="74"/>
            <p:cNvGrpSpPr/>
            <p:nvPr/>
          </p:nvGrpSpPr>
          <p:grpSpPr>
            <a:xfrm rot="0">
              <a:off x="0" y="0"/>
              <a:ext cx="2835628" cy="664130"/>
              <a:chOff x="0" y="0"/>
              <a:chExt cx="2819702" cy="660400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31750" y="31750"/>
                <a:ext cx="2754961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2754961">
                    <a:moveTo>
                      <a:pt x="2663492" y="596900"/>
                    </a:moveTo>
                    <a:lnTo>
                      <a:pt x="92710" y="596900"/>
                    </a:lnTo>
                    <a:cubicBezTo>
                      <a:pt x="41910" y="596900"/>
                      <a:pt x="0" y="554990"/>
                      <a:pt x="0" y="504190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662223" y="0"/>
                    </a:lnTo>
                    <a:cubicBezTo>
                      <a:pt x="2713023" y="0"/>
                      <a:pt x="2754933" y="41910"/>
                      <a:pt x="2754933" y="92710"/>
                    </a:cubicBezTo>
                    <a:lnTo>
                      <a:pt x="2754933" y="502920"/>
                    </a:lnTo>
                    <a:cubicBezTo>
                      <a:pt x="2756203" y="554990"/>
                      <a:pt x="2714292" y="596900"/>
                      <a:pt x="2663492" y="596900"/>
                    </a:cubicBezTo>
                    <a:close/>
                  </a:path>
                </a:pathLst>
              </a:custGeom>
              <a:solidFill>
                <a:srgbClr val="F4BB97"/>
              </a:solidFill>
            </p:spPr>
          </p:sp>
          <p:sp>
            <p:nvSpPr>
              <p:cNvPr name="Freeform 76" id="76"/>
              <p:cNvSpPr/>
              <p:nvPr/>
            </p:nvSpPr>
            <p:spPr>
              <a:xfrm flipH="false" flipV="false" rot="0">
                <a:off x="0" y="0"/>
                <a:ext cx="2819703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2819703">
                    <a:moveTo>
                      <a:pt x="2695242" y="59690"/>
                    </a:moveTo>
                    <a:cubicBezTo>
                      <a:pt x="2730803" y="59690"/>
                      <a:pt x="2760013" y="88900"/>
                      <a:pt x="2760013" y="124460"/>
                    </a:cubicBezTo>
                    <a:lnTo>
                      <a:pt x="2760013" y="535940"/>
                    </a:lnTo>
                    <a:cubicBezTo>
                      <a:pt x="2760013" y="571500"/>
                      <a:pt x="2730803" y="600710"/>
                      <a:pt x="2695242" y="600710"/>
                    </a:cubicBezTo>
                    <a:lnTo>
                      <a:pt x="124460" y="600710"/>
                    </a:lnTo>
                    <a:cubicBezTo>
                      <a:pt x="88900" y="600710"/>
                      <a:pt x="59690" y="571500"/>
                      <a:pt x="59690" y="535940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695243" y="59690"/>
                    </a:lnTo>
                    <a:moveTo>
                      <a:pt x="269524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535940"/>
                    </a:lnTo>
                    <a:cubicBezTo>
                      <a:pt x="0" y="604520"/>
                      <a:pt x="55880" y="660400"/>
                      <a:pt x="124460" y="660400"/>
                    </a:cubicBezTo>
                    <a:lnTo>
                      <a:pt x="2695243" y="660400"/>
                    </a:lnTo>
                    <a:cubicBezTo>
                      <a:pt x="2763823" y="660400"/>
                      <a:pt x="2819703" y="604520"/>
                      <a:pt x="2819703" y="535940"/>
                    </a:cubicBezTo>
                    <a:lnTo>
                      <a:pt x="2819703" y="124460"/>
                    </a:lnTo>
                    <a:cubicBezTo>
                      <a:pt x="2819703" y="55880"/>
                      <a:pt x="2763823" y="0"/>
                      <a:pt x="269524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Freeform 77" id="77"/>
            <p:cNvSpPr/>
            <p:nvPr/>
          </p:nvSpPr>
          <p:spPr>
            <a:xfrm flipH="false" flipV="false" rot="0">
              <a:off x="2270619" y="346119"/>
              <a:ext cx="648283" cy="625861"/>
            </a:xfrm>
            <a:custGeom>
              <a:avLst/>
              <a:gdLst/>
              <a:ahLst/>
              <a:cxnLst/>
              <a:rect r="r" b="b" t="t" l="l"/>
              <a:pathLst>
                <a:path h="625861" w="648283">
                  <a:moveTo>
                    <a:pt x="0" y="0"/>
                  </a:moveTo>
                  <a:lnTo>
                    <a:pt x="648283" y="0"/>
                  </a:lnTo>
                  <a:lnTo>
                    <a:pt x="648283" y="625861"/>
                  </a:lnTo>
                  <a:lnTo>
                    <a:pt x="0" y="625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 rot="0">
              <a:off x="565009" y="65873"/>
              <a:ext cx="1705610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892309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Vrai / Faux</a:t>
              </a:r>
            </a:p>
          </p:txBody>
        </p:sp>
        <p:sp>
          <p:nvSpPr>
            <p:cNvPr name="TextBox 79" id="79"/>
            <p:cNvSpPr txBox="true"/>
            <p:nvPr/>
          </p:nvSpPr>
          <p:spPr>
            <a:xfrm rot="0">
              <a:off x="2375053" y="378803"/>
              <a:ext cx="326602" cy="513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892309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+1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2925751" y="4821518"/>
            <a:ext cx="2189176" cy="1021889"/>
            <a:chOff x="0" y="0"/>
            <a:chExt cx="784551" cy="36622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84551" cy="366222"/>
            </a:xfrm>
            <a:custGeom>
              <a:avLst/>
              <a:gdLst/>
              <a:ahLst/>
              <a:cxnLst/>
              <a:rect r="r" b="b" t="t" l="l"/>
              <a:pathLst>
                <a:path h="366222" w="784551">
                  <a:moveTo>
                    <a:pt x="35365" y="0"/>
                  </a:moveTo>
                  <a:lnTo>
                    <a:pt x="749187" y="0"/>
                  </a:lnTo>
                  <a:cubicBezTo>
                    <a:pt x="768718" y="0"/>
                    <a:pt x="784551" y="15833"/>
                    <a:pt x="784551" y="35365"/>
                  </a:cubicBezTo>
                  <a:lnTo>
                    <a:pt x="784551" y="330857"/>
                  </a:lnTo>
                  <a:cubicBezTo>
                    <a:pt x="784551" y="340237"/>
                    <a:pt x="780826" y="349232"/>
                    <a:pt x="774193" y="355864"/>
                  </a:cubicBezTo>
                  <a:cubicBezTo>
                    <a:pt x="767561" y="362496"/>
                    <a:pt x="758566" y="366222"/>
                    <a:pt x="749187" y="366222"/>
                  </a:cubicBezTo>
                  <a:lnTo>
                    <a:pt x="35365" y="366222"/>
                  </a:lnTo>
                  <a:cubicBezTo>
                    <a:pt x="15833" y="366222"/>
                    <a:pt x="0" y="350389"/>
                    <a:pt x="0" y="330857"/>
                  </a:cubicBezTo>
                  <a:lnTo>
                    <a:pt x="0" y="35365"/>
                  </a:lnTo>
                  <a:cubicBezTo>
                    <a:pt x="0" y="15833"/>
                    <a:pt x="15833" y="0"/>
                    <a:pt x="35365" y="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784551" cy="394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333373" y="343997"/>
            <a:ext cx="2189176" cy="728985"/>
            <a:chOff x="0" y="0"/>
            <a:chExt cx="2918902" cy="971980"/>
          </a:xfrm>
        </p:grpSpPr>
        <p:grpSp>
          <p:nvGrpSpPr>
            <p:cNvPr name="Group 84" id="84"/>
            <p:cNvGrpSpPr/>
            <p:nvPr/>
          </p:nvGrpSpPr>
          <p:grpSpPr>
            <a:xfrm rot="0">
              <a:off x="0" y="0"/>
              <a:ext cx="2835628" cy="664130"/>
              <a:chOff x="0" y="0"/>
              <a:chExt cx="2819702" cy="660400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31750" y="31750"/>
                <a:ext cx="2754961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2754961">
                    <a:moveTo>
                      <a:pt x="2663492" y="596900"/>
                    </a:moveTo>
                    <a:lnTo>
                      <a:pt x="92710" y="596900"/>
                    </a:lnTo>
                    <a:cubicBezTo>
                      <a:pt x="41910" y="596900"/>
                      <a:pt x="0" y="554990"/>
                      <a:pt x="0" y="504190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662223" y="0"/>
                    </a:lnTo>
                    <a:cubicBezTo>
                      <a:pt x="2713023" y="0"/>
                      <a:pt x="2754933" y="41910"/>
                      <a:pt x="2754933" y="92710"/>
                    </a:cubicBezTo>
                    <a:lnTo>
                      <a:pt x="2754933" y="502920"/>
                    </a:lnTo>
                    <a:cubicBezTo>
                      <a:pt x="2756203" y="554990"/>
                      <a:pt x="2714292" y="596900"/>
                      <a:pt x="2663492" y="596900"/>
                    </a:cubicBezTo>
                    <a:close/>
                  </a:path>
                </a:pathLst>
              </a:custGeom>
              <a:solidFill>
                <a:srgbClr val="F4BB97"/>
              </a:solidFill>
            </p:spPr>
          </p:sp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2819703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2819703">
                    <a:moveTo>
                      <a:pt x="2695242" y="59690"/>
                    </a:moveTo>
                    <a:cubicBezTo>
                      <a:pt x="2730803" y="59690"/>
                      <a:pt x="2760013" y="88900"/>
                      <a:pt x="2760013" y="124460"/>
                    </a:cubicBezTo>
                    <a:lnTo>
                      <a:pt x="2760013" y="535940"/>
                    </a:lnTo>
                    <a:cubicBezTo>
                      <a:pt x="2760013" y="571500"/>
                      <a:pt x="2730803" y="600710"/>
                      <a:pt x="2695242" y="600710"/>
                    </a:cubicBezTo>
                    <a:lnTo>
                      <a:pt x="124460" y="600710"/>
                    </a:lnTo>
                    <a:cubicBezTo>
                      <a:pt x="88900" y="600710"/>
                      <a:pt x="59690" y="571500"/>
                      <a:pt x="59690" y="535940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695243" y="59690"/>
                    </a:lnTo>
                    <a:moveTo>
                      <a:pt x="269524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535940"/>
                    </a:lnTo>
                    <a:cubicBezTo>
                      <a:pt x="0" y="604520"/>
                      <a:pt x="55880" y="660400"/>
                      <a:pt x="124460" y="660400"/>
                    </a:cubicBezTo>
                    <a:lnTo>
                      <a:pt x="2695243" y="660400"/>
                    </a:lnTo>
                    <a:cubicBezTo>
                      <a:pt x="2763823" y="660400"/>
                      <a:pt x="2819703" y="604520"/>
                      <a:pt x="2819703" y="535940"/>
                    </a:cubicBezTo>
                    <a:lnTo>
                      <a:pt x="2819703" y="124460"/>
                    </a:lnTo>
                    <a:cubicBezTo>
                      <a:pt x="2819703" y="55880"/>
                      <a:pt x="2763823" y="0"/>
                      <a:pt x="269524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Freeform 87" id="87"/>
            <p:cNvSpPr/>
            <p:nvPr/>
          </p:nvSpPr>
          <p:spPr>
            <a:xfrm flipH="false" flipV="false" rot="0">
              <a:off x="2270619" y="346119"/>
              <a:ext cx="648283" cy="625861"/>
            </a:xfrm>
            <a:custGeom>
              <a:avLst/>
              <a:gdLst/>
              <a:ahLst/>
              <a:cxnLst/>
              <a:rect r="r" b="b" t="t" l="l"/>
              <a:pathLst>
                <a:path h="625861" w="648283">
                  <a:moveTo>
                    <a:pt x="0" y="0"/>
                  </a:moveTo>
                  <a:lnTo>
                    <a:pt x="648283" y="0"/>
                  </a:lnTo>
                  <a:lnTo>
                    <a:pt x="648283" y="625861"/>
                  </a:lnTo>
                  <a:lnTo>
                    <a:pt x="0" y="625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 rot="0">
              <a:off x="565009" y="65873"/>
              <a:ext cx="1705610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892309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Vrai / Faux</a:t>
              </a:r>
            </a:p>
          </p:txBody>
        </p:sp>
        <p:sp>
          <p:nvSpPr>
            <p:cNvPr name="TextBox 89" id="89"/>
            <p:cNvSpPr txBox="true"/>
            <p:nvPr/>
          </p:nvSpPr>
          <p:spPr>
            <a:xfrm rot="0">
              <a:off x="2375053" y="378803"/>
              <a:ext cx="326602" cy="513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892309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+1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5562659" y="4037429"/>
            <a:ext cx="2189176" cy="728985"/>
            <a:chOff x="0" y="0"/>
            <a:chExt cx="2918902" cy="971980"/>
          </a:xfrm>
        </p:grpSpPr>
        <p:grpSp>
          <p:nvGrpSpPr>
            <p:cNvPr name="Group 91" id="91"/>
            <p:cNvGrpSpPr/>
            <p:nvPr/>
          </p:nvGrpSpPr>
          <p:grpSpPr>
            <a:xfrm rot="0">
              <a:off x="0" y="0"/>
              <a:ext cx="2835628" cy="664130"/>
              <a:chOff x="0" y="0"/>
              <a:chExt cx="2819702" cy="660400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31750" y="31750"/>
                <a:ext cx="2754961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2754961">
                    <a:moveTo>
                      <a:pt x="2663492" y="596900"/>
                    </a:moveTo>
                    <a:lnTo>
                      <a:pt x="92710" y="596900"/>
                    </a:lnTo>
                    <a:cubicBezTo>
                      <a:pt x="41910" y="596900"/>
                      <a:pt x="0" y="554990"/>
                      <a:pt x="0" y="504190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662223" y="0"/>
                    </a:lnTo>
                    <a:cubicBezTo>
                      <a:pt x="2713023" y="0"/>
                      <a:pt x="2754933" y="41910"/>
                      <a:pt x="2754933" y="92710"/>
                    </a:cubicBezTo>
                    <a:lnTo>
                      <a:pt x="2754933" y="502920"/>
                    </a:lnTo>
                    <a:cubicBezTo>
                      <a:pt x="2756203" y="554990"/>
                      <a:pt x="2714292" y="596900"/>
                      <a:pt x="2663492" y="596900"/>
                    </a:cubicBezTo>
                    <a:close/>
                  </a:path>
                </a:pathLst>
              </a:custGeom>
              <a:solidFill>
                <a:srgbClr val="F4BB97"/>
              </a:solidFill>
            </p:spPr>
          </p:sp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2819703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2819703">
                    <a:moveTo>
                      <a:pt x="2695242" y="59690"/>
                    </a:moveTo>
                    <a:cubicBezTo>
                      <a:pt x="2730803" y="59690"/>
                      <a:pt x="2760013" y="88900"/>
                      <a:pt x="2760013" y="124460"/>
                    </a:cubicBezTo>
                    <a:lnTo>
                      <a:pt x="2760013" y="535940"/>
                    </a:lnTo>
                    <a:cubicBezTo>
                      <a:pt x="2760013" y="571500"/>
                      <a:pt x="2730803" y="600710"/>
                      <a:pt x="2695242" y="600710"/>
                    </a:cubicBezTo>
                    <a:lnTo>
                      <a:pt x="124460" y="600710"/>
                    </a:lnTo>
                    <a:cubicBezTo>
                      <a:pt x="88900" y="600710"/>
                      <a:pt x="59690" y="571500"/>
                      <a:pt x="59690" y="535940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695243" y="59690"/>
                    </a:lnTo>
                    <a:moveTo>
                      <a:pt x="269524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535940"/>
                    </a:lnTo>
                    <a:cubicBezTo>
                      <a:pt x="0" y="604520"/>
                      <a:pt x="55880" y="660400"/>
                      <a:pt x="124460" y="660400"/>
                    </a:cubicBezTo>
                    <a:lnTo>
                      <a:pt x="2695243" y="660400"/>
                    </a:lnTo>
                    <a:cubicBezTo>
                      <a:pt x="2763823" y="660400"/>
                      <a:pt x="2819703" y="604520"/>
                      <a:pt x="2819703" y="535940"/>
                    </a:cubicBezTo>
                    <a:lnTo>
                      <a:pt x="2819703" y="124460"/>
                    </a:lnTo>
                    <a:cubicBezTo>
                      <a:pt x="2819703" y="55880"/>
                      <a:pt x="2763823" y="0"/>
                      <a:pt x="269524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Freeform 94" id="94"/>
            <p:cNvSpPr/>
            <p:nvPr/>
          </p:nvSpPr>
          <p:spPr>
            <a:xfrm flipH="false" flipV="false" rot="0">
              <a:off x="2270619" y="346119"/>
              <a:ext cx="648283" cy="625861"/>
            </a:xfrm>
            <a:custGeom>
              <a:avLst/>
              <a:gdLst/>
              <a:ahLst/>
              <a:cxnLst/>
              <a:rect r="r" b="b" t="t" l="l"/>
              <a:pathLst>
                <a:path h="625861" w="648283">
                  <a:moveTo>
                    <a:pt x="0" y="0"/>
                  </a:moveTo>
                  <a:lnTo>
                    <a:pt x="648283" y="0"/>
                  </a:lnTo>
                  <a:lnTo>
                    <a:pt x="648283" y="625861"/>
                  </a:lnTo>
                  <a:lnTo>
                    <a:pt x="0" y="625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 rot="0">
              <a:off x="565009" y="65873"/>
              <a:ext cx="1705610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892309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À choix</a:t>
              </a:r>
            </a:p>
          </p:txBody>
        </p:sp>
        <p:sp>
          <p:nvSpPr>
            <p:cNvPr name="TextBox 96" id="96"/>
            <p:cNvSpPr txBox="true"/>
            <p:nvPr/>
          </p:nvSpPr>
          <p:spPr>
            <a:xfrm rot="0">
              <a:off x="2375053" y="378803"/>
              <a:ext cx="326602" cy="513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892309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+1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5565002" y="4821518"/>
            <a:ext cx="2189176" cy="2288558"/>
            <a:chOff x="0" y="0"/>
            <a:chExt cx="784551" cy="82016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784551" cy="820167"/>
            </a:xfrm>
            <a:custGeom>
              <a:avLst/>
              <a:gdLst/>
              <a:ahLst/>
              <a:cxnLst/>
              <a:rect r="r" b="b" t="t" l="l"/>
              <a:pathLst>
                <a:path h="820167" w="784551">
                  <a:moveTo>
                    <a:pt x="35365" y="0"/>
                  </a:moveTo>
                  <a:lnTo>
                    <a:pt x="749187" y="0"/>
                  </a:lnTo>
                  <a:cubicBezTo>
                    <a:pt x="768718" y="0"/>
                    <a:pt x="784551" y="15833"/>
                    <a:pt x="784551" y="35365"/>
                  </a:cubicBezTo>
                  <a:lnTo>
                    <a:pt x="784551" y="784803"/>
                  </a:lnTo>
                  <a:cubicBezTo>
                    <a:pt x="784551" y="804334"/>
                    <a:pt x="768718" y="820167"/>
                    <a:pt x="749187" y="820167"/>
                  </a:cubicBezTo>
                  <a:lnTo>
                    <a:pt x="35365" y="820167"/>
                  </a:lnTo>
                  <a:cubicBezTo>
                    <a:pt x="25985" y="820167"/>
                    <a:pt x="16990" y="816442"/>
                    <a:pt x="10358" y="809809"/>
                  </a:cubicBezTo>
                  <a:cubicBezTo>
                    <a:pt x="3726" y="803177"/>
                    <a:pt x="0" y="794182"/>
                    <a:pt x="0" y="784803"/>
                  </a:cubicBezTo>
                  <a:lnTo>
                    <a:pt x="0" y="35365"/>
                  </a:lnTo>
                  <a:cubicBezTo>
                    <a:pt x="0" y="15833"/>
                    <a:pt x="15833" y="0"/>
                    <a:pt x="35365" y="0"/>
                  </a:cubicBezTo>
                  <a:close/>
                </a:path>
              </a:pathLst>
            </a:custGeom>
            <a:solidFill>
              <a:srgbClr val="F4BB97"/>
            </a:solidFill>
            <a:ln cap="sq">
              <a:noFill/>
              <a:prstDash val="solid"/>
              <a:miter/>
            </a:ln>
          </p:spPr>
        </p:sp>
        <p:sp>
          <p:nvSpPr>
            <p:cNvPr name="TextBox 99" id="99"/>
            <p:cNvSpPr txBox="true"/>
            <p:nvPr/>
          </p:nvSpPr>
          <p:spPr>
            <a:xfrm>
              <a:off x="0" y="-28575"/>
              <a:ext cx="784551" cy="848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8211135" y="4037429"/>
            <a:ext cx="2189176" cy="728985"/>
            <a:chOff x="0" y="0"/>
            <a:chExt cx="2918902" cy="971980"/>
          </a:xfrm>
        </p:grpSpPr>
        <p:grpSp>
          <p:nvGrpSpPr>
            <p:cNvPr name="Group 101" id="101"/>
            <p:cNvGrpSpPr/>
            <p:nvPr/>
          </p:nvGrpSpPr>
          <p:grpSpPr>
            <a:xfrm rot="0">
              <a:off x="0" y="0"/>
              <a:ext cx="2835628" cy="664130"/>
              <a:chOff x="0" y="0"/>
              <a:chExt cx="2819702" cy="660400"/>
            </a:xfrm>
          </p:grpSpPr>
          <p:sp>
            <p:nvSpPr>
              <p:cNvPr name="Freeform 102" id="102"/>
              <p:cNvSpPr/>
              <p:nvPr/>
            </p:nvSpPr>
            <p:spPr>
              <a:xfrm flipH="false" flipV="false" rot="0">
                <a:off x="31750" y="31750"/>
                <a:ext cx="2754961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2754961">
                    <a:moveTo>
                      <a:pt x="2663492" y="596900"/>
                    </a:moveTo>
                    <a:lnTo>
                      <a:pt x="92710" y="596900"/>
                    </a:lnTo>
                    <a:cubicBezTo>
                      <a:pt x="41910" y="596900"/>
                      <a:pt x="0" y="554990"/>
                      <a:pt x="0" y="504190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662223" y="0"/>
                    </a:lnTo>
                    <a:cubicBezTo>
                      <a:pt x="2713023" y="0"/>
                      <a:pt x="2754933" y="41910"/>
                      <a:pt x="2754933" y="92710"/>
                    </a:cubicBezTo>
                    <a:lnTo>
                      <a:pt x="2754933" y="502920"/>
                    </a:lnTo>
                    <a:cubicBezTo>
                      <a:pt x="2756203" y="554990"/>
                      <a:pt x="2714292" y="596900"/>
                      <a:pt x="2663492" y="596900"/>
                    </a:cubicBezTo>
                    <a:close/>
                  </a:path>
                </a:pathLst>
              </a:custGeom>
              <a:solidFill>
                <a:srgbClr val="F4BB97"/>
              </a:solidFill>
            </p:spPr>
          </p:sp>
          <p:sp>
            <p:nvSpPr>
              <p:cNvPr name="Freeform 103" id="103"/>
              <p:cNvSpPr/>
              <p:nvPr/>
            </p:nvSpPr>
            <p:spPr>
              <a:xfrm flipH="false" flipV="false" rot="0">
                <a:off x="0" y="0"/>
                <a:ext cx="2819703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2819703">
                    <a:moveTo>
                      <a:pt x="2695242" y="59690"/>
                    </a:moveTo>
                    <a:cubicBezTo>
                      <a:pt x="2730803" y="59690"/>
                      <a:pt x="2760013" y="88900"/>
                      <a:pt x="2760013" y="124460"/>
                    </a:cubicBezTo>
                    <a:lnTo>
                      <a:pt x="2760013" y="535940"/>
                    </a:lnTo>
                    <a:cubicBezTo>
                      <a:pt x="2760013" y="571500"/>
                      <a:pt x="2730803" y="600710"/>
                      <a:pt x="2695242" y="600710"/>
                    </a:cubicBezTo>
                    <a:lnTo>
                      <a:pt x="124460" y="600710"/>
                    </a:lnTo>
                    <a:cubicBezTo>
                      <a:pt x="88900" y="600710"/>
                      <a:pt x="59690" y="571500"/>
                      <a:pt x="59690" y="535940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695243" y="59690"/>
                    </a:lnTo>
                    <a:moveTo>
                      <a:pt x="269524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535940"/>
                    </a:lnTo>
                    <a:cubicBezTo>
                      <a:pt x="0" y="604520"/>
                      <a:pt x="55880" y="660400"/>
                      <a:pt x="124460" y="660400"/>
                    </a:cubicBezTo>
                    <a:lnTo>
                      <a:pt x="2695243" y="660400"/>
                    </a:lnTo>
                    <a:cubicBezTo>
                      <a:pt x="2763823" y="660400"/>
                      <a:pt x="2819703" y="604520"/>
                      <a:pt x="2819703" y="535940"/>
                    </a:cubicBezTo>
                    <a:lnTo>
                      <a:pt x="2819703" y="124460"/>
                    </a:lnTo>
                    <a:cubicBezTo>
                      <a:pt x="2819703" y="55880"/>
                      <a:pt x="2763823" y="0"/>
                      <a:pt x="269524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Freeform 104" id="104"/>
            <p:cNvSpPr/>
            <p:nvPr/>
          </p:nvSpPr>
          <p:spPr>
            <a:xfrm flipH="false" flipV="false" rot="0">
              <a:off x="2270619" y="346119"/>
              <a:ext cx="648283" cy="625861"/>
            </a:xfrm>
            <a:custGeom>
              <a:avLst/>
              <a:gdLst/>
              <a:ahLst/>
              <a:cxnLst/>
              <a:rect r="r" b="b" t="t" l="l"/>
              <a:pathLst>
                <a:path h="625861" w="648283">
                  <a:moveTo>
                    <a:pt x="0" y="0"/>
                  </a:moveTo>
                  <a:lnTo>
                    <a:pt x="648283" y="0"/>
                  </a:lnTo>
                  <a:lnTo>
                    <a:pt x="648283" y="625861"/>
                  </a:lnTo>
                  <a:lnTo>
                    <a:pt x="0" y="625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 rot="0">
              <a:off x="565009" y="65873"/>
              <a:ext cx="1705610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892309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Vrai / Faux</a:t>
              </a:r>
            </a:p>
          </p:txBody>
        </p:sp>
        <p:sp>
          <p:nvSpPr>
            <p:cNvPr name="TextBox 106" id="106"/>
            <p:cNvSpPr txBox="true"/>
            <p:nvPr/>
          </p:nvSpPr>
          <p:spPr>
            <a:xfrm rot="0">
              <a:off x="2375053" y="378803"/>
              <a:ext cx="326602" cy="513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892309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+1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8197021" y="4842614"/>
            <a:ext cx="2189176" cy="784101"/>
            <a:chOff x="0" y="0"/>
            <a:chExt cx="784551" cy="28100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784551" cy="281004"/>
            </a:xfrm>
            <a:custGeom>
              <a:avLst/>
              <a:gdLst/>
              <a:ahLst/>
              <a:cxnLst/>
              <a:rect r="r" b="b" t="t" l="l"/>
              <a:pathLst>
                <a:path h="281004" w="784551">
                  <a:moveTo>
                    <a:pt x="35365" y="0"/>
                  </a:moveTo>
                  <a:lnTo>
                    <a:pt x="749187" y="0"/>
                  </a:lnTo>
                  <a:cubicBezTo>
                    <a:pt x="768718" y="0"/>
                    <a:pt x="784551" y="15833"/>
                    <a:pt x="784551" y="35365"/>
                  </a:cubicBezTo>
                  <a:lnTo>
                    <a:pt x="784551" y="245640"/>
                  </a:lnTo>
                  <a:cubicBezTo>
                    <a:pt x="784551" y="255019"/>
                    <a:pt x="780826" y="264014"/>
                    <a:pt x="774193" y="270646"/>
                  </a:cubicBezTo>
                  <a:cubicBezTo>
                    <a:pt x="767561" y="277278"/>
                    <a:pt x="758566" y="281004"/>
                    <a:pt x="749187" y="281004"/>
                  </a:cubicBezTo>
                  <a:lnTo>
                    <a:pt x="35365" y="281004"/>
                  </a:lnTo>
                  <a:cubicBezTo>
                    <a:pt x="15833" y="281004"/>
                    <a:pt x="0" y="265171"/>
                    <a:pt x="0" y="245640"/>
                  </a:cubicBezTo>
                  <a:lnTo>
                    <a:pt x="0" y="35365"/>
                  </a:lnTo>
                  <a:cubicBezTo>
                    <a:pt x="0" y="15833"/>
                    <a:pt x="15833" y="0"/>
                    <a:pt x="35365" y="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28575"/>
              <a:ext cx="784551" cy="309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0" id="110"/>
          <p:cNvSpPr txBox="true"/>
          <p:nvPr/>
        </p:nvSpPr>
        <p:spPr>
          <a:xfrm rot="-10800000">
            <a:off x="3006049" y="3028330"/>
            <a:ext cx="2057554" cy="540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20"/>
              </a:lnSpc>
            </a:pPr>
            <a:r>
              <a:rPr lang="en-US" sz="800" u="sng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Réponse</a:t>
            </a: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: Vrai</a:t>
            </a:r>
          </a:p>
          <a:p>
            <a:pPr algn="just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Elles s’indiquent uniquement en liste de références en fin de travail.</a:t>
            </a:r>
          </a:p>
          <a:p>
            <a:pPr algn="just">
              <a:lnSpc>
                <a:spcPts val="1120"/>
              </a:lnSpc>
            </a:pPr>
          </a:p>
        </p:txBody>
      </p:sp>
      <p:sp>
        <p:nvSpPr>
          <p:cNvPr name="TextBox 111" id="111"/>
          <p:cNvSpPr txBox="true"/>
          <p:nvPr/>
        </p:nvSpPr>
        <p:spPr>
          <a:xfrm rot="-10800000">
            <a:off x="5628470" y="3163797"/>
            <a:ext cx="2057554" cy="405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20"/>
              </a:lnSpc>
            </a:pPr>
            <a:r>
              <a:rPr lang="en-US" sz="800" u="sng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Réponse</a:t>
            </a: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: Vrai</a:t>
            </a:r>
          </a:p>
          <a:p>
            <a:pPr algn="just">
              <a:lnSpc>
                <a:spcPts val="1120"/>
              </a:lnSpc>
            </a:pPr>
          </a:p>
          <a:p>
            <a:pPr algn="just">
              <a:lnSpc>
                <a:spcPts val="1120"/>
              </a:lnSpc>
            </a:pPr>
          </a:p>
        </p:txBody>
      </p:sp>
      <p:sp>
        <p:nvSpPr>
          <p:cNvPr name="TextBox 112" id="112"/>
          <p:cNvSpPr txBox="true"/>
          <p:nvPr/>
        </p:nvSpPr>
        <p:spPr>
          <a:xfrm rot="0">
            <a:off x="369068" y="1263359"/>
            <a:ext cx="2086381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99"/>
              </a:lnSpc>
            </a:pPr>
            <a:r>
              <a:rPr lang="en-US" sz="999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J’ai le dr</a:t>
            </a:r>
            <a:r>
              <a:rPr lang="en-US" sz="999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oit de modifier les mots d’un extrait de texte par les miens et pour cette raison, je n’ai pas besoin de citer la source.</a:t>
            </a:r>
          </a:p>
        </p:txBody>
      </p:sp>
      <p:sp>
        <p:nvSpPr>
          <p:cNvPr name="TextBox 113" id="113"/>
          <p:cNvSpPr txBox="true"/>
          <p:nvPr/>
        </p:nvSpPr>
        <p:spPr>
          <a:xfrm rot="-10800000">
            <a:off x="371411" y="2892863"/>
            <a:ext cx="2086381" cy="67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20"/>
              </a:lnSpc>
            </a:pPr>
            <a:r>
              <a:rPr lang="en-US" sz="800" u="sng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Réponse</a:t>
            </a: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: Faux</a:t>
            </a:r>
          </a:p>
          <a:p>
            <a:pPr algn="just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Modifier les mots d’un-e auteur-ice ne veut pas dire que le travail devient sien, il est donc nécessaire de citer ses sources.</a:t>
            </a:r>
          </a:p>
          <a:p>
            <a:pPr algn="just">
              <a:lnSpc>
                <a:spcPts val="1120"/>
              </a:lnSpc>
            </a:pPr>
          </a:p>
        </p:txBody>
      </p:sp>
      <p:sp>
        <p:nvSpPr>
          <p:cNvPr name="TextBox 114" id="114"/>
          <p:cNvSpPr txBox="true"/>
          <p:nvPr/>
        </p:nvSpPr>
        <p:spPr>
          <a:xfrm rot="0">
            <a:off x="2962736" y="1276059"/>
            <a:ext cx="2086381" cy="49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99"/>
              </a:lnSpc>
            </a:pPr>
            <a:r>
              <a:rPr lang="en-US" sz="999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Les références bibliographiques ne s’indiquent pas en notes en bas de page. 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5616400" y="1263359"/>
            <a:ext cx="2086381" cy="101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99"/>
              </a:lnSpc>
            </a:pPr>
            <a:r>
              <a:rPr lang="en-US" sz="999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Il n'est pas nécessaire</a:t>
            </a:r>
            <a:r>
              <a:rPr lang="en-US" sz="999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de citer la source d'une information considérée comme « de notoriété publique » comme par ex. le fait que Georges Washington ait été le 1er président des USA.</a:t>
            </a:r>
          </a:p>
        </p:txBody>
      </p:sp>
      <p:sp>
        <p:nvSpPr>
          <p:cNvPr name="TextBox 116" id="116"/>
          <p:cNvSpPr txBox="true"/>
          <p:nvPr/>
        </p:nvSpPr>
        <p:spPr>
          <a:xfrm rot="-10800000">
            <a:off x="8277246" y="2757396"/>
            <a:ext cx="2057554" cy="81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20"/>
              </a:lnSpc>
            </a:pPr>
            <a:r>
              <a:rPr lang="en-US" sz="800" u="sng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Réponse</a:t>
            </a: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: A</a:t>
            </a:r>
          </a:p>
          <a:p>
            <a:pPr algn="just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Même si le cours n’est pas une source accessible à tout le monde (non publié sur le web), je dois le citer car j’utilise les idées/mots de quelqu’un d’autre. </a:t>
            </a:r>
          </a:p>
          <a:p>
            <a:pPr algn="just">
              <a:lnSpc>
                <a:spcPts val="1120"/>
              </a:lnSpc>
            </a:pPr>
          </a:p>
        </p:txBody>
      </p:sp>
      <p:sp>
        <p:nvSpPr>
          <p:cNvPr name="TextBox 117" id="117"/>
          <p:cNvSpPr txBox="true"/>
          <p:nvPr/>
        </p:nvSpPr>
        <p:spPr>
          <a:xfrm rot="0">
            <a:off x="8274220" y="1223989"/>
            <a:ext cx="2011044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60"/>
              </a:lnSpc>
            </a:pPr>
            <a:r>
              <a:rPr lang="en-US" b="true" sz="900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Je relis mes notes</a:t>
            </a:r>
            <a:r>
              <a:rPr lang="en-US" b="true" sz="900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 de cours et je trouve une information que mon professeur a noté dans le support du cours qui appuierait totalement mon argumentation. Je décide de l’inclure dans mon travail. Je dois :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8276946" y="2189824"/>
            <a:ext cx="2010277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60"/>
              </a:lnSpc>
            </a:pPr>
            <a:r>
              <a:rPr lang="en-US" b="true" sz="900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A.</a:t>
            </a:r>
            <a:r>
              <a:rPr lang="en-US" sz="900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Citer</a:t>
            </a:r>
            <a:r>
              <a:rPr lang="en-US" sz="900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le cours du-de la professeur-e. </a:t>
            </a:r>
          </a:p>
          <a:p>
            <a:pPr algn="just">
              <a:lnSpc>
                <a:spcPts val="1260"/>
              </a:lnSpc>
            </a:pPr>
          </a:p>
          <a:p>
            <a:pPr algn="just">
              <a:lnSpc>
                <a:spcPts val="1260"/>
              </a:lnSpc>
            </a:pPr>
            <a:r>
              <a:rPr lang="en-US" b="true" sz="900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B.</a:t>
            </a:r>
            <a:r>
              <a:rPr lang="en-US" sz="900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Ne pas citer. </a:t>
            </a:r>
          </a:p>
        </p:txBody>
      </p:sp>
      <p:sp>
        <p:nvSpPr>
          <p:cNvPr name="TextBox 119" id="119"/>
          <p:cNvSpPr txBox="true"/>
          <p:nvPr/>
        </p:nvSpPr>
        <p:spPr>
          <a:xfrm rot="-10800000">
            <a:off x="369068" y="7167226"/>
            <a:ext cx="2057554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20"/>
              </a:lnSpc>
            </a:pPr>
            <a:r>
              <a:rPr lang="en-US" sz="800" u="sng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Réponse</a:t>
            </a: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: C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369068" y="4842242"/>
            <a:ext cx="2073397" cy="139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60"/>
              </a:lnSpc>
            </a:pPr>
            <a:r>
              <a:rPr lang="en-US" b="true" sz="900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Quelle</a:t>
            </a:r>
            <a:r>
              <a:rPr lang="en-US" b="true" sz="900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 définition est la plus correcte ? 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400473" y="5049501"/>
            <a:ext cx="2054975" cy="2402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43"/>
              </a:lnSpc>
            </a:pPr>
            <a:r>
              <a:rPr lang="en-US" b="true" sz="888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A.</a:t>
            </a:r>
            <a:r>
              <a:rPr lang="en-US" sz="8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Le plagiat, c’est inventer</a:t>
            </a:r>
            <a:r>
              <a:rPr lang="en-US" sz="8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des citations et des sources pour soutenir la thèse de votre article.</a:t>
            </a:r>
          </a:p>
          <a:p>
            <a:pPr algn="just">
              <a:lnSpc>
                <a:spcPts val="1243"/>
              </a:lnSpc>
            </a:pPr>
          </a:p>
          <a:p>
            <a:pPr algn="just">
              <a:lnSpc>
                <a:spcPts val="1243"/>
              </a:lnSpc>
            </a:pPr>
            <a:r>
              <a:rPr lang="en-US" b="true" sz="888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B.</a:t>
            </a:r>
            <a:r>
              <a:rPr lang="en-US" sz="8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Le plagiat, c’est collaborer avec une autre personne (sans l’autorisation de l’enseignant-e) pour un travail.</a:t>
            </a:r>
          </a:p>
          <a:p>
            <a:pPr algn="just">
              <a:lnSpc>
                <a:spcPts val="1243"/>
              </a:lnSpc>
            </a:pPr>
          </a:p>
          <a:p>
            <a:pPr algn="just">
              <a:lnSpc>
                <a:spcPts val="1243"/>
              </a:lnSpc>
            </a:pPr>
            <a:r>
              <a:rPr lang="en-US" b="true" sz="888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C.</a:t>
            </a:r>
            <a:r>
              <a:rPr lang="en-US" sz="8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Le plagiat, c’est utiliser les idées, les mots ou tout autre travail créatif d’une autre personne sans en citer la source. </a:t>
            </a:r>
          </a:p>
          <a:p>
            <a:pPr algn="just">
              <a:lnSpc>
                <a:spcPts val="1243"/>
              </a:lnSpc>
            </a:pPr>
          </a:p>
          <a:p>
            <a:pPr algn="just">
              <a:lnSpc>
                <a:spcPts val="1243"/>
              </a:lnSpc>
            </a:pPr>
            <a:r>
              <a:rPr lang="en-US" b="true" sz="888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D.</a:t>
            </a:r>
            <a:r>
              <a:rPr lang="en-US" sz="8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Toutes les réponses précédentes.</a:t>
            </a:r>
          </a:p>
          <a:p>
            <a:pPr algn="just">
              <a:lnSpc>
                <a:spcPts val="1243"/>
              </a:lnSpc>
            </a:pPr>
          </a:p>
          <a:p>
            <a:pPr algn="just">
              <a:lnSpc>
                <a:spcPts val="1243"/>
              </a:lnSpc>
            </a:pPr>
          </a:p>
          <a:p>
            <a:pPr algn="just">
              <a:lnSpc>
                <a:spcPts val="1243"/>
              </a:lnSpc>
            </a:pPr>
          </a:p>
        </p:txBody>
      </p:sp>
      <p:sp>
        <p:nvSpPr>
          <p:cNvPr name="TextBox 122" id="122"/>
          <p:cNvSpPr txBox="true"/>
          <p:nvPr/>
        </p:nvSpPr>
        <p:spPr>
          <a:xfrm rot="0">
            <a:off x="2991562" y="4907012"/>
            <a:ext cx="2086381" cy="84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99"/>
              </a:lnSpc>
            </a:pPr>
            <a:r>
              <a:rPr lang="en-US" sz="999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Pour faire</a:t>
            </a:r>
            <a:r>
              <a:rPr lang="en-US" sz="999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une bonne paraphrase (=reformulation), il suffit de remplacer tous les mots de l’extrait que l’on veut paraphraser par des synonymes.</a:t>
            </a:r>
          </a:p>
        </p:txBody>
      </p:sp>
      <p:sp>
        <p:nvSpPr>
          <p:cNvPr name="TextBox 123" id="123"/>
          <p:cNvSpPr txBox="true"/>
          <p:nvPr/>
        </p:nvSpPr>
        <p:spPr>
          <a:xfrm rot="-10800000">
            <a:off x="3020389" y="6195832"/>
            <a:ext cx="2057554" cy="108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20"/>
              </a:lnSpc>
            </a:pPr>
            <a:r>
              <a:rPr lang="en-US" sz="800" u="sng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Réponse</a:t>
            </a: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: Faux</a:t>
            </a:r>
          </a:p>
          <a:p>
            <a:pPr algn="just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Il ne suffit pas d’utiliser des synonymes, il faut également modifier la structure des phrases. Une bonne paraphrase implique que l'on comprend aisément ce que l'auteur-ice a voulu dire et qu'on l'exprime avec ses propres mots.</a:t>
            </a:r>
          </a:p>
          <a:p>
            <a:pPr algn="just">
              <a:lnSpc>
                <a:spcPts val="1120"/>
              </a:lnSpc>
            </a:pPr>
          </a:p>
        </p:txBody>
      </p:sp>
      <p:sp>
        <p:nvSpPr>
          <p:cNvPr name="TextBox 124" id="124"/>
          <p:cNvSpPr txBox="true"/>
          <p:nvPr/>
        </p:nvSpPr>
        <p:spPr>
          <a:xfrm rot="0">
            <a:off x="5631677" y="4837348"/>
            <a:ext cx="2073397" cy="405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20"/>
              </a:lnSpc>
            </a:pPr>
            <a:r>
              <a:rPr lang="en-US" b="true" sz="800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Comment faut-il réagir aux</a:t>
            </a:r>
            <a:r>
              <a:rPr lang="en-US" b="true" sz="800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 références bibliographiques fournies par un outil IA, tel que ChatGPT ? 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5612627" y="5303887"/>
            <a:ext cx="2054975" cy="2277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03"/>
              </a:lnSpc>
            </a:pPr>
            <a:r>
              <a:rPr lang="en-US" b="true" sz="788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A.</a:t>
            </a:r>
            <a:r>
              <a:rPr lang="en-US" sz="7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Les accepter automatiquement, car</a:t>
            </a:r>
            <a:r>
              <a:rPr lang="en-US" sz="7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cet outils est programmé pour accéder à la littérature scientifique.</a:t>
            </a:r>
          </a:p>
          <a:p>
            <a:pPr algn="just">
              <a:lnSpc>
                <a:spcPts val="1103"/>
              </a:lnSpc>
            </a:pPr>
          </a:p>
          <a:p>
            <a:pPr algn="just">
              <a:lnSpc>
                <a:spcPts val="1103"/>
              </a:lnSpc>
            </a:pPr>
            <a:r>
              <a:rPr lang="en-US" b="true" sz="788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B. </a:t>
            </a:r>
            <a:r>
              <a:rPr lang="en-US" sz="7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Vérifier la validité des références en consultant les publications originales.</a:t>
            </a:r>
          </a:p>
          <a:p>
            <a:pPr algn="just">
              <a:lnSpc>
                <a:spcPts val="1103"/>
              </a:lnSpc>
            </a:pPr>
          </a:p>
          <a:p>
            <a:pPr algn="just">
              <a:lnSpc>
                <a:spcPts val="1103"/>
              </a:lnSpc>
            </a:pPr>
            <a:r>
              <a:rPr lang="en-US" b="true" sz="788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C.</a:t>
            </a:r>
            <a:r>
              <a:rPr lang="en-US" sz="7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Ignorer les références bibliographiques, car elles sont potentiellement fausses. </a:t>
            </a:r>
          </a:p>
          <a:p>
            <a:pPr algn="just">
              <a:lnSpc>
                <a:spcPts val="1103"/>
              </a:lnSpc>
            </a:pPr>
          </a:p>
          <a:p>
            <a:pPr algn="just">
              <a:lnSpc>
                <a:spcPts val="1103"/>
              </a:lnSpc>
            </a:pPr>
            <a:r>
              <a:rPr lang="en-US" b="true" sz="788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D.</a:t>
            </a:r>
            <a:r>
              <a:rPr lang="en-US" sz="7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Utiliser uniquement les références qui semblent conformes à tes connaissances actuelles.</a:t>
            </a:r>
          </a:p>
          <a:p>
            <a:pPr algn="just">
              <a:lnSpc>
                <a:spcPts val="1103"/>
              </a:lnSpc>
            </a:pPr>
          </a:p>
          <a:p>
            <a:pPr algn="just">
              <a:lnSpc>
                <a:spcPts val="1103"/>
              </a:lnSpc>
            </a:pPr>
          </a:p>
          <a:p>
            <a:pPr algn="just">
              <a:lnSpc>
                <a:spcPts val="1103"/>
              </a:lnSpc>
            </a:pPr>
          </a:p>
          <a:p>
            <a:pPr algn="just">
              <a:lnSpc>
                <a:spcPts val="1103"/>
              </a:lnSpc>
            </a:pPr>
          </a:p>
        </p:txBody>
      </p:sp>
      <p:sp>
        <p:nvSpPr>
          <p:cNvPr name="TextBox 126" id="126"/>
          <p:cNvSpPr txBox="true"/>
          <p:nvPr/>
        </p:nvSpPr>
        <p:spPr>
          <a:xfrm rot="-10800000">
            <a:off x="5610048" y="7167226"/>
            <a:ext cx="2057554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20"/>
              </a:lnSpc>
            </a:pPr>
            <a:r>
              <a:rPr lang="en-US" sz="800" u="sng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Réponse</a:t>
            </a: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: B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8248419" y="4928109"/>
            <a:ext cx="2086381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99"/>
              </a:lnSpc>
            </a:pPr>
            <a:r>
              <a:rPr lang="en-US" sz="999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Un document interne à une institution et qui n’est pas public est à considérer comme une communication personnelle.</a:t>
            </a:r>
          </a:p>
        </p:txBody>
      </p:sp>
      <p:sp>
        <p:nvSpPr>
          <p:cNvPr name="TextBox 128" id="128"/>
          <p:cNvSpPr txBox="true"/>
          <p:nvPr/>
        </p:nvSpPr>
        <p:spPr>
          <a:xfrm rot="-10800000">
            <a:off x="8277246" y="6974185"/>
            <a:ext cx="2057554" cy="269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20"/>
              </a:lnSpc>
            </a:pPr>
            <a:r>
              <a:rPr lang="en-US" sz="800" u="sng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Réponse</a:t>
            </a: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: Vrai</a:t>
            </a:r>
          </a:p>
          <a:p>
            <a:pPr algn="just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Voir chapitre 3.4 du Guide APA.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41323" y="181223"/>
            <a:ext cx="2431848" cy="3504122"/>
            <a:chOff x="0" y="0"/>
            <a:chExt cx="1864859" cy="26871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41323" y="3874655"/>
            <a:ext cx="2431848" cy="3504122"/>
            <a:chOff x="0" y="0"/>
            <a:chExt cx="1864859" cy="26871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6334" y="183221"/>
            <a:ext cx="2431848" cy="3504122"/>
            <a:chOff x="0" y="0"/>
            <a:chExt cx="1864859" cy="26871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818829" y="181223"/>
            <a:ext cx="2431848" cy="3504122"/>
            <a:chOff x="0" y="0"/>
            <a:chExt cx="1864859" cy="26871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818829" y="3874655"/>
            <a:ext cx="2431848" cy="3504122"/>
            <a:chOff x="0" y="0"/>
            <a:chExt cx="1864859" cy="26871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063817" y="181223"/>
            <a:ext cx="2431848" cy="3504122"/>
            <a:chOff x="0" y="0"/>
            <a:chExt cx="1864859" cy="26871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063817" y="3874655"/>
            <a:ext cx="2431848" cy="3504122"/>
            <a:chOff x="0" y="0"/>
            <a:chExt cx="1864859" cy="26871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96334" y="3874655"/>
            <a:ext cx="2431848" cy="3504122"/>
            <a:chOff x="0" y="0"/>
            <a:chExt cx="1864859" cy="268713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891023">
            <a:off x="471742" y="710241"/>
            <a:ext cx="2309202" cy="2450082"/>
          </a:xfrm>
          <a:custGeom>
            <a:avLst/>
            <a:gdLst/>
            <a:ahLst/>
            <a:cxnLst/>
            <a:rect r="r" b="b" t="t" l="l"/>
            <a:pathLst>
              <a:path h="2450082" w="2309202">
                <a:moveTo>
                  <a:pt x="0" y="0"/>
                </a:moveTo>
                <a:lnTo>
                  <a:pt x="2309202" y="0"/>
                </a:lnTo>
                <a:lnTo>
                  <a:pt x="2309202" y="2450082"/>
                </a:lnTo>
                <a:lnTo>
                  <a:pt x="0" y="2450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1686280">
            <a:off x="2758943" y="812686"/>
            <a:ext cx="2302427" cy="2189398"/>
          </a:xfrm>
          <a:custGeom>
            <a:avLst/>
            <a:gdLst/>
            <a:ahLst/>
            <a:cxnLst/>
            <a:rect r="r" b="b" t="t" l="l"/>
            <a:pathLst>
              <a:path h="2189398" w="2302427">
                <a:moveTo>
                  <a:pt x="0" y="0"/>
                </a:moveTo>
                <a:lnTo>
                  <a:pt x="2302426" y="0"/>
                </a:lnTo>
                <a:lnTo>
                  <a:pt x="2302426" y="2189398"/>
                </a:lnTo>
                <a:lnTo>
                  <a:pt x="0" y="2189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8" id="28"/>
          <p:cNvSpPr/>
          <p:nvPr/>
        </p:nvSpPr>
        <p:spPr>
          <a:xfrm flipH="false" flipV="false" rot="-7850717">
            <a:off x="5536736" y="709766"/>
            <a:ext cx="2258905" cy="2238369"/>
          </a:xfrm>
          <a:custGeom>
            <a:avLst/>
            <a:gdLst/>
            <a:ahLst/>
            <a:cxnLst/>
            <a:rect r="r" b="b" t="t" l="l"/>
            <a:pathLst>
              <a:path h="2238369" w="2258905">
                <a:moveTo>
                  <a:pt x="0" y="0"/>
                </a:moveTo>
                <a:lnTo>
                  <a:pt x="2258905" y="0"/>
                </a:lnTo>
                <a:lnTo>
                  <a:pt x="2258905" y="2238369"/>
                </a:lnTo>
                <a:lnTo>
                  <a:pt x="0" y="22383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8404085" y="536475"/>
            <a:ext cx="1751312" cy="2584950"/>
          </a:xfrm>
          <a:custGeom>
            <a:avLst/>
            <a:gdLst/>
            <a:ahLst/>
            <a:cxnLst/>
            <a:rect r="r" b="b" t="t" l="l"/>
            <a:pathLst>
              <a:path h="2584950" w="1751312">
                <a:moveTo>
                  <a:pt x="0" y="0"/>
                </a:moveTo>
                <a:lnTo>
                  <a:pt x="1751313" y="0"/>
                </a:lnTo>
                <a:lnTo>
                  <a:pt x="1751313" y="2584950"/>
                </a:lnTo>
                <a:lnTo>
                  <a:pt x="0" y="258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8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247748" y="4606548"/>
            <a:ext cx="2294856" cy="2040336"/>
          </a:xfrm>
          <a:custGeom>
            <a:avLst/>
            <a:gdLst/>
            <a:ahLst/>
            <a:cxnLst/>
            <a:rect r="r" b="b" t="t" l="l"/>
            <a:pathLst>
              <a:path h="2040336" w="2294856">
                <a:moveTo>
                  <a:pt x="0" y="0"/>
                </a:moveTo>
                <a:lnTo>
                  <a:pt x="2294856" y="0"/>
                </a:lnTo>
                <a:lnTo>
                  <a:pt x="2294856" y="2040336"/>
                </a:lnTo>
                <a:lnTo>
                  <a:pt x="0" y="20403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85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1" id="31"/>
          <p:cNvSpPr/>
          <p:nvPr/>
        </p:nvSpPr>
        <p:spPr>
          <a:xfrm flipH="false" flipV="false" rot="-6218249">
            <a:off x="2965740" y="4720970"/>
            <a:ext cx="2138026" cy="1811491"/>
          </a:xfrm>
          <a:custGeom>
            <a:avLst/>
            <a:gdLst/>
            <a:ahLst/>
            <a:cxnLst/>
            <a:rect r="r" b="b" t="t" l="l"/>
            <a:pathLst>
              <a:path h="1811491" w="2138026">
                <a:moveTo>
                  <a:pt x="0" y="0"/>
                </a:moveTo>
                <a:lnTo>
                  <a:pt x="2138026" y="0"/>
                </a:lnTo>
                <a:lnTo>
                  <a:pt x="2138026" y="1811491"/>
                </a:lnTo>
                <a:lnTo>
                  <a:pt x="0" y="181149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85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2" id="32"/>
          <p:cNvSpPr/>
          <p:nvPr/>
        </p:nvSpPr>
        <p:spPr>
          <a:xfrm flipH="false" flipV="false" rot="0">
            <a:off x="5594964" y="4606548"/>
            <a:ext cx="2040336" cy="2040336"/>
          </a:xfrm>
          <a:custGeom>
            <a:avLst/>
            <a:gdLst/>
            <a:ahLst/>
            <a:cxnLst/>
            <a:rect r="r" b="b" t="t" l="l"/>
            <a:pathLst>
              <a:path h="2040336" w="2040336">
                <a:moveTo>
                  <a:pt x="0" y="0"/>
                </a:moveTo>
                <a:lnTo>
                  <a:pt x="2040335" y="0"/>
                </a:lnTo>
                <a:lnTo>
                  <a:pt x="2040335" y="2040336"/>
                </a:lnTo>
                <a:lnTo>
                  <a:pt x="0" y="204033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85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3" id="33"/>
          <p:cNvSpPr/>
          <p:nvPr/>
        </p:nvSpPr>
        <p:spPr>
          <a:xfrm flipH="false" flipV="false" rot="-5400000">
            <a:off x="8403083" y="4590986"/>
            <a:ext cx="2040336" cy="2071459"/>
          </a:xfrm>
          <a:custGeom>
            <a:avLst/>
            <a:gdLst/>
            <a:ahLst/>
            <a:cxnLst/>
            <a:rect r="r" b="b" t="t" l="l"/>
            <a:pathLst>
              <a:path h="2071459" w="2040336">
                <a:moveTo>
                  <a:pt x="0" y="0"/>
                </a:moveTo>
                <a:lnTo>
                  <a:pt x="2040336" y="0"/>
                </a:lnTo>
                <a:lnTo>
                  <a:pt x="2040336" y="2071459"/>
                </a:lnTo>
                <a:lnTo>
                  <a:pt x="0" y="207145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85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4" id="34"/>
          <p:cNvSpPr txBox="true"/>
          <p:nvPr/>
        </p:nvSpPr>
        <p:spPr>
          <a:xfrm rot="0">
            <a:off x="2988639" y="1496685"/>
            <a:ext cx="2092227" cy="87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16"/>
              </a:lnSpc>
            </a:pPr>
            <a:r>
              <a:rPr lang="en-US" b="true" sz="2511" spc="125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VÉRITÉ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611134" y="1498682"/>
            <a:ext cx="2092227" cy="87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6"/>
              </a:lnSpc>
            </a:pPr>
            <a:r>
              <a:rPr lang="en-US" b="true" sz="2511" spc="125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VÉRITÉ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233628" y="1496685"/>
            <a:ext cx="2092227" cy="87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6"/>
              </a:lnSpc>
            </a:pPr>
            <a:r>
              <a:rPr lang="en-US" b="true" sz="2511" spc="125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VÉRITÉ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66145" y="5190116"/>
            <a:ext cx="2092227" cy="87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6"/>
              </a:lnSpc>
            </a:pPr>
            <a:r>
              <a:rPr lang="en-US" b="true" sz="2511" spc="125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VÉRITÉ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988639" y="5190116"/>
            <a:ext cx="2092227" cy="87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6"/>
              </a:lnSpc>
            </a:pPr>
            <a:r>
              <a:rPr lang="en-US" b="true" sz="2511" spc="125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VÉRITÉ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611134" y="5190116"/>
            <a:ext cx="2092227" cy="87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6"/>
              </a:lnSpc>
            </a:pPr>
            <a:r>
              <a:rPr lang="en-US" b="true" sz="2511" spc="125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VÉRITÉ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233628" y="5190116"/>
            <a:ext cx="2092227" cy="87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6"/>
              </a:lnSpc>
            </a:pPr>
            <a:r>
              <a:rPr lang="en-US" b="true" sz="2511" spc="125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VÉRITÉ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66145" y="1496685"/>
            <a:ext cx="2092227" cy="87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6"/>
              </a:lnSpc>
            </a:pPr>
            <a:r>
              <a:rPr lang="en-US" b="true" sz="2511" spc="125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VÉRITÉ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41323" y="181223"/>
            <a:ext cx="2431848" cy="3504122"/>
            <a:chOff x="0" y="0"/>
            <a:chExt cx="1864859" cy="26871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EF6F4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41323" y="3874655"/>
            <a:ext cx="2431848" cy="3504122"/>
            <a:chOff x="0" y="0"/>
            <a:chExt cx="1864859" cy="26871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EF6F4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818829" y="181223"/>
            <a:ext cx="2431848" cy="3504122"/>
            <a:chOff x="0" y="0"/>
            <a:chExt cx="1864859" cy="26871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EF6F4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818829" y="3874655"/>
            <a:ext cx="2431848" cy="3504122"/>
            <a:chOff x="0" y="0"/>
            <a:chExt cx="1864859" cy="26871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EF6F4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063817" y="181223"/>
            <a:ext cx="2431848" cy="3504122"/>
            <a:chOff x="0" y="0"/>
            <a:chExt cx="1864859" cy="26871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EF6F4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063817" y="3874655"/>
            <a:ext cx="2431848" cy="3504122"/>
            <a:chOff x="0" y="0"/>
            <a:chExt cx="1864859" cy="26871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EF6F4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96334" y="3874655"/>
            <a:ext cx="2431848" cy="3504122"/>
            <a:chOff x="0" y="0"/>
            <a:chExt cx="1864859" cy="26871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EF6F4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98677" y="181223"/>
            <a:ext cx="2431848" cy="3504122"/>
            <a:chOff x="0" y="0"/>
            <a:chExt cx="1864859" cy="268713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EF6F4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20013" y="339119"/>
            <a:ext cx="2189176" cy="728985"/>
            <a:chOff x="0" y="0"/>
            <a:chExt cx="2918902" cy="97198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2835628" cy="664130"/>
              <a:chOff x="0" y="0"/>
              <a:chExt cx="2819702" cy="6604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31750" y="31750"/>
                <a:ext cx="2754961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2754961">
                    <a:moveTo>
                      <a:pt x="2663492" y="596900"/>
                    </a:moveTo>
                    <a:lnTo>
                      <a:pt x="92710" y="596900"/>
                    </a:lnTo>
                    <a:cubicBezTo>
                      <a:pt x="41910" y="596900"/>
                      <a:pt x="0" y="554990"/>
                      <a:pt x="0" y="504190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662223" y="0"/>
                    </a:lnTo>
                    <a:cubicBezTo>
                      <a:pt x="2713023" y="0"/>
                      <a:pt x="2754933" y="41910"/>
                      <a:pt x="2754933" y="92710"/>
                    </a:cubicBezTo>
                    <a:lnTo>
                      <a:pt x="2754933" y="502920"/>
                    </a:lnTo>
                    <a:cubicBezTo>
                      <a:pt x="2756203" y="554990"/>
                      <a:pt x="2714292" y="596900"/>
                      <a:pt x="2663492" y="596900"/>
                    </a:cubicBezTo>
                    <a:close/>
                  </a:path>
                </a:pathLst>
              </a:custGeom>
              <a:solidFill>
                <a:srgbClr val="F4BB97"/>
              </a:solidFill>
            </p:spPr>
          </p:sp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819703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2819703">
                    <a:moveTo>
                      <a:pt x="2695242" y="59690"/>
                    </a:moveTo>
                    <a:cubicBezTo>
                      <a:pt x="2730803" y="59690"/>
                      <a:pt x="2760013" y="88900"/>
                      <a:pt x="2760013" y="124460"/>
                    </a:cubicBezTo>
                    <a:lnTo>
                      <a:pt x="2760013" y="535940"/>
                    </a:lnTo>
                    <a:cubicBezTo>
                      <a:pt x="2760013" y="571500"/>
                      <a:pt x="2730803" y="600710"/>
                      <a:pt x="2695242" y="600710"/>
                    </a:cubicBezTo>
                    <a:lnTo>
                      <a:pt x="124460" y="600710"/>
                    </a:lnTo>
                    <a:cubicBezTo>
                      <a:pt x="88900" y="600710"/>
                      <a:pt x="59690" y="571500"/>
                      <a:pt x="59690" y="535940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695243" y="59690"/>
                    </a:lnTo>
                    <a:moveTo>
                      <a:pt x="269524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535940"/>
                    </a:lnTo>
                    <a:cubicBezTo>
                      <a:pt x="0" y="604520"/>
                      <a:pt x="55880" y="660400"/>
                      <a:pt x="124460" y="660400"/>
                    </a:cubicBezTo>
                    <a:lnTo>
                      <a:pt x="2695243" y="660400"/>
                    </a:lnTo>
                    <a:cubicBezTo>
                      <a:pt x="2763823" y="660400"/>
                      <a:pt x="2819703" y="604520"/>
                      <a:pt x="2819703" y="535940"/>
                    </a:cubicBezTo>
                    <a:lnTo>
                      <a:pt x="2819703" y="124460"/>
                    </a:lnTo>
                    <a:cubicBezTo>
                      <a:pt x="2819703" y="55880"/>
                      <a:pt x="2763823" y="0"/>
                      <a:pt x="269524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2270619" y="346119"/>
              <a:ext cx="648283" cy="625861"/>
            </a:xfrm>
            <a:custGeom>
              <a:avLst/>
              <a:gdLst/>
              <a:ahLst/>
              <a:cxnLst/>
              <a:rect r="r" b="b" t="t" l="l"/>
              <a:pathLst>
                <a:path h="625861" w="648283">
                  <a:moveTo>
                    <a:pt x="0" y="0"/>
                  </a:moveTo>
                  <a:lnTo>
                    <a:pt x="648283" y="0"/>
                  </a:lnTo>
                  <a:lnTo>
                    <a:pt x="648283" y="625861"/>
                  </a:lnTo>
                  <a:lnTo>
                    <a:pt x="0" y="625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565009" y="65873"/>
              <a:ext cx="1705610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892309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Vrai / Faux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2375053" y="378803"/>
              <a:ext cx="326602" cy="513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892309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+1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96277" y="1185270"/>
            <a:ext cx="2189176" cy="614509"/>
            <a:chOff x="0" y="0"/>
            <a:chExt cx="784551" cy="22022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84551" cy="220226"/>
            </a:xfrm>
            <a:custGeom>
              <a:avLst/>
              <a:gdLst/>
              <a:ahLst/>
              <a:cxnLst/>
              <a:rect r="r" b="b" t="t" l="l"/>
              <a:pathLst>
                <a:path h="220226" w="784551">
                  <a:moveTo>
                    <a:pt x="35365" y="0"/>
                  </a:moveTo>
                  <a:lnTo>
                    <a:pt x="749187" y="0"/>
                  </a:lnTo>
                  <a:cubicBezTo>
                    <a:pt x="768718" y="0"/>
                    <a:pt x="784551" y="15833"/>
                    <a:pt x="784551" y="35365"/>
                  </a:cubicBezTo>
                  <a:lnTo>
                    <a:pt x="784551" y="184862"/>
                  </a:lnTo>
                  <a:cubicBezTo>
                    <a:pt x="784551" y="204393"/>
                    <a:pt x="768718" y="220226"/>
                    <a:pt x="749187" y="220226"/>
                  </a:cubicBezTo>
                  <a:lnTo>
                    <a:pt x="35365" y="220226"/>
                  </a:lnTo>
                  <a:cubicBezTo>
                    <a:pt x="15833" y="220226"/>
                    <a:pt x="0" y="204393"/>
                    <a:pt x="0" y="184862"/>
                  </a:cubicBezTo>
                  <a:lnTo>
                    <a:pt x="0" y="35365"/>
                  </a:lnTo>
                  <a:cubicBezTo>
                    <a:pt x="0" y="15833"/>
                    <a:pt x="15833" y="0"/>
                    <a:pt x="35365" y="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784551" cy="248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371411" y="1324250"/>
            <a:ext cx="2086381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99"/>
              </a:lnSpc>
            </a:pPr>
            <a:r>
              <a:rPr lang="en-US" sz="999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Si j’utilise un graphique, je cite le document dans lequel il se trouve.</a:t>
            </a:r>
          </a:p>
        </p:txBody>
      </p:sp>
      <p:sp>
        <p:nvSpPr>
          <p:cNvPr name="TextBox 37" id="37"/>
          <p:cNvSpPr txBox="true"/>
          <p:nvPr/>
        </p:nvSpPr>
        <p:spPr>
          <a:xfrm rot="-10800000">
            <a:off x="385824" y="3310502"/>
            <a:ext cx="2057554" cy="269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20"/>
              </a:lnSpc>
            </a:pPr>
            <a:r>
              <a:rPr lang="en-US" sz="800" u="sng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Réponse</a:t>
            </a: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: Vrai</a:t>
            </a:r>
          </a:p>
          <a:p>
            <a:pPr algn="just">
              <a:lnSpc>
                <a:spcPts val="1120"/>
              </a:lnSpc>
            </a:pPr>
          </a:p>
        </p:txBody>
      </p:sp>
      <p:grpSp>
        <p:nvGrpSpPr>
          <p:cNvPr name="Group 38" id="38"/>
          <p:cNvGrpSpPr/>
          <p:nvPr/>
        </p:nvGrpSpPr>
        <p:grpSpPr>
          <a:xfrm rot="0">
            <a:off x="2940165" y="339119"/>
            <a:ext cx="2189176" cy="728985"/>
            <a:chOff x="0" y="0"/>
            <a:chExt cx="2918902" cy="971980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2835628" cy="664130"/>
              <a:chOff x="0" y="0"/>
              <a:chExt cx="2819702" cy="6604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31750" y="31750"/>
                <a:ext cx="2754961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2754961">
                    <a:moveTo>
                      <a:pt x="2663492" y="596900"/>
                    </a:moveTo>
                    <a:lnTo>
                      <a:pt x="92710" y="596900"/>
                    </a:lnTo>
                    <a:cubicBezTo>
                      <a:pt x="41910" y="596900"/>
                      <a:pt x="0" y="554990"/>
                      <a:pt x="0" y="504190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662223" y="0"/>
                    </a:lnTo>
                    <a:cubicBezTo>
                      <a:pt x="2713023" y="0"/>
                      <a:pt x="2754933" y="41910"/>
                      <a:pt x="2754933" y="92710"/>
                    </a:cubicBezTo>
                    <a:lnTo>
                      <a:pt x="2754933" y="502920"/>
                    </a:lnTo>
                    <a:cubicBezTo>
                      <a:pt x="2756203" y="554990"/>
                      <a:pt x="2714292" y="596900"/>
                      <a:pt x="2663492" y="596900"/>
                    </a:cubicBezTo>
                    <a:close/>
                  </a:path>
                </a:pathLst>
              </a:custGeom>
              <a:solidFill>
                <a:srgbClr val="F4BB97"/>
              </a:solidFill>
            </p:spPr>
          </p:sp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2819703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2819703">
                    <a:moveTo>
                      <a:pt x="2695242" y="59690"/>
                    </a:moveTo>
                    <a:cubicBezTo>
                      <a:pt x="2730803" y="59690"/>
                      <a:pt x="2760013" y="88900"/>
                      <a:pt x="2760013" y="124460"/>
                    </a:cubicBezTo>
                    <a:lnTo>
                      <a:pt x="2760013" y="535940"/>
                    </a:lnTo>
                    <a:cubicBezTo>
                      <a:pt x="2760013" y="571500"/>
                      <a:pt x="2730803" y="600710"/>
                      <a:pt x="2695242" y="600710"/>
                    </a:cubicBezTo>
                    <a:lnTo>
                      <a:pt x="124460" y="600710"/>
                    </a:lnTo>
                    <a:cubicBezTo>
                      <a:pt x="88900" y="600710"/>
                      <a:pt x="59690" y="571500"/>
                      <a:pt x="59690" y="535940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695243" y="59690"/>
                    </a:lnTo>
                    <a:moveTo>
                      <a:pt x="269524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535940"/>
                    </a:lnTo>
                    <a:cubicBezTo>
                      <a:pt x="0" y="604520"/>
                      <a:pt x="55880" y="660400"/>
                      <a:pt x="124460" y="660400"/>
                    </a:cubicBezTo>
                    <a:lnTo>
                      <a:pt x="2695243" y="660400"/>
                    </a:lnTo>
                    <a:cubicBezTo>
                      <a:pt x="2763823" y="660400"/>
                      <a:pt x="2819703" y="604520"/>
                      <a:pt x="2819703" y="535940"/>
                    </a:cubicBezTo>
                    <a:lnTo>
                      <a:pt x="2819703" y="124460"/>
                    </a:lnTo>
                    <a:cubicBezTo>
                      <a:pt x="2819703" y="55880"/>
                      <a:pt x="2763823" y="0"/>
                      <a:pt x="269524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Freeform 42" id="42"/>
            <p:cNvSpPr/>
            <p:nvPr/>
          </p:nvSpPr>
          <p:spPr>
            <a:xfrm flipH="false" flipV="false" rot="0">
              <a:off x="2270619" y="346119"/>
              <a:ext cx="648283" cy="625861"/>
            </a:xfrm>
            <a:custGeom>
              <a:avLst/>
              <a:gdLst/>
              <a:ahLst/>
              <a:cxnLst/>
              <a:rect r="r" b="b" t="t" l="l"/>
              <a:pathLst>
                <a:path h="625861" w="648283">
                  <a:moveTo>
                    <a:pt x="0" y="0"/>
                  </a:moveTo>
                  <a:lnTo>
                    <a:pt x="648283" y="0"/>
                  </a:lnTo>
                  <a:lnTo>
                    <a:pt x="648283" y="625861"/>
                  </a:lnTo>
                  <a:lnTo>
                    <a:pt x="0" y="625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565009" y="65873"/>
              <a:ext cx="1705610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892309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Vrai / Faux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2375053" y="378803"/>
              <a:ext cx="326602" cy="513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892309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+1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940165" y="1185270"/>
            <a:ext cx="2189176" cy="614509"/>
            <a:chOff x="0" y="0"/>
            <a:chExt cx="784551" cy="22022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84551" cy="220226"/>
            </a:xfrm>
            <a:custGeom>
              <a:avLst/>
              <a:gdLst/>
              <a:ahLst/>
              <a:cxnLst/>
              <a:rect r="r" b="b" t="t" l="l"/>
              <a:pathLst>
                <a:path h="220226" w="784551">
                  <a:moveTo>
                    <a:pt x="35365" y="0"/>
                  </a:moveTo>
                  <a:lnTo>
                    <a:pt x="749187" y="0"/>
                  </a:lnTo>
                  <a:cubicBezTo>
                    <a:pt x="768718" y="0"/>
                    <a:pt x="784551" y="15833"/>
                    <a:pt x="784551" y="35365"/>
                  </a:cubicBezTo>
                  <a:lnTo>
                    <a:pt x="784551" y="184862"/>
                  </a:lnTo>
                  <a:cubicBezTo>
                    <a:pt x="784551" y="204393"/>
                    <a:pt x="768718" y="220226"/>
                    <a:pt x="749187" y="220226"/>
                  </a:cubicBezTo>
                  <a:lnTo>
                    <a:pt x="35365" y="220226"/>
                  </a:lnTo>
                  <a:cubicBezTo>
                    <a:pt x="15833" y="220226"/>
                    <a:pt x="0" y="204393"/>
                    <a:pt x="0" y="184862"/>
                  </a:cubicBezTo>
                  <a:lnTo>
                    <a:pt x="0" y="35365"/>
                  </a:lnTo>
                  <a:cubicBezTo>
                    <a:pt x="0" y="15833"/>
                    <a:pt x="15833" y="0"/>
                    <a:pt x="35365" y="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784551" cy="248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2967035" y="1238525"/>
            <a:ext cx="2137779" cy="49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99"/>
              </a:lnSpc>
            </a:pPr>
            <a:r>
              <a:rPr lang="en-US" sz="999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Lorsque je référence une page web, je dois systématiquement mentionner la date de consultation.</a:t>
            </a:r>
          </a:p>
        </p:txBody>
      </p:sp>
      <p:sp>
        <p:nvSpPr>
          <p:cNvPr name="TextBox 49" id="49"/>
          <p:cNvSpPr txBox="true"/>
          <p:nvPr/>
        </p:nvSpPr>
        <p:spPr>
          <a:xfrm rot="-10800000">
            <a:off x="3005976" y="2768634"/>
            <a:ext cx="2057554" cy="81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20"/>
              </a:lnSpc>
            </a:pPr>
            <a:r>
              <a:rPr lang="en-US" sz="800" u="sng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Réponse</a:t>
            </a: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: Faux </a:t>
            </a:r>
          </a:p>
          <a:p>
            <a:pPr algn="just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Si l’année est mentionnée sur la page web, il n’est pas nécessaire d’indiquer la date de consultation.</a:t>
            </a:r>
          </a:p>
          <a:p>
            <a:pPr algn="just">
              <a:lnSpc>
                <a:spcPts val="1120"/>
              </a:lnSpc>
            </a:pPr>
          </a:p>
          <a:p>
            <a:pPr algn="just">
              <a:lnSpc>
                <a:spcPts val="1120"/>
              </a:lnSpc>
            </a:pPr>
          </a:p>
        </p:txBody>
      </p:sp>
      <p:grpSp>
        <p:nvGrpSpPr>
          <p:cNvPr name="Group 50" id="50"/>
          <p:cNvGrpSpPr/>
          <p:nvPr/>
        </p:nvGrpSpPr>
        <p:grpSpPr>
          <a:xfrm rot="0">
            <a:off x="5562659" y="339119"/>
            <a:ext cx="2189176" cy="728985"/>
            <a:chOff x="0" y="0"/>
            <a:chExt cx="2918902" cy="971980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0" y="0"/>
              <a:ext cx="2835628" cy="664130"/>
              <a:chOff x="0" y="0"/>
              <a:chExt cx="2819702" cy="6604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31750" y="31750"/>
                <a:ext cx="2754961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2754961">
                    <a:moveTo>
                      <a:pt x="2663492" y="596900"/>
                    </a:moveTo>
                    <a:lnTo>
                      <a:pt x="92710" y="596900"/>
                    </a:lnTo>
                    <a:cubicBezTo>
                      <a:pt x="41910" y="596900"/>
                      <a:pt x="0" y="554990"/>
                      <a:pt x="0" y="504190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662223" y="0"/>
                    </a:lnTo>
                    <a:cubicBezTo>
                      <a:pt x="2713023" y="0"/>
                      <a:pt x="2754933" y="41910"/>
                      <a:pt x="2754933" y="92710"/>
                    </a:cubicBezTo>
                    <a:lnTo>
                      <a:pt x="2754933" y="502920"/>
                    </a:lnTo>
                    <a:cubicBezTo>
                      <a:pt x="2756203" y="554990"/>
                      <a:pt x="2714292" y="596900"/>
                      <a:pt x="2663492" y="596900"/>
                    </a:cubicBezTo>
                    <a:close/>
                  </a:path>
                </a:pathLst>
              </a:custGeom>
              <a:solidFill>
                <a:srgbClr val="F4BB97"/>
              </a:solidFill>
            </p:spPr>
          </p:sp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2819703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2819703">
                    <a:moveTo>
                      <a:pt x="2695242" y="59690"/>
                    </a:moveTo>
                    <a:cubicBezTo>
                      <a:pt x="2730803" y="59690"/>
                      <a:pt x="2760013" y="88900"/>
                      <a:pt x="2760013" y="124460"/>
                    </a:cubicBezTo>
                    <a:lnTo>
                      <a:pt x="2760013" y="535940"/>
                    </a:lnTo>
                    <a:cubicBezTo>
                      <a:pt x="2760013" y="571500"/>
                      <a:pt x="2730803" y="600710"/>
                      <a:pt x="2695242" y="600710"/>
                    </a:cubicBezTo>
                    <a:lnTo>
                      <a:pt x="124460" y="600710"/>
                    </a:lnTo>
                    <a:cubicBezTo>
                      <a:pt x="88900" y="600710"/>
                      <a:pt x="59690" y="571500"/>
                      <a:pt x="59690" y="535940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695243" y="59690"/>
                    </a:lnTo>
                    <a:moveTo>
                      <a:pt x="269524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535940"/>
                    </a:lnTo>
                    <a:cubicBezTo>
                      <a:pt x="0" y="604520"/>
                      <a:pt x="55880" y="660400"/>
                      <a:pt x="124460" y="660400"/>
                    </a:cubicBezTo>
                    <a:lnTo>
                      <a:pt x="2695243" y="660400"/>
                    </a:lnTo>
                    <a:cubicBezTo>
                      <a:pt x="2763823" y="660400"/>
                      <a:pt x="2819703" y="604520"/>
                      <a:pt x="2819703" y="535940"/>
                    </a:cubicBezTo>
                    <a:lnTo>
                      <a:pt x="2819703" y="124460"/>
                    </a:lnTo>
                    <a:cubicBezTo>
                      <a:pt x="2819703" y="55880"/>
                      <a:pt x="2763823" y="0"/>
                      <a:pt x="269524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Freeform 54" id="54"/>
            <p:cNvSpPr/>
            <p:nvPr/>
          </p:nvSpPr>
          <p:spPr>
            <a:xfrm flipH="false" flipV="false" rot="0">
              <a:off x="2270619" y="346119"/>
              <a:ext cx="648283" cy="625861"/>
            </a:xfrm>
            <a:custGeom>
              <a:avLst/>
              <a:gdLst/>
              <a:ahLst/>
              <a:cxnLst/>
              <a:rect r="r" b="b" t="t" l="l"/>
              <a:pathLst>
                <a:path h="625861" w="648283">
                  <a:moveTo>
                    <a:pt x="0" y="0"/>
                  </a:moveTo>
                  <a:lnTo>
                    <a:pt x="648283" y="0"/>
                  </a:lnTo>
                  <a:lnTo>
                    <a:pt x="648283" y="625861"/>
                  </a:lnTo>
                  <a:lnTo>
                    <a:pt x="0" y="625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 rot="0">
              <a:off x="565009" y="65873"/>
              <a:ext cx="1705610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892309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Vrai / Faux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2375053" y="378803"/>
              <a:ext cx="326602" cy="513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892309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+1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565002" y="1185270"/>
            <a:ext cx="2189176" cy="614509"/>
            <a:chOff x="0" y="0"/>
            <a:chExt cx="784551" cy="22022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84551" cy="220226"/>
            </a:xfrm>
            <a:custGeom>
              <a:avLst/>
              <a:gdLst/>
              <a:ahLst/>
              <a:cxnLst/>
              <a:rect r="r" b="b" t="t" l="l"/>
              <a:pathLst>
                <a:path h="220226" w="784551">
                  <a:moveTo>
                    <a:pt x="35365" y="0"/>
                  </a:moveTo>
                  <a:lnTo>
                    <a:pt x="749187" y="0"/>
                  </a:lnTo>
                  <a:cubicBezTo>
                    <a:pt x="768718" y="0"/>
                    <a:pt x="784551" y="15833"/>
                    <a:pt x="784551" y="35365"/>
                  </a:cubicBezTo>
                  <a:lnTo>
                    <a:pt x="784551" y="184862"/>
                  </a:lnTo>
                  <a:cubicBezTo>
                    <a:pt x="784551" y="204393"/>
                    <a:pt x="768718" y="220226"/>
                    <a:pt x="749187" y="220226"/>
                  </a:cubicBezTo>
                  <a:lnTo>
                    <a:pt x="35365" y="220226"/>
                  </a:lnTo>
                  <a:cubicBezTo>
                    <a:pt x="15833" y="220226"/>
                    <a:pt x="0" y="204393"/>
                    <a:pt x="0" y="184862"/>
                  </a:cubicBezTo>
                  <a:lnTo>
                    <a:pt x="0" y="35365"/>
                  </a:lnTo>
                  <a:cubicBezTo>
                    <a:pt x="0" y="15833"/>
                    <a:pt x="15833" y="0"/>
                    <a:pt x="35365" y="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784551" cy="248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5590701" y="1238525"/>
            <a:ext cx="2137779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99"/>
              </a:lnSpc>
            </a:pPr>
            <a:r>
              <a:rPr lang="en-US" sz="999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La liste de référence est organisée par types de documents puis par ordre alphabétique.</a:t>
            </a:r>
          </a:p>
          <a:p>
            <a:pPr algn="just">
              <a:lnSpc>
                <a:spcPts val="1399"/>
              </a:lnSpc>
            </a:pPr>
          </a:p>
        </p:txBody>
      </p:sp>
      <p:sp>
        <p:nvSpPr>
          <p:cNvPr name="TextBox 61" id="61"/>
          <p:cNvSpPr txBox="true"/>
          <p:nvPr/>
        </p:nvSpPr>
        <p:spPr>
          <a:xfrm rot="-10800000">
            <a:off x="5630813" y="2768634"/>
            <a:ext cx="2057554" cy="81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20"/>
              </a:lnSpc>
            </a:pPr>
            <a:r>
              <a:rPr lang="en-US" sz="800" u="sng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Réponse</a:t>
            </a: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: Faux </a:t>
            </a:r>
          </a:p>
          <a:p>
            <a:pPr algn="just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La liste de références s’organise dans l’ordre alphabétique des auteur-ices, sans distinction des types de documents.</a:t>
            </a:r>
          </a:p>
          <a:p>
            <a:pPr algn="just">
              <a:lnSpc>
                <a:spcPts val="1120"/>
              </a:lnSpc>
            </a:pPr>
          </a:p>
          <a:p>
            <a:pPr algn="just">
              <a:lnSpc>
                <a:spcPts val="1120"/>
              </a:lnSpc>
            </a:pPr>
          </a:p>
        </p:txBody>
      </p:sp>
      <p:grpSp>
        <p:nvGrpSpPr>
          <p:cNvPr name="Group 62" id="62"/>
          <p:cNvGrpSpPr/>
          <p:nvPr/>
        </p:nvGrpSpPr>
        <p:grpSpPr>
          <a:xfrm rot="0">
            <a:off x="8185153" y="339119"/>
            <a:ext cx="2189176" cy="728985"/>
            <a:chOff x="0" y="0"/>
            <a:chExt cx="2918902" cy="971980"/>
          </a:xfrm>
        </p:grpSpPr>
        <p:grpSp>
          <p:nvGrpSpPr>
            <p:cNvPr name="Group 63" id="63"/>
            <p:cNvGrpSpPr/>
            <p:nvPr/>
          </p:nvGrpSpPr>
          <p:grpSpPr>
            <a:xfrm rot="0">
              <a:off x="0" y="0"/>
              <a:ext cx="2835628" cy="664130"/>
              <a:chOff x="0" y="0"/>
              <a:chExt cx="2819702" cy="66040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31750" y="31750"/>
                <a:ext cx="2754961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2754961">
                    <a:moveTo>
                      <a:pt x="2663492" y="596900"/>
                    </a:moveTo>
                    <a:lnTo>
                      <a:pt x="92710" y="596900"/>
                    </a:lnTo>
                    <a:cubicBezTo>
                      <a:pt x="41910" y="596900"/>
                      <a:pt x="0" y="554990"/>
                      <a:pt x="0" y="504190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662223" y="0"/>
                    </a:lnTo>
                    <a:cubicBezTo>
                      <a:pt x="2713023" y="0"/>
                      <a:pt x="2754933" y="41910"/>
                      <a:pt x="2754933" y="92710"/>
                    </a:cubicBezTo>
                    <a:lnTo>
                      <a:pt x="2754933" y="502920"/>
                    </a:lnTo>
                    <a:cubicBezTo>
                      <a:pt x="2756203" y="554990"/>
                      <a:pt x="2714292" y="596900"/>
                      <a:pt x="2663492" y="596900"/>
                    </a:cubicBezTo>
                    <a:close/>
                  </a:path>
                </a:pathLst>
              </a:custGeom>
              <a:solidFill>
                <a:srgbClr val="F4BB97"/>
              </a:solidFill>
            </p:spPr>
          </p:sp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2819703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2819703">
                    <a:moveTo>
                      <a:pt x="2695242" y="59690"/>
                    </a:moveTo>
                    <a:cubicBezTo>
                      <a:pt x="2730803" y="59690"/>
                      <a:pt x="2760013" y="88900"/>
                      <a:pt x="2760013" y="124460"/>
                    </a:cubicBezTo>
                    <a:lnTo>
                      <a:pt x="2760013" y="535940"/>
                    </a:lnTo>
                    <a:cubicBezTo>
                      <a:pt x="2760013" y="571500"/>
                      <a:pt x="2730803" y="600710"/>
                      <a:pt x="2695242" y="600710"/>
                    </a:cubicBezTo>
                    <a:lnTo>
                      <a:pt x="124460" y="600710"/>
                    </a:lnTo>
                    <a:cubicBezTo>
                      <a:pt x="88900" y="600710"/>
                      <a:pt x="59690" y="571500"/>
                      <a:pt x="59690" y="535940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695243" y="59690"/>
                    </a:lnTo>
                    <a:moveTo>
                      <a:pt x="269524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535940"/>
                    </a:lnTo>
                    <a:cubicBezTo>
                      <a:pt x="0" y="604520"/>
                      <a:pt x="55880" y="660400"/>
                      <a:pt x="124460" y="660400"/>
                    </a:cubicBezTo>
                    <a:lnTo>
                      <a:pt x="2695243" y="660400"/>
                    </a:lnTo>
                    <a:cubicBezTo>
                      <a:pt x="2763823" y="660400"/>
                      <a:pt x="2819703" y="604520"/>
                      <a:pt x="2819703" y="535940"/>
                    </a:cubicBezTo>
                    <a:lnTo>
                      <a:pt x="2819703" y="124460"/>
                    </a:lnTo>
                    <a:cubicBezTo>
                      <a:pt x="2819703" y="55880"/>
                      <a:pt x="2763823" y="0"/>
                      <a:pt x="269524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Freeform 66" id="66"/>
            <p:cNvSpPr/>
            <p:nvPr/>
          </p:nvSpPr>
          <p:spPr>
            <a:xfrm flipH="false" flipV="false" rot="0">
              <a:off x="2270619" y="346119"/>
              <a:ext cx="648283" cy="625861"/>
            </a:xfrm>
            <a:custGeom>
              <a:avLst/>
              <a:gdLst/>
              <a:ahLst/>
              <a:cxnLst/>
              <a:rect r="r" b="b" t="t" l="l"/>
              <a:pathLst>
                <a:path h="625861" w="648283">
                  <a:moveTo>
                    <a:pt x="0" y="0"/>
                  </a:moveTo>
                  <a:lnTo>
                    <a:pt x="648283" y="0"/>
                  </a:lnTo>
                  <a:lnTo>
                    <a:pt x="648283" y="625861"/>
                  </a:lnTo>
                  <a:lnTo>
                    <a:pt x="0" y="625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 rot="0">
              <a:off x="565009" y="65873"/>
              <a:ext cx="1705610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892309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À choix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2375053" y="378803"/>
              <a:ext cx="326602" cy="513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892309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+1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8185153" y="1185270"/>
            <a:ext cx="2189176" cy="2250538"/>
            <a:chOff x="0" y="0"/>
            <a:chExt cx="784551" cy="80654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84551" cy="806542"/>
            </a:xfrm>
            <a:custGeom>
              <a:avLst/>
              <a:gdLst/>
              <a:ahLst/>
              <a:cxnLst/>
              <a:rect r="r" b="b" t="t" l="l"/>
              <a:pathLst>
                <a:path h="806542" w="784551">
                  <a:moveTo>
                    <a:pt x="35365" y="0"/>
                  </a:moveTo>
                  <a:lnTo>
                    <a:pt x="749187" y="0"/>
                  </a:lnTo>
                  <a:cubicBezTo>
                    <a:pt x="768718" y="0"/>
                    <a:pt x="784551" y="15833"/>
                    <a:pt x="784551" y="35365"/>
                  </a:cubicBezTo>
                  <a:lnTo>
                    <a:pt x="784551" y="771178"/>
                  </a:lnTo>
                  <a:cubicBezTo>
                    <a:pt x="784551" y="780557"/>
                    <a:pt x="780826" y="789552"/>
                    <a:pt x="774193" y="796184"/>
                  </a:cubicBezTo>
                  <a:cubicBezTo>
                    <a:pt x="767561" y="802816"/>
                    <a:pt x="758566" y="806542"/>
                    <a:pt x="749187" y="806542"/>
                  </a:cubicBezTo>
                  <a:lnTo>
                    <a:pt x="35365" y="806542"/>
                  </a:lnTo>
                  <a:cubicBezTo>
                    <a:pt x="15833" y="806542"/>
                    <a:pt x="0" y="790709"/>
                    <a:pt x="0" y="771178"/>
                  </a:cubicBezTo>
                  <a:lnTo>
                    <a:pt x="0" y="35365"/>
                  </a:lnTo>
                  <a:cubicBezTo>
                    <a:pt x="0" y="15833"/>
                    <a:pt x="15833" y="0"/>
                    <a:pt x="35365" y="0"/>
                  </a:cubicBezTo>
                  <a:close/>
                </a:path>
              </a:pathLst>
            </a:custGeom>
            <a:solidFill>
              <a:srgbClr val="F4BB97"/>
            </a:solidFill>
            <a:ln cap="sq">
              <a:noFill/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784551" cy="835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8245386" y="1251211"/>
            <a:ext cx="2073397" cy="405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20"/>
              </a:lnSpc>
            </a:pPr>
            <a:r>
              <a:rPr lang="en-US" b="true" sz="800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Quelle différence entre la liste de</a:t>
            </a:r>
            <a:r>
              <a:rPr lang="en-US" b="true" sz="800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 références et la bibliographie ? </a:t>
            </a:r>
          </a:p>
          <a:p>
            <a:pPr algn="just">
              <a:lnSpc>
                <a:spcPts val="1120"/>
              </a:lnSpc>
            </a:pPr>
          </a:p>
        </p:txBody>
      </p:sp>
      <p:sp>
        <p:nvSpPr>
          <p:cNvPr name="TextBox 73" id="73"/>
          <p:cNvSpPr txBox="true"/>
          <p:nvPr/>
        </p:nvSpPr>
        <p:spPr>
          <a:xfrm rot="0">
            <a:off x="8254597" y="1622700"/>
            <a:ext cx="2054975" cy="1743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03"/>
              </a:lnSpc>
            </a:pPr>
            <a:r>
              <a:rPr lang="en-US" b="true" sz="788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A.</a:t>
            </a:r>
            <a:r>
              <a:rPr lang="en-US" sz="7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La bibliographie comporte uniquement l</a:t>
            </a:r>
            <a:r>
              <a:rPr lang="en-US" sz="7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es documents papier, tandis que la liste de références uniquement les contenus en ligne.</a:t>
            </a:r>
          </a:p>
          <a:p>
            <a:pPr algn="just">
              <a:lnSpc>
                <a:spcPts val="1103"/>
              </a:lnSpc>
            </a:pPr>
          </a:p>
          <a:p>
            <a:pPr algn="just">
              <a:lnSpc>
                <a:spcPts val="1103"/>
              </a:lnSpc>
            </a:pPr>
            <a:r>
              <a:rPr lang="en-US" b="true" sz="788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B.</a:t>
            </a:r>
            <a:r>
              <a:rPr lang="en-US" sz="7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La liste de références comprend les sources citées dans le texte, tandis que la bibliographie comprend les sources complémentaires non citées dans le texte.</a:t>
            </a:r>
          </a:p>
          <a:p>
            <a:pPr algn="just">
              <a:lnSpc>
                <a:spcPts val="1103"/>
              </a:lnSpc>
            </a:pPr>
          </a:p>
          <a:p>
            <a:pPr algn="just">
              <a:lnSpc>
                <a:spcPts val="1103"/>
              </a:lnSpc>
            </a:pPr>
            <a:r>
              <a:rPr lang="en-US" b="true" sz="788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C.</a:t>
            </a:r>
            <a:r>
              <a:rPr lang="en-US" sz="7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La bibliographie comprend les sources citées dans le texte, tandis que la liste de références comprend les sources complémentaires non citées dans le texte.</a:t>
            </a:r>
          </a:p>
        </p:txBody>
      </p:sp>
      <p:sp>
        <p:nvSpPr>
          <p:cNvPr name="TextBox 74" id="74"/>
          <p:cNvSpPr txBox="true"/>
          <p:nvPr/>
        </p:nvSpPr>
        <p:spPr>
          <a:xfrm rot="-10800000">
            <a:off x="8253307" y="3466280"/>
            <a:ext cx="2057554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20"/>
              </a:lnSpc>
            </a:pPr>
            <a:r>
              <a:rPr lang="en-US" sz="800" u="sng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Réponse</a:t>
            </a: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: B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320013" y="4017245"/>
            <a:ext cx="2189176" cy="728985"/>
            <a:chOff x="0" y="0"/>
            <a:chExt cx="2918902" cy="971980"/>
          </a:xfrm>
        </p:grpSpPr>
        <p:grpSp>
          <p:nvGrpSpPr>
            <p:cNvPr name="Group 76" id="76"/>
            <p:cNvGrpSpPr/>
            <p:nvPr/>
          </p:nvGrpSpPr>
          <p:grpSpPr>
            <a:xfrm rot="0">
              <a:off x="0" y="0"/>
              <a:ext cx="2835628" cy="664130"/>
              <a:chOff x="0" y="0"/>
              <a:chExt cx="2819702" cy="660400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31750" y="31750"/>
                <a:ext cx="2754961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2754961">
                    <a:moveTo>
                      <a:pt x="2663492" y="596900"/>
                    </a:moveTo>
                    <a:lnTo>
                      <a:pt x="92710" y="596900"/>
                    </a:lnTo>
                    <a:cubicBezTo>
                      <a:pt x="41910" y="596900"/>
                      <a:pt x="0" y="554990"/>
                      <a:pt x="0" y="504190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662223" y="0"/>
                    </a:lnTo>
                    <a:cubicBezTo>
                      <a:pt x="2713023" y="0"/>
                      <a:pt x="2754933" y="41910"/>
                      <a:pt x="2754933" y="92710"/>
                    </a:cubicBezTo>
                    <a:lnTo>
                      <a:pt x="2754933" y="502920"/>
                    </a:lnTo>
                    <a:cubicBezTo>
                      <a:pt x="2756203" y="554990"/>
                      <a:pt x="2714292" y="596900"/>
                      <a:pt x="2663492" y="596900"/>
                    </a:cubicBezTo>
                    <a:close/>
                  </a:path>
                </a:pathLst>
              </a:custGeom>
              <a:solidFill>
                <a:srgbClr val="F4BB97"/>
              </a:solidFill>
            </p:spPr>
          </p:sp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2819703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2819703">
                    <a:moveTo>
                      <a:pt x="2695242" y="59690"/>
                    </a:moveTo>
                    <a:cubicBezTo>
                      <a:pt x="2730803" y="59690"/>
                      <a:pt x="2760013" y="88900"/>
                      <a:pt x="2760013" y="124460"/>
                    </a:cubicBezTo>
                    <a:lnTo>
                      <a:pt x="2760013" y="535940"/>
                    </a:lnTo>
                    <a:cubicBezTo>
                      <a:pt x="2760013" y="571500"/>
                      <a:pt x="2730803" y="600710"/>
                      <a:pt x="2695242" y="600710"/>
                    </a:cubicBezTo>
                    <a:lnTo>
                      <a:pt x="124460" y="600710"/>
                    </a:lnTo>
                    <a:cubicBezTo>
                      <a:pt x="88900" y="600710"/>
                      <a:pt x="59690" y="571500"/>
                      <a:pt x="59690" y="535940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695243" y="59690"/>
                    </a:lnTo>
                    <a:moveTo>
                      <a:pt x="269524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535940"/>
                    </a:lnTo>
                    <a:cubicBezTo>
                      <a:pt x="0" y="604520"/>
                      <a:pt x="55880" y="660400"/>
                      <a:pt x="124460" y="660400"/>
                    </a:cubicBezTo>
                    <a:lnTo>
                      <a:pt x="2695243" y="660400"/>
                    </a:lnTo>
                    <a:cubicBezTo>
                      <a:pt x="2763823" y="660400"/>
                      <a:pt x="2819703" y="604520"/>
                      <a:pt x="2819703" y="535940"/>
                    </a:cubicBezTo>
                    <a:lnTo>
                      <a:pt x="2819703" y="124460"/>
                    </a:lnTo>
                    <a:cubicBezTo>
                      <a:pt x="2819703" y="55880"/>
                      <a:pt x="2763823" y="0"/>
                      <a:pt x="269524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Freeform 79" id="79"/>
            <p:cNvSpPr/>
            <p:nvPr/>
          </p:nvSpPr>
          <p:spPr>
            <a:xfrm flipH="false" flipV="false" rot="0">
              <a:off x="2270619" y="346119"/>
              <a:ext cx="648283" cy="625861"/>
            </a:xfrm>
            <a:custGeom>
              <a:avLst/>
              <a:gdLst/>
              <a:ahLst/>
              <a:cxnLst/>
              <a:rect r="r" b="b" t="t" l="l"/>
              <a:pathLst>
                <a:path h="625861" w="648283">
                  <a:moveTo>
                    <a:pt x="0" y="0"/>
                  </a:moveTo>
                  <a:lnTo>
                    <a:pt x="648283" y="0"/>
                  </a:lnTo>
                  <a:lnTo>
                    <a:pt x="648283" y="625861"/>
                  </a:lnTo>
                  <a:lnTo>
                    <a:pt x="0" y="625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 rot="0">
              <a:off x="565009" y="65873"/>
              <a:ext cx="1705610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892309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Vrai / Faux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0">
              <a:off x="2375053" y="378803"/>
              <a:ext cx="326602" cy="513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892309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+1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320013" y="4860530"/>
            <a:ext cx="2189176" cy="836724"/>
            <a:chOff x="0" y="0"/>
            <a:chExt cx="784551" cy="299863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84551" cy="299863"/>
            </a:xfrm>
            <a:custGeom>
              <a:avLst/>
              <a:gdLst/>
              <a:ahLst/>
              <a:cxnLst/>
              <a:rect r="r" b="b" t="t" l="l"/>
              <a:pathLst>
                <a:path h="299863" w="784551">
                  <a:moveTo>
                    <a:pt x="35365" y="0"/>
                  </a:moveTo>
                  <a:lnTo>
                    <a:pt x="749187" y="0"/>
                  </a:lnTo>
                  <a:cubicBezTo>
                    <a:pt x="768718" y="0"/>
                    <a:pt x="784551" y="15833"/>
                    <a:pt x="784551" y="35365"/>
                  </a:cubicBezTo>
                  <a:lnTo>
                    <a:pt x="784551" y="264498"/>
                  </a:lnTo>
                  <a:cubicBezTo>
                    <a:pt x="784551" y="284030"/>
                    <a:pt x="768718" y="299863"/>
                    <a:pt x="749187" y="299863"/>
                  </a:cubicBezTo>
                  <a:lnTo>
                    <a:pt x="35365" y="299863"/>
                  </a:lnTo>
                  <a:cubicBezTo>
                    <a:pt x="25985" y="299863"/>
                    <a:pt x="16990" y="296137"/>
                    <a:pt x="10358" y="289505"/>
                  </a:cubicBezTo>
                  <a:cubicBezTo>
                    <a:pt x="3726" y="282873"/>
                    <a:pt x="0" y="273878"/>
                    <a:pt x="0" y="264498"/>
                  </a:cubicBezTo>
                  <a:lnTo>
                    <a:pt x="0" y="35365"/>
                  </a:lnTo>
                  <a:cubicBezTo>
                    <a:pt x="0" y="15833"/>
                    <a:pt x="15833" y="0"/>
                    <a:pt x="35365" y="0"/>
                  </a:cubicBezTo>
                  <a:close/>
                </a:path>
              </a:pathLst>
            </a:custGeom>
            <a:solidFill>
              <a:srgbClr val="F4BB97"/>
            </a:solidFill>
            <a:ln cap="sq">
              <a:noFill/>
              <a:prstDash val="solid"/>
              <a:miter/>
            </a:ln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784551" cy="328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5" id="85"/>
          <p:cNvSpPr txBox="true"/>
          <p:nvPr/>
        </p:nvSpPr>
        <p:spPr>
          <a:xfrm rot="-10800000">
            <a:off x="427899" y="6462384"/>
            <a:ext cx="2057554" cy="81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20"/>
              </a:lnSpc>
            </a:pPr>
            <a:r>
              <a:rPr lang="en-US" sz="800" u="sng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Réponse</a:t>
            </a: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: Faux</a:t>
            </a:r>
          </a:p>
          <a:p>
            <a:pPr algn="just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Lorsqu’une source ne possède pas de mention de date, il faut indiquer (s.d.). Cela signifie “sans date”. Voir chapitre 4.1 du Guide APA.</a:t>
            </a:r>
          </a:p>
          <a:p>
            <a:pPr algn="just">
              <a:lnSpc>
                <a:spcPts val="1120"/>
              </a:lnSpc>
            </a:pPr>
          </a:p>
        </p:txBody>
      </p:sp>
      <p:grpSp>
        <p:nvGrpSpPr>
          <p:cNvPr name="Group 86" id="86"/>
          <p:cNvGrpSpPr/>
          <p:nvPr/>
        </p:nvGrpSpPr>
        <p:grpSpPr>
          <a:xfrm rot="0">
            <a:off x="3005976" y="4017245"/>
            <a:ext cx="2189176" cy="728985"/>
            <a:chOff x="0" y="0"/>
            <a:chExt cx="2918902" cy="971980"/>
          </a:xfrm>
        </p:grpSpPr>
        <p:grpSp>
          <p:nvGrpSpPr>
            <p:cNvPr name="Group 87" id="87"/>
            <p:cNvGrpSpPr/>
            <p:nvPr/>
          </p:nvGrpSpPr>
          <p:grpSpPr>
            <a:xfrm rot="0">
              <a:off x="0" y="0"/>
              <a:ext cx="2835628" cy="664130"/>
              <a:chOff x="0" y="0"/>
              <a:chExt cx="2819702" cy="660400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31750" y="31750"/>
                <a:ext cx="2754961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2754961">
                    <a:moveTo>
                      <a:pt x="2663492" y="596900"/>
                    </a:moveTo>
                    <a:lnTo>
                      <a:pt x="92710" y="596900"/>
                    </a:lnTo>
                    <a:cubicBezTo>
                      <a:pt x="41910" y="596900"/>
                      <a:pt x="0" y="554990"/>
                      <a:pt x="0" y="504190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662223" y="0"/>
                    </a:lnTo>
                    <a:cubicBezTo>
                      <a:pt x="2713023" y="0"/>
                      <a:pt x="2754933" y="41910"/>
                      <a:pt x="2754933" y="92710"/>
                    </a:cubicBezTo>
                    <a:lnTo>
                      <a:pt x="2754933" y="502920"/>
                    </a:lnTo>
                    <a:cubicBezTo>
                      <a:pt x="2756203" y="554990"/>
                      <a:pt x="2714292" y="596900"/>
                      <a:pt x="2663492" y="596900"/>
                    </a:cubicBezTo>
                    <a:close/>
                  </a:path>
                </a:pathLst>
              </a:custGeom>
              <a:solidFill>
                <a:srgbClr val="F4BB97"/>
              </a:solidFill>
            </p:spPr>
          </p:sp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2819703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2819703">
                    <a:moveTo>
                      <a:pt x="2695242" y="59690"/>
                    </a:moveTo>
                    <a:cubicBezTo>
                      <a:pt x="2730803" y="59690"/>
                      <a:pt x="2760013" y="88900"/>
                      <a:pt x="2760013" y="124460"/>
                    </a:cubicBezTo>
                    <a:lnTo>
                      <a:pt x="2760013" y="535940"/>
                    </a:lnTo>
                    <a:cubicBezTo>
                      <a:pt x="2760013" y="571500"/>
                      <a:pt x="2730803" y="600710"/>
                      <a:pt x="2695242" y="600710"/>
                    </a:cubicBezTo>
                    <a:lnTo>
                      <a:pt x="124460" y="600710"/>
                    </a:lnTo>
                    <a:cubicBezTo>
                      <a:pt x="88900" y="600710"/>
                      <a:pt x="59690" y="571500"/>
                      <a:pt x="59690" y="535940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695243" y="59690"/>
                    </a:lnTo>
                    <a:moveTo>
                      <a:pt x="269524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535940"/>
                    </a:lnTo>
                    <a:cubicBezTo>
                      <a:pt x="0" y="604520"/>
                      <a:pt x="55880" y="660400"/>
                      <a:pt x="124460" y="660400"/>
                    </a:cubicBezTo>
                    <a:lnTo>
                      <a:pt x="2695243" y="660400"/>
                    </a:lnTo>
                    <a:cubicBezTo>
                      <a:pt x="2763823" y="660400"/>
                      <a:pt x="2819703" y="604520"/>
                      <a:pt x="2819703" y="535940"/>
                    </a:cubicBezTo>
                    <a:lnTo>
                      <a:pt x="2819703" y="124460"/>
                    </a:lnTo>
                    <a:cubicBezTo>
                      <a:pt x="2819703" y="55880"/>
                      <a:pt x="2763823" y="0"/>
                      <a:pt x="269524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Freeform 90" id="90"/>
            <p:cNvSpPr/>
            <p:nvPr/>
          </p:nvSpPr>
          <p:spPr>
            <a:xfrm flipH="false" flipV="false" rot="0">
              <a:off x="2270619" y="346119"/>
              <a:ext cx="648283" cy="625861"/>
            </a:xfrm>
            <a:custGeom>
              <a:avLst/>
              <a:gdLst/>
              <a:ahLst/>
              <a:cxnLst/>
              <a:rect r="r" b="b" t="t" l="l"/>
              <a:pathLst>
                <a:path h="625861" w="648283">
                  <a:moveTo>
                    <a:pt x="0" y="0"/>
                  </a:moveTo>
                  <a:lnTo>
                    <a:pt x="648283" y="0"/>
                  </a:lnTo>
                  <a:lnTo>
                    <a:pt x="648283" y="625861"/>
                  </a:lnTo>
                  <a:lnTo>
                    <a:pt x="0" y="625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 rot="0">
              <a:off x="565009" y="65873"/>
              <a:ext cx="1705610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892309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À choix</a:t>
              </a:r>
            </a:p>
          </p:txBody>
        </p:sp>
        <p:sp>
          <p:nvSpPr>
            <p:cNvPr name="TextBox 92" id="92"/>
            <p:cNvSpPr txBox="true"/>
            <p:nvPr/>
          </p:nvSpPr>
          <p:spPr>
            <a:xfrm rot="0">
              <a:off x="2375053" y="378803"/>
              <a:ext cx="326602" cy="513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892309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+1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2941336" y="4860530"/>
            <a:ext cx="2189176" cy="1782692"/>
            <a:chOff x="0" y="0"/>
            <a:chExt cx="784551" cy="638877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84551" cy="638877"/>
            </a:xfrm>
            <a:custGeom>
              <a:avLst/>
              <a:gdLst/>
              <a:ahLst/>
              <a:cxnLst/>
              <a:rect r="r" b="b" t="t" l="l"/>
              <a:pathLst>
                <a:path h="638877" w="784551">
                  <a:moveTo>
                    <a:pt x="35365" y="0"/>
                  </a:moveTo>
                  <a:lnTo>
                    <a:pt x="749187" y="0"/>
                  </a:lnTo>
                  <a:cubicBezTo>
                    <a:pt x="768718" y="0"/>
                    <a:pt x="784551" y="15833"/>
                    <a:pt x="784551" y="35365"/>
                  </a:cubicBezTo>
                  <a:lnTo>
                    <a:pt x="784551" y="603512"/>
                  </a:lnTo>
                  <a:cubicBezTo>
                    <a:pt x="784551" y="623043"/>
                    <a:pt x="768718" y="638877"/>
                    <a:pt x="749187" y="638877"/>
                  </a:cubicBezTo>
                  <a:lnTo>
                    <a:pt x="35365" y="638877"/>
                  </a:lnTo>
                  <a:cubicBezTo>
                    <a:pt x="15833" y="638877"/>
                    <a:pt x="0" y="623043"/>
                    <a:pt x="0" y="603512"/>
                  </a:cubicBezTo>
                  <a:lnTo>
                    <a:pt x="0" y="35365"/>
                  </a:lnTo>
                  <a:cubicBezTo>
                    <a:pt x="0" y="15833"/>
                    <a:pt x="15833" y="0"/>
                    <a:pt x="35365" y="0"/>
                  </a:cubicBezTo>
                  <a:close/>
                </a:path>
              </a:pathLst>
            </a:custGeom>
            <a:solidFill>
              <a:srgbClr val="F4BB97"/>
            </a:solidFill>
            <a:ln cap="sq">
              <a:noFill/>
              <a:prstDash val="solid"/>
              <a:miter/>
            </a:ln>
          </p:spPr>
        </p:sp>
        <p:sp>
          <p:nvSpPr>
            <p:cNvPr name="TextBox 95" id="95"/>
            <p:cNvSpPr txBox="true"/>
            <p:nvPr/>
          </p:nvSpPr>
          <p:spPr>
            <a:xfrm>
              <a:off x="0" y="-28575"/>
              <a:ext cx="784551" cy="667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6" id="96"/>
          <p:cNvSpPr txBox="true"/>
          <p:nvPr/>
        </p:nvSpPr>
        <p:spPr>
          <a:xfrm rot="0">
            <a:off x="2999226" y="4934562"/>
            <a:ext cx="2073397" cy="405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20"/>
              </a:lnSpc>
            </a:pPr>
            <a:r>
              <a:rPr lang="en-US" b="true" sz="800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Quand on note les noms des auteur-i</a:t>
            </a:r>
            <a:r>
              <a:rPr lang="en-US" b="true" sz="800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ces d’une publication dans une référence, il faut toujours… 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2999226" y="5388316"/>
            <a:ext cx="2054975" cy="1209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03"/>
              </a:lnSpc>
            </a:pPr>
            <a:r>
              <a:rPr lang="en-US" b="true" sz="788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A.</a:t>
            </a:r>
            <a:r>
              <a:rPr lang="en-US" sz="7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Abréger les noms p</a:t>
            </a:r>
            <a:r>
              <a:rPr lang="en-US" sz="7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ar une initiale.</a:t>
            </a:r>
          </a:p>
          <a:p>
            <a:pPr algn="just">
              <a:lnSpc>
                <a:spcPts val="1103"/>
              </a:lnSpc>
            </a:pPr>
          </a:p>
          <a:p>
            <a:pPr algn="just">
              <a:lnSpc>
                <a:spcPts val="1103"/>
              </a:lnSpc>
            </a:pPr>
            <a:r>
              <a:rPr lang="en-US" b="true" sz="788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B.</a:t>
            </a:r>
            <a:r>
              <a:rPr lang="en-US" sz="7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Noter uniquement le nom du 1</a:t>
            </a:r>
            <a:r>
              <a:rPr lang="en-US" sz="7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er</a:t>
            </a:r>
            <a:r>
              <a:rPr lang="en-US" sz="7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ou de la 1</a:t>
            </a:r>
            <a:r>
              <a:rPr lang="en-US" sz="7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ère</a:t>
            </a:r>
            <a:r>
              <a:rPr lang="en-US" sz="7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auteur-ice.</a:t>
            </a:r>
          </a:p>
          <a:p>
            <a:pPr algn="just">
              <a:lnSpc>
                <a:spcPts val="1103"/>
              </a:lnSpc>
            </a:pPr>
          </a:p>
          <a:p>
            <a:pPr algn="just">
              <a:lnSpc>
                <a:spcPts val="1103"/>
              </a:lnSpc>
            </a:pPr>
            <a:r>
              <a:rPr lang="en-US" b="true" sz="788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C.</a:t>
            </a:r>
            <a:r>
              <a:rPr lang="en-US" sz="7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Les trier par ordre alphabétique. </a:t>
            </a:r>
          </a:p>
          <a:p>
            <a:pPr algn="just">
              <a:lnSpc>
                <a:spcPts val="1103"/>
              </a:lnSpc>
            </a:pPr>
          </a:p>
          <a:p>
            <a:pPr algn="just">
              <a:lnSpc>
                <a:spcPts val="1103"/>
              </a:lnSpc>
            </a:pPr>
            <a:r>
              <a:rPr lang="en-US" b="true" sz="788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D.</a:t>
            </a:r>
            <a:r>
              <a:rPr lang="en-US" sz="7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Respecter l’ordre des auteur-ices tel qu’il apparaît dans la publication. </a:t>
            </a:r>
          </a:p>
        </p:txBody>
      </p:sp>
      <p:sp>
        <p:nvSpPr>
          <p:cNvPr name="TextBox 98" id="98"/>
          <p:cNvSpPr txBox="true"/>
          <p:nvPr/>
        </p:nvSpPr>
        <p:spPr>
          <a:xfrm rot="-10800000">
            <a:off x="3047259" y="6597851"/>
            <a:ext cx="2057554" cy="67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20"/>
              </a:lnSpc>
            </a:pPr>
            <a:r>
              <a:rPr lang="en-US" sz="800" u="sng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Réponse</a:t>
            </a: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: D</a:t>
            </a:r>
          </a:p>
          <a:p>
            <a:pPr algn="just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Afin de pouvoir retrouver facilement la source, il est important de conserver l’ordre donne dans la publication.</a:t>
            </a:r>
          </a:p>
          <a:p>
            <a:pPr algn="just">
              <a:lnSpc>
                <a:spcPts val="1120"/>
              </a:lnSpc>
            </a:pPr>
          </a:p>
        </p:txBody>
      </p:sp>
      <p:grpSp>
        <p:nvGrpSpPr>
          <p:cNvPr name="Group 99" id="99"/>
          <p:cNvGrpSpPr/>
          <p:nvPr/>
        </p:nvGrpSpPr>
        <p:grpSpPr>
          <a:xfrm rot="0">
            <a:off x="5590701" y="4017245"/>
            <a:ext cx="2189176" cy="728985"/>
            <a:chOff x="0" y="0"/>
            <a:chExt cx="2918902" cy="971980"/>
          </a:xfrm>
        </p:grpSpPr>
        <p:grpSp>
          <p:nvGrpSpPr>
            <p:cNvPr name="Group 100" id="100"/>
            <p:cNvGrpSpPr/>
            <p:nvPr/>
          </p:nvGrpSpPr>
          <p:grpSpPr>
            <a:xfrm rot="0">
              <a:off x="0" y="0"/>
              <a:ext cx="2835628" cy="664130"/>
              <a:chOff x="0" y="0"/>
              <a:chExt cx="2819702" cy="660400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31750" y="31750"/>
                <a:ext cx="2754961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2754961">
                    <a:moveTo>
                      <a:pt x="2663492" y="596900"/>
                    </a:moveTo>
                    <a:lnTo>
                      <a:pt x="92710" y="596900"/>
                    </a:lnTo>
                    <a:cubicBezTo>
                      <a:pt x="41910" y="596900"/>
                      <a:pt x="0" y="554990"/>
                      <a:pt x="0" y="504190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662223" y="0"/>
                    </a:lnTo>
                    <a:cubicBezTo>
                      <a:pt x="2713023" y="0"/>
                      <a:pt x="2754933" y="41910"/>
                      <a:pt x="2754933" y="92710"/>
                    </a:cubicBezTo>
                    <a:lnTo>
                      <a:pt x="2754933" y="502920"/>
                    </a:lnTo>
                    <a:cubicBezTo>
                      <a:pt x="2756203" y="554990"/>
                      <a:pt x="2714292" y="596900"/>
                      <a:pt x="2663492" y="596900"/>
                    </a:cubicBezTo>
                    <a:close/>
                  </a:path>
                </a:pathLst>
              </a:custGeom>
              <a:solidFill>
                <a:srgbClr val="F4BB97"/>
              </a:solidFill>
            </p:spPr>
          </p:sp>
          <p:sp>
            <p:nvSpPr>
              <p:cNvPr name="Freeform 102" id="102"/>
              <p:cNvSpPr/>
              <p:nvPr/>
            </p:nvSpPr>
            <p:spPr>
              <a:xfrm flipH="false" flipV="false" rot="0">
                <a:off x="0" y="0"/>
                <a:ext cx="2819703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2819703">
                    <a:moveTo>
                      <a:pt x="2695242" y="59690"/>
                    </a:moveTo>
                    <a:cubicBezTo>
                      <a:pt x="2730803" y="59690"/>
                      <a:pt x="2760013" y="88900"/>
                      <a:pt x="2760013" y="124460"/>
                    </a:cubicBezTo>
                    <a:lnTo>
                      <a:pt x="2760013" y="535940"/>
                    </a:lnTo>
                    <a:cubicBezTo>
                      <a:pt x="2760013" y="571500"/>
                      <a:pt x="2730803" y="600710"/>
                      <a:pt x="2695242" y="600710"/>
                    </a:cubicBezTo>
                    <a:lnTo>
                      <a:pt x="124460" y="600710"/>
                    </a:lnTo>
                    <a:cubicBezTo>
                      <a:pt x="88900" y="600710"/>
                      <a:pt x="59690" y="571500"/>
                      <a:pt x="59690" y="535940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695243" y="59690"/>
                    </a:lnTo>
                    <a:moveTo>
                      <a:pt x="269524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535940"/>
                    </a:lnTo>
                    <a:cubicBezTo>
                      <a:pt x="0" y="604520"/>
                      <a:pt x="55880" y="660400"/>
                      <a:pt x="124460" y="660400"/>
                    </a:cubicBezTo>
                    <a:lnTo>
                      <a:pt x="2695243" y="660400"/>
                    </a:lnTo>
                    <a:cubicBezTo>
                      <a:pt x="2763823" y="660400"/>
                      <a:pt x="2819703" y="604520"/>
                      <a:pt x="2819703" y="535940"/>
                    </a:cubicBezTo>
                    <a:lnTo>
                      <a:pt x="2819703" y="124460"/>
                    </a:lnTo>
                    <a:cubicBezTo>
                      <a:pt x="2819703" y="55880"/>
                      <a:pt x="2763823" y="0"/>
                      <a:pt x="269524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Freeform 103" id="103"/>
            <p:cNvSpPr/>
            <p:nvPr/>
          </p:nvSpPr>
          <p:spPr>
            <a:xfrm flipH="false" flipV="false" rot="0">
              <a:off x="2270619" y="346119"/>
              <a:ext cx="648283" cy="625861"/>
            </a:xfrm>
            <a:custGeom>
              <a:avLst/>
              <a:gdLst/>
              <a:ahLst/>
              <a:cxnLst/>
              <a:rect r="r" b="b" t="t" l="l"/>
              <a:pathLst>
                <a:path h="625861" w="648283">
                  <a:moveTo>
                    <a:pt x="0" y="0"/>
                  </a:moveTo>
                  <a:lnTo>
                    <a:pt x="648283" y="0"/>
                  </a:lnTo>
                  <a:lnTo>
                    <a:pt x="648283" y="625861"/>
                  </a:lnTo>
                  <a:lnTo>
                    <a:pt x="0" y="625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 rot="0">
              <a:off x="565009" y="65873"/>
              <a:ext cx="1705610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892309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À choix</a:t>
              </a:r>
            </a:p>
          </p:txBody>
        </p:sp>
        <p:sp>
          <p:nvSpPr>
            <p:cNvPr name="TextBox 105" id="105"/>
            <p:cNvSpPr txBox="true"/>
            <p:nvPr/>
          </p:nvSpPr>
          <p:spPr>
            <a:xfrm rot="0">
              <a:off x="2375053" y="378803"/>
              <a:ext cx="326602" cy="513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892309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+1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5565002" y="4860530"/>
            <a:ext cx="2189176" cy="1770439"/>
            <a:chOff x="0" y="0"/>
            <a:chExt cx="784551" cy="634485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784551" cy="634485"/>
            </a:xfrm>
            <a:custGeom>
              <a:avLst/>
              <a:gdLst/>
              <a:ahLst/>
              <a:cxnLst/>
              <a:rect r="r" b="b" t="t" l="l"/>
              <a:pathLst>
                <a:path h="634485" w="784551">
                  <a:moveTo>
                    <a:pt x="35365" y="0"/>
                  </a:moveTo>
                  <a:lnTo>
                    <a:pt x="749187" y="0"/>
                  </a:lnTo>
                  <a:cubicBezTo>
                    <a:pt x="768718" y="0"/>
                    <a:pt x="784551" y="15833"/>
                    <a:pt x="784551" y="35365"/>
                  </a:cubicBezTo>
                  <a:lnTo>
                    <a:pt x="784551" y="599121"/>
                  </a:lnTo>
                  <a:cubicBezTo>
                    <a:pt x="784551" y="618652"/>
                    <a:pt x="768718" y="634485"/>
                    <a:pt x="749187" y="634485"/>
                  </a:cubicBezTo>
                  <a:lnTo>
                    <a:pt x="35365" y="634485"/>
                  </a:lnTo>
                  <a:cubicBezTo>
                    <a:pt x="15833" y="634485"/>
                    <a:pt x="0" y="618652"/>
                    <a:pt x="0" y="599121"/>
                  </a:cubicBezTo>
                  <a:lnTo>
                    <a:pt x="0" y="35365"/>
                  </a:lnTo>
                  <a:cubicBezTo>
                    <a:pt x="0" y="15833"/>
                    <a:pt x="15833" y="0"/>
                    <a:pt x="35365" y="0"/>
                  </a:cubicBezTo>
                  <a:close/>
                </a:path>
              </a:pathLst>
            </a:custGeom>
            <a:solidFill>
              <a:srgbClr val="F4BB97"/>
            </a:solidFill>
            <a:ln cap="sq">
              <a:noFill/>
              <a:prstDash val="solid"/>
              <a:miter/>
            </a:ln>
          </p:spPr>
        </p:sp>
        <p:sp>
          <p:nvSpPr>
            <p:cNvPr name="TextBox 108" id="108"/>
            <p:cNvSpPr txBox="true"/>
            <p:nvPr/>
          </p:nvSpPr>
          <p:spPr>
            <a:xfrm>
              <a:off x="0" y="-28575"/>
              <a:ext cx="784551" cy="6630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9" id="109"/>
          <p:cNvSpPr txBox="true"/>
          <p:nvPr/>
        </p:nvSpPr>
        <p:spPr>
          <a:xfrm rot="0">
            <a:off x="5620548" y="4908155"/>
            <a:ext cx="2073397" cy="405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20"/>
              </a:lnSpc>
            </a:pPr>
            <a:r>
              <a:rPr lang="en-US" b="true" sz="800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Dans une citation, que signifie la mention « et al. » qui peut figurer après les noms des auteur-i</a:t>
            </a:r>
            <a:r>
              <a:rPr lang="en-US" b="true" sz="800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ces ?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5620548" y="5388316"/>
            <a:ext cx="2054975" cy="1209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03"/>
              </a:lnSpc>
            </a:pPr>
            <a:r>
              <a:rPr lang="en-US" b="true" sz="788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A.</a:t>
            </a:r>
            <a:r>
              <a:rPr lang="en-US" sz="7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Que l’on ne connaît pas le nom des </a:t>
            </a:r>
            <a:r>
              <a:rPr lang="en-US" sz="7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autres auteur-ices.</a:t>
            </a:r>
          </a:p>
          <a:p>
            <a:pPr algn="just">
              <a:lnSpc>
                <a:spcPts val="1103"/>
              </a:lnSpc>
            </a:pPr>
          </a:p>
          <a:p>
            <a:pPr algn="just">
              <a:lnSpc>
                <a:spcPts val="1103"/>
              </a:lnSpc>
            </a:pPr>
            <a:r>
              <a:rPr lang="en-US" b="true" sz="788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B.</a:t>
            </a:r>
            <a:r>
              <a:rPr lang="en-US" sz="7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Qu’il y a plus de 10 auteur-ices.</a:t>
            </a:r>
          </a:p>
          <a:p>
            <a:pPr algn="just">
              <a:lnSpc>
                <a:spcPts val="1103"/>
              </a:lnSpc>
            </a:pPr>
          </a:p>
          <a:p>
            <a:pPr algn="just">
              <a:lnSpc>
                <a:spcPts val="1103"/>
              </a:lnSpc>
            </a:pPr>
            <a:r>
              <a:rPr lang="en-US" b="true" sz="788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C.</a:t>
            </a:r>
            <a:r>
              <a:rPr lang="en-US" sz="7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Que certains ou certaines auteur-ices ont préféré rester anonymes.</a:t>
            </a:r>
          </a:p>
          <a:p>
            <a:pPr algn="just">
              <a:lnSpc>
                <a:spcPts val="1103"/>
              </a:lnSpc>
            </a:pPr>
          </a:p>
          <a:p>
            <a:pPr algn="just">
              <a:lnSpc>
                <a:spcPts val="1103"/>
              </a:lnSpc>
            </a:pPr>
            <a:r>
              <a:rPr lang="en-US" b="true" sz="788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D.</a:t>
            </a:r>
            <a:r>
              <a:rPr lang="en-US" sz="7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Qu’il y a plus de 3 auteur-ices </a:t>
            </a:r>
          </a:p>
        </p:txBody>
      </p:sp>
      <p:sp>
        <p:nvSpPr>
          <p:cNvPr name="TextBox 111" id="111"/>
          <p:cNvSpPr txBox="true"/>
          <p:nvPr/>
        </p:nvSpPr>
        <p:spPr>
          <a:xfrm rot="-10800000">
            <a:off x="5630813" y="6462384"/>
            <a:ext cx="2057554" cy="81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20"/>
              </a:lnSpc>
            </a:pPr>
            <a:r>
              <a:rPr lang="en-US" sz="800" u="sng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Réponse</a:t>
            </a: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: D</a:t>
            </a:r>
          </a:p>
          <a:p>
            <a:pPr algn="just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On indique uniquement la première personne autrice suivi de « et al. ». Valable uniquement pour les citations et non les références. </a:t>
            </a:r>
          </a:p>
          <a:p>
            <a:pPr algn="just">
              <a:lnSpc>
                <a:spcPts val="1120"/>
              </a:lnSpc>
            </a:pPr>
          </a:p>
          <a:p>
            <a:pPr algn="just">
              <a:lnSpc>
                <a:spcPts val="1120"/>
              </a:lnSpc>
            </a:pPr>
          </a:p>
        </p:txBody>
      </p:sp>
      <p:grpSp>
        <p:nvGrpSpPr>
          <p:cNvPr name="Group 112" id="112"/>
          <p:cNvGrpSpPr/>
          <p:nvPr/>
        </p:nvGrpSpPr>
        <p:grpSpPr>
          <a:xfrm rot="0">
            <a:off x="8216071" y="4017245"/>
            <a:ext cx="2189176" cy="728985"/>
            <a:chOff x="0" y="0"/>
            <a:chExt cx="2918902" cy="971980"/>
          </a:xfrm>
        </p:grpSpPr>
        <p:grpSp>
          <p:nvGrpSpPr>
            <p:cNvPr name="Group 113" id="113"/>
            <p:cNvGrpSpPr/>
            <p:nvPr/>
          </p:nvGrpSpPr>
          <p:grpSpPr>
            <a:xfrm rot="0">
              <a:off x="0" y="0"/>
              <a:ext cx="2835628" cy="664130"/>
              <a:chOff x="0" y="0"/>
              <a:chExt cx="2819702" cy="660400"/>
            </a:xfrm>
          </p:grpSpPr>
          <p:sp>
            <p:nvSpPr>
              <p:cNvPr name="Freeform 114" id="114"/>
              <p:cNvSpPr/>
              <p:nvPr/>
            </p:nvSpPr>
            <p:spPr>
              <a:xfrm flipH="false" flipV="false" rot="0">
                <a:off x="31750" y="31750"/>
                <a:ext cx="2754961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2754961">
                    <a:moveTo>
                      <a:pt x="2663492" y="596900"/>
                    </a:moveTo>
                    <a:lnTo>
                      <a:pt x="92710" y="596900"/>
                    </a:lnTo>
                    <a:cubicBezTo>
                      <a:pt x="41910" y="596900"/>
                      <a:pt x="0" y="554990"/>
                      <a:pt x="0" y="504190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662223" y="0"/>
                    </a:lnTo>
                    <a:cubicBezTo>
                      <a:pt x="2713023" y="0"/>
                      <a:pt x="2754933" y="41910"/>
                      <a:pt x="2754933" y="92710"/>
                    </a:cubicBezTo>
                    <a:lnTo>
                      <a:pt x="2754933" y="502920"/>
                    </a:lnTo>
                    <a:cubicBezTo>
                      <a:pt x="2756203" y="554990"/>
                      <a:pt x="2714292" y="596900"/>
                      <a:pt x="2663492" y="596900"/>
                    </a:cubicBezTo>
                    <a:close/>
                  </a:path>
                </a:pathLst>
              </a:custGeom>
              <a:solidFill>
                <a:srgbClr val="F4BB97"/>
              </a:solidFill>
            </p:spPr>
          </p:sp>
          <p:sp>
            <p:nvSpPr>
              <p:cNvPr name="Freeform 115" id="115"/>
              <p:cNvSpPr/>
              <p:nvPr/>
            </p:nvSpPr>
            <p:spPr>
              <a:xfrm flipH="false" flipV="false" rot="0">
                <a:off x="0" y="0"/>
                <a:ext cx="2819703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2819703">
                    <a:moveTo>
                      <a:pt x="2695242" y="59690"/>
                    </a:moveTo>
                    <a:cubicBezTo>
                      <a:pt x="2730803" y="59690"/>
                      <a:pt x="2760013" y="88900"/>
                      <a:pt x="2760013" y="124460"/>
                    </a:cubicBezTo>
                    <a:lnTo>
                      <a:pt x="2760013" y="535940"/>
                    </a:lnTo>
                    <a:cubicBezTo>
                      <a:pt x="2760013" y="571500"/>
                      <a:pt x="2730803" y="600710"/>
                      <a:pt x="2695242" y="600710"/>
                    </a:cubicBezTo>
                    <a:lnTo>
                      <a:pt x="124460" y="600710"/>
                    </a:lnTo>
                    <a:cubicBezTo>
                      <a:pt x="88900" y="600710"/>
                      <a:pt x="59690" y="571500"/>
                      <a:pt x="59690" y="535940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695243" y="59690"/>
                    </a:lnTo>
                    <a:moveTo>
                      <a:pt x="269524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535940"/>
                    </a:lnTo>
                    <a:cubicBezTo>
                      <a:pt x="0" y="604520"/>
                      <a:pt x="55880" y="660400"/>
                      <a:pt x="124460" y="660400"/>
                    </a:cubicBezTo>
                    <a:lnTo>
                      <a:pt x="2695243" y="660400"/>
                    </a:lnTo>
                    <a:cubicBezTo>
                      <a:pt x="2763823" y="660400"/>
                      <a:pt x="2819703" y="604520"/>
                      <a:pt x="2819703" y="535940"/>
                    </a:cubicBezTo>
                    <a:lnTo>
                      <a:pt x="2819703" y="124460"/>
                    </a:lnTo>
                    <a:cubicBezTo>
                      <a:pt x="2819703" y="55880"/>
                      <a:pt x="2763823" y="0"/>
                      <a:pt x="269524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Freeform 116" id="116"/>
            <p:cNvSpPr/>
            <p:nvPr/>
          </p:nvSpPr>
          <p:spPr>
            <a:xfrm flipH="false" flipV="false" rot="0">
              <a:off x="2270619" y="346119"/>
              <a:ext cx="648283" cy="625861"/>
            </a:xfrm>
            <a:custGeom>
              <a:avLst/>
              <a:gdLst/>
              <a:ahLst/>
              <a:cxnLst/>
              <a:rect r="r" b="b" t="t" l="l"/>
              <a:pathLst>
                <a:path h="625861" w="648283">
                  <a:moveTo>
                    <a:pt x="0" y="0"/>
                  </a:moveTo>
                  <a:lnTo>
                    <a:pt x="648283" y="0"/>
                  </a:lnTo>
                  <a:lnTo>
                    <a:pt x="648283" y="625861"/>
                  </a:lnTo>
                  <a:lnTo>
                    <a:pt x="0" y="625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 rot="0">
              <a:off x="565009" y="65873"/>
              <a:ext cx="1705610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892309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À choix</a:t>
              </a:r>
            </a:p>
          </p:txBody>
        </p:sp>
        <p:sp>
          <p:nvSpPr>
            <p:cNvPr name="TextBox 118" id="118"/>
            <p:cNvSpPr txBox="true"/>
            <p:nvPr/>
          </p:nvSpPr>
          <p:spPr>
            <a:xfrm rot="0">
              <a:off x="2375053" y="378803"/>
              <a:ext cx="326602" cy="513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892309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+1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8187496" y="4860530"/>
            <a:ext cx="2189176" cy="1518511"/>
            <a:chOff x="0" y="0"/>
            <a:chExt cx="784551" cy="5442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784551" cy="544200"/>
            </a:xfrm>
            <a:custGeom>
              <a:avLst/>
              <a:gdLst/>
              <a:ahLst/>
              <a:cxnLst/>
              <a:rect r="r" b="b" t="t" l="l"/>
              <a:pathLst>
                <a:path h="544200" w="784551">
                  <a:moveTo>
                    <a:pt x="35365" y="0"/>
                  </a:moveTo>
                  <a:lnTo>
                    <a:pt x="749187" y="0"/>
                  </a:lnTo>
                  <a:cubicBezTo>
                    <a:pt x="768718" y="0"/>
                    <a:pt x="784551" y="15833"/>
                    <a:pt x="784551" y="35365"/>
                  </a:cubicBezTo>
                  <a:lnTo>
                    <a:pt x="784551" y="508836"/>
                  </a:lnTo>
                  <a:cubicBezTo>
                    <a:pt x="784551" y="528367"/>
                    <a:pt x="768718" y="544200"/>
                    <a:pt x="749187" y="544200"/>
                  </a:cubicBezTo>
                  <a:lnTo>
                    <a:pt x="35365" y="544200"/>
                  </a:lnTo>
                  <a:cubicBezTo>
                    <a:pt x="25985" y="544200"/>
                    <a:pt x="16990" y="540474"/>
                    <a:pt x="10358" y="533842"/>
                  </a:cubicBezTo>
                  <a:cubicBezTo>
                    <a:pt x="3726" y="527210"/>
                    <a:pt x="0" y="518215"/>
                    <a:pt x="0" y="508836"/>
                  </a:cubicBezTo>
                  <a:lnTo>
                    <a:pt x="0" y="35365"/>
                  </a:lnTo>
                  <a:cubicBezTo>
                    <a:pt x="0" y="15833"/>
                    <a:pt x="15833" y="0"/>
                    <a:pt x="35365" y="0"/>
                  </a:cubicBezTo>
                  <a:close/>
                </a:path>
              </a:pathLst>
            </a:custGeom>
            <a:solidFill>
              <a:srgbClr val="F4BB97"/>
            </a:solidFill>
            <a:ln cap="sq">
              <a:noFill/>
              <a:prstDash val="solid"/>
              <a:miter/>
            </a:ln>
          </p:spPr>
        </p:sp>
        <p:sp>
          <p:nvSpPr>
            <p:cNvPr name="TextBox 121" id="121"/>
            <p:cNvSpPr txBox="true"/>
            <p:nvPr/>
          </p:nvSpPr>
          <p:spPr>
            <a:xfrm>
              <a:off x="0" y="-28575"/>
              <a:ext cx="784551" cy="57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2" id="122"/>
          <p:cNvSpPr txBox="true"/>
          <p:nvPr/>
        </p:nvSpPr>
        <p:spPr>
          <a:xfrm rot="0">
            <a:off x="8243043" y="4927205"/>
            <a:ext cx="2073397" cy="405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20"/>
              </a:lnSpc>
            </a:pPr>
            <a:r>
              <a:rPr lang="en-US" b="true" sz="800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Parmi les documents suivants, lequel ne peut pas figurer dans une bibliographi</a:t>
            </a:r>
            <a:r>
              <a:rPr lang="en-US" b="true" sz="800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e ? </a:t>
            </a:r>
          </a:p>
          <a:p>
            <a:pPr algn="just">
              <a:lnSpc>
                <a:spcPts val="1120"/>
              </a:lnSpc>
            </a:pPr>
          </a:p>
        </p:txBody>
      </p:sp>
      <p:sp>
        <p:nvSpPr>
          <p:cNvPr name="TextBox 123" id="123"/>
          <p:cNvSpPr txBox="true"/>
          <p:nvPr/>
        </p:nvSpPr>
        <p:spPr>
          <a:xfrm rot="0">
            <a:off x="8254171" y="5332337"/>
            <a:ext cx="2054975" cy="1076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3"/>
              </a:lnSpc>
            </a:pPr>
            <a:r>
              <a:rPr lang="en-US" sz="788" i="true" b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A.</a:t>
            </a:r>
            <a:r>
              <a:rPr lang="en-US" sz="7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Manuel généraliste s</a:t>
            </a:r>
            <a:r>
              <a:rPr lang="en-US" sz="7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ur un sujet</a:t>
            </a:r>
          </a:p>
          <a:p>
            <a:pPr algn="l">
              <a:lnSpc>
                <a:spcPts val="1103"/>
              </a:lnSpc>
            </a:pPr>
          </a:p>
          <a:p>
            <a:pPr algn="l">
              <a:lnSpc>
                <a:spcPts val="1103"/>
              </a:lnSpc>
            </a:pPr>
            <a:r>
              <a:rPr lang="en-US" sz="788" i="true" b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B.</a:t>
            </a:r>
            <a:r>
              <a:rPr lang="en-US" sz="7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Support de cours d’un-e professeur-e non diffusé</a:t>
            </a:r>
          </a:p>
          <a:p>
            <a:pPr algn="l">
              <a:lnSpc>
                <a:spcPts val="1103"/>
              </a:lnSpc>
            </a:pPr>
          </a:p>
          <a:p>
            <a:pPr algn="l">
              <a:lnSpc>
                <a:spcPts val="1103"/>
              </a:lnSpc>
            </a:pPr>
            <a:r>
              <a:rPr lang="en-US" sz="788" i="true" b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C.</a:t>
            </a:r>
            <a:r>
              <a:rPr lang="en-US" sz="7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Tous peuvent figurer dans une bibliographie </a:t>
            </a:r>
          </a:p>
          <a:p>
            <a:pPr algn="just">
              <a:lnSpc>
                <a:spcPts val="1103"/>
              </a:lnSpc>
            </a:pPr>
          </a:p>
        </p:txBody>
      </p:sp>
      <p:sp>
        <p:nvSpPr>
          <p:cNvPr name="TextBox 124" id="124"/>
          <p:cNvSpPr txBox="true"/>
          <p:nvPr/>
        </p:nvSpPr>
        <p:spPr>
          <a:xfrm rot="-10800000">
            <a:off x="8281882" y="6597851"/>
            <a:ext cx="2057554" cy="67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20"/>
              </a:lnSpc>
            </a:pPr>
            <a:r>
              <a:rPr lang="en-US" sz="800" u="sng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Réponse</a:t>
            </a: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: B</a:t>
            </a:r>
          </a:p>
          <a:p>
            <a:pPr algn="just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Les supports de cours non diffusés sont uniquement indiqués lors de la citation. Voir détail sous “Support de cours” du Guide APA. 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385824" y="4936730"/>
            <a:ext cx="2086381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99"/>
              </a:lnSpc>
            </a:pPr>
            <a:r>
              <a:rPr lang="en-US" sz="999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Il n’est pas nécessaire d’indiquer une mention quelconque dans la référence lorsque le document n’est pas daté.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41323" y="181223"/>
            <a:ext cx="2431848" cy="3504122"/>
            <a:chOff x="0" y="0"/>
            <a:chExt cx="1864859" cy="26871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41323" y="3874655"/>
            <a:ext cx="2431848" cy="3504122"/>
            <a:chOff x="0" y="0"/>
            <a:chExt cx="1864859" cy="26871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6334" y="183221"/>
            <a:ext cx="2431848" cy="3504122"/>
            <a:chOff x="0" y="0"/>
            <a:chExt cx="1864859" cy="26871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818829" y="181223"/>
            <a:ext cx="2431848" cy="3504122"/>
            <a:chOff x="0" y="0"/>
            <a:chExt cx="1864859" cy="26871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818829" y="3874655"/>
            <a:ext cx="2431848" cy="3504122"/>
            <a:chOff x="0" y="0"/>
            <a:chExt cx="1864859" cy="26871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063817" y="181223"/>
            <a:ext cx="2431848" cy="3504122"/>
            <a:chOff x="0" y="0"/>
            <a:chExt cx="1864859" cy="26871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063817" y="3874655"/>
            <a:ext cx="2431848" cy="3504122"/>
            <a:chOff x="0" y="0"/>
            <a:chExt cx="1864859" cy="26871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96334" y="3874655"/>
            <a:ext cx="2431848" cy="3504122"/>
            <a:chOff x="0" y="0"/>
            <a:chExt cx="1864859" cy="268713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891023">
            <a:off x="471742" y="710241"/>
            <a:ext cx="2309202" cy="2450082"/>
          </a:xfrm>
          <a:custGeom>
            <a:avLst/>
            <a:gdLst/>
            <a:ahLst/>
            <a:cxnLst/>
            <a:rect r="r" b="b" t="t" l="l"/>
            <a:pathLst>
              <a:path h="2450082" w="2309202">
                <a:moveTo>
                  <a:pt x="0" y="0"/>
                </a:moveTo>
                <a:lnTo>
                  <a:pt x="2309202" y="0"/>
                </a:lnTo>
                <a:lnTo>
                  <a:pt x="2309202" y="2450082"/>
                </a:lnTo>
                <a:lnTo>
                  <a:pt x="0" y="2450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1686280">
            <a:off x="2758943" y="812686"/>
            <a:ext cx="2302427" cy="2189398"/>
          </a:xfrm>
          <a:custGeom>
            <a:avLst/>
            <a:gdLst/>
            <a:ahLst/>
            <a:cxnLst/>
            <a:rect r="r" b="b" t="t" l="l"/>
            <a:pathLst>
              <a:path h="2189398" w="2302427">
                <a:moveTo>
                  <a:pt x="0" y="0"/>
                </a:moveTo>
                <a:lnTo>
                  <a:pt x="2302426" y="0"/>
                </a:lnTo>
                <a:lnTo>
                  <a:pt x="2302426" y="2189398"/>
                </a:lnTo>
                <a:lnTo>
                  <a:pt x="0" y="2189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8" id="28"/>
          <p:cNvSpPr/>
          <p:nvPr/>
        </p:nvSpPr>
        <p:spPr>
          <a:xfrm flipH="false" flipV="false" rot="-7850717">
            <a:off x="5536736" y="709766"/>
            <a:ext cx="2258905" cy="2238369"/>
          </a:xfrm>
          <a:custGeom>
            <a:avLst/>
            <a:gdLst/>
            <a:ahLst/>
            <a:cxnLst/>
            <a:rect r="r" b="b" t="t" l="l"/>
            <a:pathLst>
              <a:path h="2238369" w="2258905">
                <a:moveTo>
                  <a:pt x="0" y="0"/>
                </a:moveTo>
                <a:lnTo>
                  <a:pt x="2258905" y="0"/>
                </a:lnTo>
                <a:lnTo>
                  <a:pt x="2258905" y="2238369"/>
                </a:lnTo>
                <a:lnTo>
                  <a:pt x="0" y="22383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8404085" y="536475"/>
            <a:ext cx="1751312" cy="2584950"/>
          </a:xfrm>
          <a:custGeom>
            <a:avLst/>
            <a:gdLst/>
            <a:ahLst/>
            <a:cxnLst/>
            <a:rect r="r" b="b" t="t" l="l"/>
            <a:pathLst>
              <a:path h="2584950" w="1751312">
                <a:moveTo>
                  <a:pt x="0" y="0"/>
                </a:moveTo>
                <a:lnTo>
                  <a:pt x="1751313" y="0"/>
                </a:lnTo>
                <a:lnTo>
                  <a:pt x="1751313" y="2584950"/>
                </a:lnTo>
                <a:lnTo>
                  <a:pt x="0" y="258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8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247748" y="4606548"/>
            <a:ext cx="2294856" cy="2040336"/>
          </a:xfrm>
          <a:custGeom>
            <a:avLst/>
            <a:gdLst/>
            <a:ahLst/>
            <a:cxnLst/>
            <a:rect r="r" b="b" t="t" l="l"/>
            <a:pathLst>
              <a:path h="2040336" w="2294856">
                <a:moveTo>
                  <a:pt x="0" y="0"/>
                </a:moveTo>
                <a:lnTo>
                  <a:pt x="2294856" y="0"/>
                </a:lnTo>
                <a:lnTo>
                  <a:pt x="2294856" y="2040336"/>
                </a:lnTo>
                <a:lnTo>
                  <a:pt x="0" y="20403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85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1" id="31"/>
          <p:cNvSpPr/>
          <p:nvPr/>
        </p:nvSpPr>
        <p:spPr>
          <a:xfrm flipH="false" flipV="false" rot="-6218249">
            <a:off x="2965740" y="4720970"/>
            <a:ext cx="2138026" cy="1811491"/>
          </a:xfrm>
          <a:custGeom>
            <a:avLst/>
            <a:gdLst/>
            <a:ahLst/>
            <a:cxnLst/>
            <a:rect r="r" b="b" t="t" l="l"/>
            <a:pathLst>
              <a:path h="1811491" w="2138026">
                <a:moveTo>
                  <a:pt x="0" y="0"/>
                </a:moveTo>
                <a:lnTo>
                  <a:pt x="2138026" y="0"/>
                </a:lnTo>
                <a:lnTo>
                  <a:pt x="2138026" y="1811491"/>
                </a:lnTo>
                <a:lnTo>
                  <a:pt x="0" y="181149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85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2" id="32"/>
          <p:cNvSpPr/>
          <p:nvPr/>
        </p:nvSpPr>
        <p:spPr>
          <a:xfrm flipH="false" flipV="false" rot="0">
            <a:off x="5594964" y="4606548"/>
            <a:ext cx="2040336" cy="2040336"/>
          </a:xfrm>
          <a:custGeom>
            <a:avLst/>
            <a:gdLst/>
            <a:ahLst/>
            <a:cxnLst/>
            <a:rect r="r" b="b" t="t" l="l"/>
            <a:pathLst>
              <a:path h="2040336" w="2040336">
                <a:moveTo>
                  <a:pt x="0" y="0"/>
                </a:moveTo>
                <a:lnTo>
                  <a:pt x="2040335" y="0"/>
                </a:lnTo>
                <a:lnTo>
                  <a:pt x="2040335" y="2040336"/>
                </a:lnTo>
                <a:lnTo>
                  <a:pt x="0" y="204033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85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3" id="33"/>
          <p:cNvSpPr/>
          <p:nvPr/>
        </p:nvSpPr>
        <p:spPr>
          <a:xfrm flipH="false" flipV="false" rot="-5400000">
            <a:off x="8403083" y="4590986"/>
            <a:ext cx="2040336" cy="2071459"/>
          </a:xfrm>
          <a:custGeom>
            <a:avLst/>
            <a:gdLst/>
            <a:ahLst/>
            <a:cxnLst/>
            <a:rect r="r" b="b" t="t" l="l"/>
            <a:pathLst>
              <a:path h="2071459" w="2040336">
                <a:moveTo>
                  <a:pt x="0" y="0"/>
                </a:moveTo>
                <a:lnTo>
                  <a:pt x="2040336" y="0"/>
                </a:lnTo>
                <a:lnTo>
                  <a:pt x="2040336" y="2071459"/>
                </a:lnTo>
                <a:lnTo>
                  <a:pt x="0" y="207145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85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4" id="34"/>
          <p:cNvSpPr txBox="true"/>
          <p:nvPr/>
        </p:nvSpPr>
        <p:spPr>
          <a:xfrm rot="0">
            <a:off x="2988639" y="1496685"/>
            <a:ext cx="2092227" cy="87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16"/>
              </a:lnSpc>
            </a:pPr>
            <a:r>
              <a:rPr lang="en-US" b="true" sz="2511" spc="125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VÉRITÉ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611134" y="1498682"/>
            <a:ext cx="2092227" cy="87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6"/>
              </a:lnSpc>
            </a:pPr>
            <a:r>
              <a:rPr lang="en-US" b="true" sz="2511" spc="125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VÉRITÉ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233628" y="1496685"/>
            <a:ext cx="2092227" cy="87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6"/>
              </a:lnSpc>
            </a:pPr>
            <a:r>
              <a:rPr lang="en-US" b="true" sz="2511" spc="125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VÉRITÉ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66145" y="5190116"/>
            <a:ext cx="2092227" cy="87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6"/>
              </a:lnSpc>
            </a:pPr>
            <a:r>
              <a:rPr lang="en-US" b="true" sz="2511" spc="125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VÉRITÉ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988639" y="5190116"/>
            <a:ext cx="2092227" cy="87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6"/>
              </a:lnSpc>
            </a:pPr>
            <a:r>
              <a:rPr lang="en-US" b="true" sz="2511" spc="125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VÉRITÉ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611134" y="5190116"/>
            <a:ext cx="2092227" cy="87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6"/>
              </a:lnSpc>
            </a:pPr>
            <a:r>
              <a:rPr lang="en-US" b="true" sz="2511" spc="125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VÉRITÉ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233628" y="5190116"/>
            <a:ext cx="2092227" cy="87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6"/>
              </a:lnSpc>
            </a:pPr>
            <a:r>
              <a:rPr lang="en-US" b="true" sz="2511" spc="125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VÉRITÉ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66145" y="1496685"/>
            <a:ext cx="2092227" cy="87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6"/>
              </a:lnSpc>
            </a:pPr>
            <a:r>
              <a:rPr lang="en-US" b="true" sz="2511" spc="125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VÉRITÉ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41323" y="181223"/>
            <a:ext cx="2431848" cy="3504122"/>
            <a:chOff x="0" y="0"/>
            <a:chExt cx="1864859" cy="26871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EF6F4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063817" y="181223"/>
            <a:ext cx="2431848" cy="3504122"/>
            <a:chOff x="0" y="0"/>
            <a:chExt cx="1864859" cy="26871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EF6F4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810935" y="181223"/>
            <a:ext cx="2431848" cy="3504122"/>
            <a:chOff x="0" y="0"/>
            <a:chExt cx="1864859" cy="26871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EF6F4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98677" y="181223"/>
            <a:ext cx="2431848" cy="3504122"/>
            <a:chOff x="0" y="0"/>
            <a:chExt cx="1864859" cy="26871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EF6F4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20013" y="339119"/>
            <a:ext cx="2189176" cy="728985"/>
            <a:chOff x="0" y="0"/>
            <a:chExt cx="2918902" cy="97198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835628" cy="664130"/>
              <a:chOff x="0" y="0"/>
              <a:chExt cx="2819702" cy="6604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31750" y="31750"/>
                <a:ext cx="2754961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2754961">
                    <a:moveTo>
                      <a:pt x="2663492" y="596900"/>
                    </a:moveTo>
                    <a:lnTo>
                      <a:pt x="92710" y="596900"/>
                    </a:lnTo>
                    <a:cubicBezTo>
                      <a:pt x="41910" y="596900"/>
                      <a:pt x="0" y="554990"/>
                      <a:pt x="0" y="504190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662223" y="0"/>
                    </a:lnTo>
                    <a:cubicBezTo>
                      <a:pt x="2713023" y="0"/>
                      <a:pt x="2754933" y="41910"/>
                      <a:pt x="2754933" y="92710"/>
                    </a:cubicBezTo>
                    <a:lnTo>
                      <a:pt x="2754933" y="502920"/>
                    </a:lnTo>
                    <a:cubicBezTo>
                      <a:pt x="2756203" y="554990"/>
                      <a:pt x="2714292" y="596900"/>
                      <a:pt x="2663492" y="596900"/>
                    </a:cubicBezTo>
                    <a:close/>
                  </a:path>
                </a:pathLst>
              </a:custGeom>
              <a:solidFill>
                <a:srgbClr val="F4BB97"/>
              </a:solidFill>
            </p:spPr>
          </p:sp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819703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2819703">
                    <a:moveTo>
                      <a:pt x="2695242" y="59690"/>
                    </a:moveTo>
                    <a:cubicBezTo>
                      <a:pt x="2730803" y="59690"/>
                      <a:pt x="2760013" y="88900"/>
                      <a:pt x="2760013" y="124460"/>
                    </a:cubicBezTo>
                    <a:lnTo>
                      <a:pt x="2760013" y="535940"/>
                    </a:lnTo>
                    <a:cubicBezTo>
                      <a:pt x="2760013" y="571500"/>
                      <a:pt x="2730803" y="600710"/>
                      <a:pt x="2695242" y="600710"/>
                    </a:cubicBezTo>
                    <a:lnTo>
                      <a:pt x="124460" y="600710"/>
                    </a:lnTo>
                    <a:cubicBezTo>
                      <a:pt x="88900" y="600710"/>
                      <a:pt x="59690" y="571500"/>
                      <a:pt x="59690" y="535940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695243" y="59690"/>
                    </a:lnTo>
                    <a:moveTo>
                      <a:pt x="269524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535940"/>
                    </a:lnTo>
                    <a:cubicBezTo>
                      <a:pt x="0" y="604520"/>
                      <a:pt x="55880" y="660400"/>
                      <a:pt x="124460" y="660400"/>
                    </a:cubicBezTo>
                    <a:lnTo>
                      <a:pt x="2695243" y="660400"/>
                    </a:lnTo>
                    <a:cubicBezTo>
                      <a:pt x="2763823" y="660400"/>
                      <a:pt x="2819703" y="604520"/>
                      <a:pt x="2819703" y="535940"/>
                    </a:cubicBezTo>
                    <a:lnTo>
                      <a:pt x="2819703" y="124460"/>
                    </a:lnTo>
                    <a:cubicBezTo>
                      <a:pt x="2819703" y="55880"/>
                      <a:pt x="2763823" y="0"/>
                      <a:pt x="269524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2270619" y="346119"/>
              <a:ext cx="648283" cy="625861"/>
            </a:xfrm>
            <a:custGeom>
              <a:avLst/>
              <a:gdLst/>
              <a:ahLst/>
              <a:cxnLst/>
              <a:rect r="r" b="b" t="t" l="l"/>
              <a:pathLst>
                <a:path h="625861" w="648283">
                  <a:moveTo>
                    <a:pt x="0" y="0"/>
                  </a:moveTo>
                  <a:lnTo>
                    <a:pt x="648283" y="0"/>
                  </a:lnTo>
                  <a:lnTo>
                    <a:pt x="648283" y="625861"/>
                  </a:lnTo>
                  <a:lnTo>
                    <a:pt x="0" y="625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565009" y="65873"/>
              <a:ext cx="1705610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892309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Vrai / Faux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375053" y="378803"/>
              <a:ext cx="326602" cy="513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892309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+1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20013" y="1167099"/>
            <a:ext cx="2189176" cy="1237333"/>
            <a:chOff x="0" y="0"/>
            <a:chExt cx="784551" cy="4434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84551" cy="443432"/>
            </a:xfrm>
            <a:custGeom>
              <a:avLst/>
              <a:gdLst/>
              <a:ahLst/>
              <a:cxnLst/>
              <a:rect r="r" b="b" t="t" l="l"/>
              <a:pathLst>
                <a:path h="443432" w="784551">
                  <a:moveTo>
                    <a:pt x="35365" y="0"/>
                  </a:moveTo>
                  <a:lnTo>
                    <a:pt x="749187" y="0"/>
                  </a:lnTo>
                  <a:cubicBezTo>
                    <a:pt x="768718" y="0"/>
                    <a:pt x="784551" y="15833"/>
                    <a:pt x="784551" y="35365"/>
                  </a:cubicBezTo>
                  <a:lnTo>
                    <a:pt x="784551" y="408068"/>
                  </a:lnTo>
                  <a:cubicBezTo>
                    <a:pt x="784551" y="427599"/>
                    <a:pt x="768718" y="443432"/>
                    <a:pt x="749187" y="443432"/>
                  </a:cubicBezTo>
                  <a:lnTo>
                    <a:pt x="35365" y="443432"/>
                  </a:lnTo>
                  <a:cubicBezTo>
                    <a:pt x="25985" y="443432"/>
                    <a:pt x="16990" y="439706"/>
                    <a:pt x="10358" y="433074"/>
                  </a:cubicBezTo>
                  <a:cubicBezTo>
                    <a:pt x="3726" y="426442"/>
                    <a:pt x="0" y="417447"/>
                    <a:pt x="0" y="408068"/>
                  </a:cubicBezTo>
                  <a:lnTo>
                    <a:pt x="0" y="35365"/>
                  </a:lnTo>
                  <a:cubicBezTo>
                    <a:pt x="0" y="15833"/>
                    <a:pt x="15833" y="0"/>
                    <a:pt x="35365" y="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784551" cy="472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562659" y="339119"/>
            <a:ext cx="2189176" cy="728985"/>
            <a:chOff x="0" y="0"/>
            <a:chExt cx="2918902" cy="97198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2835628" cy="664130"/>
              <a:chOff x="0" y="0"/>
              <a:chExt cx="2819702" cy="6604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31750" y="31750"/>
                <a:ext cx="2754961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2754961">
                    <a:moveTo>
                      <a:pt x="2663492" y="596900"/>
                    </a:moveTo>
                    <a:lnTo>
                      <a:pt x="92710" y="596900"/>
                    </a:lnTo>
                    <a:cubicBezTo>
                      <a:pt x="41910" y="596900"/>
                      <a:pt x="0" y="554990"/>
                      <a:pt x="0" y="504190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662223" y="0"/>
                    </a:lnTo>
                    <a:cubicBezTo>
                      <a:pt x="2713023" y="0"/>
                      <a:pt x="2754933" y="41910"/>
                      <a:pt x="2754933" y="92710"/>
                    </a:cubicBezTo>
                    <a:lnTo>
                      <a:pt x="2754933" y="502920"/>
                    </a:lnTo>
                    <a:cubicBezTo>
                      <a:pt x="2756203" y="554990"/>
                      <a:pt x="2714292" y="596900"/>
                      <a:pt x="2663492" y="596900"/>
                    </a:cubicBezTo>
                    <a:close/>
                  </a:path>
                </a:pathLst>
              </a:custGeom>
              <a:solidFill>
                <a:srgbClr val="F4BB97"/>
              </a:solidFill>
            </p:spPr>
          </p:sp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819703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2819703">
                    <a:moveTo>
                      <a:pt x="2695242" y="59690"/>
                    </a:moveTo>
                    <a:cubicBezTo>
                      <a:pt x="2730803" y="59690"/>
                      <a:pt x="2760013" y="88900"/>
                      <a:pt x="2760013" y="124460"/>
                    </a:cubicBezTo>
                    <a:lnTo>
                      <a:pt x="2760013" y="535940"/>
                    </a:lnTo>
                    <a:cubicBezTo>
                      <a:pt x="2760013" y="571500"/>
                      <a:pt x="2730803" y="600710"/>
                      <a:pt x="2695242" y="600710"/>
                    </a:cubicBezTo>
                    <a:lnTo>
                      <a:pt x="124460" y="600710"/>
                    </a:lnTo>
                    <a:cubicBezTo>
                      <a:pt x="88900" y="600710"/>
                      <a:pt x="59690" y="571500"/>
                      <a:pt x="59690" y="535940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695243" y="59690"/>
                    </a:lnTo>
                    <a:moveTo>
                      <a:pt x="269524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535940"/>
                    </a:lnTo>
                    <a:cubicBezTo>
                      <a:pt x="0" y="604520"/>
                      <a:pt x="55880" y="660400"/>
                      <a:pt x="124460" y="660400"/>
                    </a:cubicBezTo>
                    <a:lnTo>
                      <a:pt x="2695243" y="660400"/>
                    </a:lnTo>
                    <a:cubicBezTo>
                      <a:pt x="2763823" y="660400"/>
                      <a:pt x="2819703" y="604520"/>
                      <a:pt x="2819703" y="535940"/>
                    </a:cubicBezTo>
                    <a:lnTo>
                      <a:pt x="2819703" y="124460"/>
                    </a:lnTo>
                    <a:cubicBezTo>
                      <a:pt x="2819703" y="55880"/>
                      <a:pt x="2763823" y="0"/>
                      <a:pt x="269524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Freeform 28" id="28"/>
            <p:cNvSpPr/>
            <p:nvPr/>
          </p:nvSpPr>
          <p:spPr>
            <a:xfrm flipH="false" flipV="false" rot="0">
              <a:off x="2270619" y="346119"/>
              <a:ext cx="648283" cy="625861"/>
            </a:xfrm>
            <a:custGeom>
              <a:avLst/>
              <a:gdLst/>
              <a:ahLst/>
              <a:cxnLst/>
              <a:rect r="r" b="b" t="t" l="l"/>
              <a:pathLst>
                <a:path h="625861" w="648283">
                  <a:moveTo>
                    <a:pt x="0" y="0"/>
                  </a:moveTo>
                  <a:lnTo>
                    <a:pt x="648283" y="0"/>
                  </a:lnTo>
                  <a:lnTo>
                    <a:pt x="648283" y="625861"/>
                  </a:lnTo>
                  <a:lnTo>
                    <a:pt x="0" y="625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565009" y="65873"/>
              <a:ext cx="1705610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892309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À choix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2375053" y="378803"/>
              <a:ext cx="326602" cy="513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892309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+1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547584" y="1170186"/>
            <a:ext cx="2189176" cy="1637054"/>
            <a:chOff x="0" y="0"/>
            <a:chExt cx="784551" cy="5866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84551" cy="586683"/>
            </a:xfrm>
            <a:custGeom>
              <a:avLst/>
              <a:gdLst/>
              <a:ahLst/>
              <a:cxnLst/>
              <a:rect r="r" b="b" t="t" l="l"/>
              <a:pathLst>
                <a:path h="586683" w="784551">
                  <a:moveTo>
                    <a:pt x="35365" y="0"/>
                  </a:moveTo>
                  <a:lnTo>
                    <a:pt x="749187" y="0"/>
                  </a:lnTo>
                  <a:cubicBezTo>
                    <a:pt x="768718" y="0"/>
                    <a:pt x="784551" y="15833"/>
                    <a:pt x="784551" y="35365"/>
                  </a:cubicBezTo>
                  <a:lnTo>
                    <a:pt x="784551" y="551319"/>
                  </a:lnTo>
                  <a:cubicBezTo>
                    <a:pt x="784551" y="560698"/>
                    <a:pt x="780826" y="569693"/>
                    <a:pt x="774193" y="576325"/>
                  </a:cubicBezTo>
                  <a:cubicBezTo>
                    <a:pt x="767561" y="582957"/>
                    <a:pt x="758566" y="586683"/>
                    <a:pt x="749187" y="586683"/>
                  </a:cubicBezTo>
                  <a:lnTo>
                    <a:pt x="35365" y="586683"/>
                  </a:lnTo>
                  <a:cubicBezTo>
                    <a:pt x="15833" y="586683"/>
                    <a:pt x="0" y="570850"/>
                    <a:pt x="0" y="551319"/>
                  </a:cubicBezTo>
                  <a:lnTo>
                    <a:pt x="0" y="35365"/>
                  </a:lnTo>
                  <a:cubicBezTo>
                    <a:pt x="0" y="15833"/>
                    <a:pt x="15833" y="0"/>
                    <a:pt x="35365" y="0"/>
                  </a:cubicBezTo>
                  <a:close/>
                </a:path>
              </a:pathLst>
            </a:custGeom>
            <a:solidFill>
              <a:srgbClr val="F4BB97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784551" cy="6152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941336" y="323814"/>
            <a:ext cx="2189176" cy="728985"/>
            <a:chOff x="0" y="0"/>
            <a:chExt cx="2918902" cy="97198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2835628" cy="664130"/>
              <a:chOff x="0" y="0"/>
              <a:chExt cx="2819702" cy="6604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31750" y="31750"/>
                <a:ext cx="2754961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2754961">
                    <a:moveTo>
                      <a:pt x="2663492" y="596900"/>
                    </a:moveTo>
                    <a:lnTo>
                      <a:pt x="92710" y="596900"/>
                    </a:lnTo>
                    <a:cubicBezTo>
                      <a:pt x="41910" y="596900"/>
                      <a:pt x="0" y="554990"/>
                      <a:pt x="0" y="504190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662223" y="0"/>
                    </a:lnTo>
                    <a:cubicBezTo>
                      <a:pt x="2713023" y="0"/>
                      <a:pt x="2754933" y="41910"/>
                      <a:pt x="2754933" y="92710"/>
                    </a:cubicBezTo>
                    <a:lnTo>
                      <a:pt x="2754933" y="502920"/>
                    </a:lnTo>
                    <a:cubicBezTo>
                      <a:pt x="2756203" y="554990"/>
                      <a:pt x="2714292" y="596900"/>
                      <a:pt x="2663492" y="596900"/>
                    </a:cubicBezTo>
                    <a:close/>
                  </a:path>
                </a:pathLst>
              </a:custGeom>
              <a:solidFill>
                <a:srgbClr val="F4BB97"/>
              </a:solidFill>
            </p:spPr>
          </p:sp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819703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2819703">
                    <a:moveTo>
                      <a:pt x="2695242" y="59690"/>
                    </a:moveTo>
                    <a:cubicBezTo>
                      <a:pt x="2730803" y="59690"/>
                      <a:pt x="2760013" y="88900"/>
                      <a:pt x="2760013" y="124460"/>
                    </a:cubicBezTo>
                    <a:lnTo>
                      <a:pt x="2760013" y="535940"/>
                    </a:lnTo>
                    <a:cubicBezTo>
                      <a:pt x="2760013" y="571500"/>
                      <a:pt x="2730803" y="600710"/>
                      <a:pt x="2695242" y="600710"/>
                    </a:cubicBezTo>
                    <a:lnTo>
                      <a:pt x="124460" y="600710"/>
                    </a:lnTo>
                    <a:cubicBezTo>
                      <a:pt x="88900" y="600710"/>
                      <a:pt x="59690" y="571500"/>
                      <a:pt x="59690" y="535940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695243" y="59690"/>
                    </a:lnTo>
                    <a:moveTo>
                      <a:pt x="269524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535940"/>
                    </a:lnTo>
                    <a:cubicBezTo>
                      <a:pt x="0" y="604520"/>
                      <a:pt x="55880" y="660400"/>
                      <a:pt x="124460" y="660400"/>
                    </a:cubicBezTo>
                    <a:lnTo>
                      <a:pt x="2695243" y="660400"/>
                    </a:lnTo>
                    <a:cubicBezTo>
                      <a:pt x="2763823" y="660400"/>
                      <a:pt x="2819703" y="604520"/>
                      <a:pt x="2819703" y="535940"/>
                    </a:cubicBezTo>
                    <a:lnTo>
                      <a:pt x="2819703" y="124460"/>
                    </a:lnTo>
                    <a:cubicBezTo>
                      <a:pt x="2819703" y="55880"/>
                      <a:pt x="2763823" y="0"/>
                      <a:pt x="269524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Freeform 38" id="38"/>
            <p:cNvSpPr/>
            <p:nvPr/>
          </p:nvSpPr>
          <p:spPr>
            <a:xfrm flipH="false" flipV="false" rot="0">
              <a:off x="2270619" y="346119"/>
              <a:ext cx="648283" cy="625861"/>
            </a:xfrm>
            <a:custGeom>
              <a:avLst/>
              <a:gdLst/>
              <a:ahLst/>
              <a:cxnLst/>
              <a:rect r="r" b="b" t="t" l="l"/>
              <a:pathLst>
                <a:path h="625861" w="648283">
                  <a:moveTo>
                    <a:pt x="0" y="0"/>
                  </a:moveTo>
                  <a:lnTo>
                    <a:pt x="648283" y="0"/>
                  </a:lnTo>
                  <a:lnTo>
                    <a:pt x="648283" y="625861"/>
                  </a:lnTo>
                  <a:lnTo>
                    <a:pt x="0" y="625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 rot="0">
              <a:off x="565009" y="65873"/>
              <a:ext cx="1705610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892309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Vrai / Faux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2375053" y="378803"/>
              <a:ext cx="326602" cy="513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892309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+1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932271" y="1167099"/>
            <a:ext cx="2189176" cy="766185"/>
            <a:chOff x="0" y="0"/>
            <a:chExt cx="784551" cy="27458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84551" cy="274584"/>
            </a:xfrm>
            <a:custGeom>
              <a:avLst/>
              <a:gdLst/>
              <a:ahLst/>
              <a:cxnLst/>
              <a:rect r="r" b="b" t="t" l="l"/>
              <a:pathLst>
                <a:path h="274584" w="784551">
                  <a:moveTo>
                    <a:pt x="35365" y="0"/>
                  </a:moveTo>
                  <a:lnTo>
                    <a:pt x="749187" y="0"/>
                  </a:lnTo>
                  <a:cubicBezTo>
                    <a:pt x="768718" y="0"/>
                    <a:pt x="784551" y="15833"/>
                    <a:pt x="784551" y="35365"/>
                  </a:cubicBezTo>
                  <a:lnTo>
                    <a:pt x="784551" y="239219"/>
                  </a:lnTo>
                  <a:cubicBezTo>
                    <a:pt x="784551" y="248598"/>
                    <a:pt x="780826" y="257593"/>
                    <a:pt x="774193" y="264225"/>
                  </a:cubicBezTo>
                  <a:cubicBezTo>
                    <a:pt x="767561" y="270858"/>
                    <a:pt x="758566" y="274584"/>
                    <a:pt x="749187" y="274584"/>
                  </a:cubicBezTo>
                  <a:lnTo>
                    <a:pt x="35365" y="274584"/>
                  </a:lnTo>
                  <a:cubicBezTo>
                    <a:pt x="15833" y="274584"/>
                    <a:pt x="0" y="258750"/>
                    <a:pt x="0" y="239219"/>
                  </a:cubicBezTo>
                  <a:lnTo>
                    <a:pt x="0" y="35365"/>
                  </a:lnTo>
                  <a:cubicBezTo>
                    <a:pt x="0" y="15833"/>
                    <a:pt x="15833" y="0"/>
                    <a:pt x="35365" y="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784551" cy="303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187496" y="339119"/>
            <a:ext cx="2189176" cy="728985"/>
            <a:chOff x="0" y="0"/>
            <a:chExt cx="2918902" cy="971980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2835628" cy="664130"/>
              <a:chOff x="0" y="0"/>
              <a:chExt cx="2819702" cy="6604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31750" y="31750"/>
                <a:ext cx="2754961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2754961">
                    <a:moveTo>
                      <a:pt x="2663492" y="596900"/>
                    </a:moveTo>
                    <a:lnTo>
                      <a:pt x="92710" y="596900"/>
                    </a:lnTo>
                    <a:cubicBezTo>
                      <a:pt x="41910" y="596900"/>
                      <a:pt x="0" y="554990"/>
                      <a:pt x="0" y="504190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662223" y="0"/>
                    </a:lnTo>
                    <a:cubicBezTo>
                      <a:pt x="2713023" y="0"/>
                      <a:pt x="2754933" y="41910"/>
                      <a:pt x="2754933" y="92710"/>
                    </a:cubicBezTo>
                    <a:lnTo>
                      <a:pt x="2754933" y="502920"/>
                    </a:lnTo>
                    <a:cubicBezTo>
                      <a:pt x="2756203" y="554990"/>
                      <a:pt x="2714292" y="596900"/>
                      <a:pt x="2663492" y="596900"/>
                    </a:cubicBezTo>
                    <a:close/>
                  </a:path>
                </a:pathLst>
              </a:custGeom>
              <a:solidFill>
                <a:srgbClr val="F4BB97"/>
              </a:solidFill>
            </p:spPr>
          </p:sp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2819703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2819703">
                    <a:moveTo>
                      <a:pt x="2695242" y="59690"/>
                    </a:moveTo>
                    <a:cubicBezTo>
                      <a:pt x="2730803" y="59690"/>
                      <a:pt x="2760013" y="88900"/>
                      <a:pt x="2760013" y="124460"/>
                    </a:cubicBezTo>
                    <a:lnTo>
                      <a:pt x="2760013" y="535940"/>
                    </a:lnTo>
                    <a:cubicBezTo>
                      <a:pt x="2760013" y="571500"/>
                      <a:pt x="2730803" y="600710"/>
                      <a:pt x="2695242" y="600710"/>
                    </a:cubicBezTo>
                    <a:lnTo>
                      <a:pt x="124460" y="600710"/>
                    </a:lnTo>
                    <a:cubicBezTo>
                      <a:pt x="88900" y="600710"/>
                      <a:pt x="59690" y="571500"/>
                      <a:pt x="59690" y="535940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695243" y="59690"/>
                    </a:lnTo>
                    <a:moveTo>
                      <a:pt x="269524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535940"/>
                    </a:lnTo>
                    <a:cubicBezTo>
                      <a:pt x="0" y="604520"/>
                      <a:pt x="55880" y="660400"/>
                      <a:pt x="124460" y="660400"/>
                    </a:cubicBezTo>
                    <a:lnTo>
                      <a:pt x="2695243" y="660400"/>
                    </a:lnTo>
                    <a:cubicBezTo>
                      <a:pt x="2763823" y="660400"/>
                      <a:pt x="2819703" y="604520"/>
                      <a:pt x="2819703" y="535940"/>
                    </a:cubicBezTo>
                    <a:lnTo>
                      <a:pt x="2819703" y="124460"/>
                    </a:lnTo>
                    <a:cubicBezTo>
                      <a:pt x="2819703" y="55880"/>
                      <a:pt x="2763823" y="0"/>
                      <a:pt x="269524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Freeform 48" id="48"/>
            <p:cNvSpPr/>
            <p:nvPr/>
          </p:nvSpPr>
          <p:spPr>
            <a:xfrm flipH="false" flipV="false" rot="0">
              <a:off x="2270619" y="346119"/>
              <a:ext cx="648283" cy="625861"/>
            </a:xfrm>
            <a:custGeom>
              <a:avLst/>
              <a:gdLst/>
              <a:ahLst/>
              <a:cxnLst/>
              <a:rect r="r" b="b" t="t" l="l"/>
              <a:pathLst>
                <a:path h="625861" w="648283">
                  <a:moveTo>
                    <a:pt x="0" y="0"/>
                  </a:moveTo>
                  <a:lnTo>
                    <a:pt x="648283" y="0"/>
                  </a:lnTo>
                  <a:lnTo>
                    <a:pt x="648283" y="625861"/>
                  </a:lnTo>
                  <a:lnTo>
                    <a:pt x="0" y="625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 rot="0">
              <a:off x="565009" y="65873"/>
              <a:ext cx="1705610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892309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Vrai / Faux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2375053" y="378803"/>
              <a:ext cx="326602" cy="513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892309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+1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177971" y="1170186"/>
            <a:ext cx="2189176" cy="763098"/>
            <a:chOff x="0" y="0"/>
            <a:chExt cx="784551" cy="27347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84551" cy="273477"/>
            </a:xfrm>
            <a:custGeom>
              <a:avLst/>
              <a:gdLst/>
              <a:ahLst/>
              <a:cxnLst/>
              <a:rect r="r" b="b" t="t" l="l"/>
              <a:pathLst>
                <a:path h="273477" w="784551">
                  <a:moveTo>
                    <a:pt x="35365" y="0"/>
                  </a:moveTo>
                  <a:lnTo>
                    <a:pt x="749187" y="0"/>
                  </a:lnTo>
                  <a:cubicBezTo>
                    <a:pt x="768718" y="0"/>
                    <a:pt x="784551" y="15833"/>
                    <a:pt x="784551" y="35365"/>
                  </a:cubicBezTo>
                  <a:lnTo>
                    <a:pt x="784551" y="238113"/>
                  </a:lnTo>
                  <a:cubicBezTo>
                    <a:pt x="784551" y="247492"/>
                    <a:pt x="780826" y="256487"/>
                    <a:pt x="774193" y="263119"/>
                  </a:cubicBezTo>
                  <a:cubicBezTo>
                    <a:pt x="767561" y="269751"/>
                    <a:pt x="758566" y="273477"/>
                    <a:pt x="749187" y="273477"/>
                  </a:cubicBezTo>
                  <a:lnTo>
                    <a:pt x="35365" y="273477"/>
                  </a:lnTo>
                  <a:cubicBezTo>
                    <a:pt x="15833" y="273477"/>
                    <a:pt x="0" y="257644"/>
                    <a:pt x="0" y="238113"/>
                  </a:cubicBezTo>
                  <a:lnTo>
                    <a:pt x="0" y="35365"/>
                  </a:lnTo>
                  <a:cubicBezTo>
                    <a:pt x="0" y="15833"/>
                    <a:pt x="15833" y="0"/>
                    <a:pt x="35365" y="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784551" cy="302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5440152" y="3903135"/>
            <a:ext cx="2431848" cy="3504122"/>
            <a:chOff x="0" y="0"/>
            <a:chExt cx="1864859" cy="268713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FF9858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8062646" y="3903135"/>
            <a:ext cx="2431848" cy="3504122"/>
            <a:chOff x="0" y="0"/>
            <a:chExt cx="1864859" cy="268713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FF9858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2809764" y="3903135"/>
            <a:ext cx="2431848" cy="3504122"/>
            <a:chOff x="0" y="0"/>
            <a:chExt cx="1864859" cy="268713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FF9858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97506" y="3903135"/>
            <a:ext cx="2431848" cy="3504122"/>
            <a:chOff x="0" y="0"/>
            <a:chExt cx="1864859" cy="268713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FF9858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318842" y="4061031"/>
            <a:ext cx="2126721" cy="498097"/>
            <a:chOff x="0" y="0"/>
            <a:chExt cx="2819702" cy="6604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31750" y="31750"/>
              <a:ext cx="2754961" cy="596900"/>
            </a:xfrm>
            <a:custGeom>
              <a:avLst/>
              <a:gdLst/>
              <a:ahLst/>
              <a:cxnLst/>
              <a:rect r="r" b="b" t="t" l="l"/>
              <a:pathLst>
                <a:path h="596900" w="2754961">
                  <a:moveTo>
                    <a:pt x="2663492" y="596900"/>
                  </a:moveTo>
                  <a:lnTo>
                    <a:pt x="92710" y="596900"/>
                  </a:lnTo>
                  <a:cubicBezTo>
                    <a:pt x="41910" y="596900"/>
                    <a:pt x="0" y="554990"/>
                    <a:pt x="0" y="50419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662223" y="0"/>
                  </a:lnTo>
                  <a:cubicBezTo>
                    <a:pt x="2713023" y="0"/>
                    <a:pt x="2754933" y="41910"/>
                    <a:pt x="2754933" y="92710"/>
                  </a:cubicBezTo>
                  <a:lnTo>
                    <a:pt x="2754933" y="502920"/>
                  </a:lnTo>
                  <a:cubicBezTo>
                    <a:pt x="2756203" y="554990"/>
                    <a:pt x="2714292" y="596900"/>
                    <a:pt x="2663492" y="596900"/>
                  </a:cubicBezTo>
                  <a:close/>
                </a:path>
              </a:pathLst>
            </a:custGeom>
            <a:solidFill>
              <a:srgbClr val="FF9858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819703" cy="660400"/>
            </a:xfrm>
            <a:custGeom>
              <a:avLst/>
              <a:gdLst/>
              <a:ahLst/>
              <a:cxnLst/>
              <a:rect r="r" b="b" t="t" l="l"/>
              <a:pathLst>
                <a:path h="660400" w="2819703">
                  <a:moveTo>
                    <a:pt x="2695242" y="59690"/>
                  </a:moveTo>
                  <a:cubicBezTo>
                    <a:pt x="2730803" y="59690"/>
                    <a:pt x="2760013" y="88900"/>
                    <a:pt x="2760013" y="124460"/>
                  </a:cubicBezTo>
                  <a:lnTo>
                    <a:pt x="2760013" y="535940"/>
                  </a:lnTo>
                  <a:cubicBezTo>
                    <a:pt x="2760013" y="571500"/>
                    <a:pt x="2730803" y="600710"/>
                    <a:pt x="2695242" y="600710"/>
                  </a:cubicBezTo>
                  <a:lnTo>
                    <a:pt x="124460" y="600710"/>
                  </a:lnTo>
                  <a:cubicBezTo>
                    <a:pt x="88900" y="600710"/>
                    <a:pt x="59690" y="571500"/>
                    <a:pt x="59690" y="53594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695243" y="59690"/>
                  </a:lnTo>
                  <a:moveTo>
                    <a:pt x="269524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35940"/>
                  </a:lnTo>
                  <a:cubicBezTo>
                    <a:pt x="0" y="604520"/>
                    <a:pt x="55880" y="660400"/>
                    <a:pt x="124460" y="660400"/>
                  </a:cubicBezTo>
                  <a:lnTo>
                    <a:pt x="2695243" y="660400"/>
                  </a:lnTo>
                  <a:cubicBezTo>
                    <a:pt x="2763823" y="660400"/>
                    <a:pt x="2819703" y="604520"/>
                    <a:pt x="2819703" y="535940"/>
                  </a:cubicBezTo>
                  <a:lnTo>
                    <a:pt x="2819703" y="124460"/>
                  </a:lnTo>
                  <a:cubicBezTo>
                    <a:pt x="2819703" y="55880"/>
                    <a:pt x="2763823" y="0"/>
                    <a:pt x="26952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9" id="69"/>
          <p:cNvSpPr/>
          <p:nvPr/>
        </p:nvSpPr>
        <p:spPr>
          <a:xfrm flipH="false" flipV="false" rot="0">
            <a:off x="2021806" y="4320620"/>
            <a:ext cx="486212" cy="469396"/>
          </a:xfrm>
          <a:custGeom>
            <a:avLst/>
            <a:gdLst/>
            <a:ahLst/>
            <a:cxnLst/>
            <a:rect r="r" b="b" t="t" l="l"/>
            <a:pathLst>
              <a:path h="469396" w="486212">
                <a:moveTo>
                  <a:pt x="0" y="0"/>
                </a:moveTo>
                <a:lnTo>
                  <a:pt x="486212" y="0"/>
                </a:lnTo>
                <a:lnTo>
                  <a:pt x="486212" y="469396"/>
                </a:lnTo>
                <a:lnTo>
                  <a:pt x="0" y="4693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318842" y="4889011"/>
            <a:ext cx="2189176" cy="1237333"/>
            <a:chOff x="0" y="0"/>
            <a:chExt cx="784551" cy="44343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84551" cy="443432"/>
            </a:xfrm>
            <a:custGeom>
              <a:avLst/>
              <a:gdLst/>
              <a:ahLst/>
              <a:cxnLst/>
              <a:rect r="r" b="b" t="t" l="l"/>
              <a:pathLst>
                <a:path h="443432" w="784551">
                  <a:moveTo>
                    <a:pt x="35365" y="0"/>
                  </a:moveTo>
                  <a:lnTo>
                    <a:pt x="749187" y="0"/>
                  </a:lnTo>
                  <a:cubicBezTo>
                    <a:pt x="768718" y="0"/>
                    <a:pt x="784551" y="15833"/>
                    <a:pt x="784551" y="35365"/>
                  </a:cubicBezTo>
                  <a:lnTo>
                    <a:pt x="784551" y="408068"/>
                  </a:lnTo>
                  <a:cubicBezTo>
                    <a:pt x="784551" y="427599"/>
                    <a:pt x="768718" y="443432"/>
                    <a:pt x="749187" y="443432"/>
                  </a:cubicBezTo>
                  <a:lnTo>
                    <a:pt x="35365" y="443432"/>
                  </a:lnTo>
                  <a:cubicBezTo>
                    <a:pt x="25985" y="443432"/>
                    <a:pt x="16990" y="439706"/>
                    <a:pt x="10358" y="433074"/>
                  </a:cubicBezTo>
                  <a:cubicBezTo>
                    <a:pt x="3726" y="426442"/>
                    <a:pt x="0" y="417447"/>
                    <a:pt x="0" y="408068"/>
                  </a:cubicBezTo>
                  <a:lnTo>
                    <a:pt x="0" y="35365"/>
                  </a:lnTo>
                  <a:cubicBezTo>
                    <a:pt x="0" y="15833"/>
                    <a:pt x="15833" y="0"/>
                    <a:pt x="35365" y="0"/>
                  </a:cubicBezTo>
                  <a:close/>
                </a:path>
              </a:pathLst>
            </a:custGeom>
            <a:solidFill>
              <a:srgbClr val="EBE7E5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784551" cy="472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5561488" y="4061031"/>
            <a:ext cx="2126721" cy="498097"/>
            <a:chOff x="0" y="0"/>
            <a:chExt cx="2819702" cy="6604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31750" y="31750"/>
              <a:ext cx="2754961" cy="596900"/>
            </a:xfrm>
            <a:custGeom>
              <a:avLst/>
              <a:gdLst/>
              <a:ahLst/>
              <a:cxnLst/>
              <a:rect r="r" b="b" t="t" l="l"/>
              <a:pathLst>
                <a:path h="596900" w="2754961">
                  <a:moveTo>
                    <a:pt x="2663492" y="596900"/>
                  </a:moveTo>
                  <a:lnTo>
                    <a:pt x="92710" y="596900"/>
                  </a:lnTo>
                  <a:cubicBezTo>
                    <a:pt x="41910" y="596900"/>
                    <a:pt x="0" y="554990"/>
                    <a:pt x="0" y="50419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662223" y="0"/>
                  </a:lnTo>
                  <a:cubicBezTo>
                    <a:pt x="2713023" y="0"/>
                    <a:pt x="2754933" y="41910"/>
                    <a:pt x="2754933" y="92710"/>
                  </a:cubicBezTo>
                  <a:lnTo>
                    <a:pt x="2754933" y="502920"/>
                  </a:lnTo>
                  <a:cubicBezTo>
                    <a:pt x="2756203" y="554990"/>
                    <a:pt x="2714292" y="596900"/>
                    <a:pt x="2663492" y="596900"/>
                  </a:cubicBezTo>
                  <a:close/>
                </a:path>
              </a:pathLst>
            </a:custGeom>
            <a:solidFill>
              <a:srgbClr val="FF9858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819703" cy="660400"/>
            </a:xfrm>
            <a:custGeom>
              <a:avLst/>
              <a:gdLst/>
              <a:ahLst/>
              <a:cxnLst/>
              <a:rect r="r" b="b" t="t" l="l"/>
              <a:pathLst>
                <a:path h="660400" w="2819703">
                  <a:moveTo>
                    <a:pt x="2695242" y="59690"/>
                  </a:moveTo>
                  <a:cubicBezTo>
                    <a:pt x="2730803" y="59690"/>
                    <a:pt x="2760013" y="88900"/>
                    <a:pt x="2760013" y="124460"/>
                  </a:cubicBezTo>
                  <a:lnTo>
                    <a:pt x="2760013" y="535940"/>
                  </a:lnTo>
                  <a:cubicBezTo>
                    <a:pt x="2760013" y="571500"/>
                    <a:pt x="2730803" y="600710"/>
                    <a:pt x="2695242" y="600710"/>
                  </a:cubicBezTo>
                  <a:lnTo>
                    <a:pt x="124460" y="600710"/>
                  </a:lnTo>
                  <a:cubicBezTo>
                    <a:pt x="88900" y="600710"/>
                    <a:pt x="59690" y="571500"/>
                    <a:pt x="59690" y="53594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695243" y="59690"/>
                  </a:lnTo>
                  <a:moveTo>
                    <a:pt x="269524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35940"/>
                  </a:lnTo>
                  <a:cubicBezTo>
                    <a:pt x="0" y="604520"/>
                    <a:pt x="55880" y="660400"/>
                    <a:pt x="124460" y="660400"/>
                  </a:cubicBezTo>
                  <a:lnTo>
                    <a:pt x="2695243" y="660400"/>
                  </a:lnTo>
                  <a:cubicBezTo>
                    <a:pt x="2763823" y="660400"/>
                    <a:pt x="2819703" y="604520"/>
                    <a:pt x="2819703" y="535940"/>
                  </a:cubicBezTo>
                  <a:lnTo>
                    <a:pt x="2819703" y="124460"/>
                  </a:lnTo>
                  <a:cubicBezTo>
                    <a:pt x="2819703" y="55880"/>
                    <a:pt x="2763823" y="0"/>
                    <a:pt x="26952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76" id="76"/>
          <p:cNvSpPr/>
          <p:nvPr/>
        </p:nvSpPr>
        <p:spPr>
          <a:xfrm flipH="false" flipV="false" rot="0">
            <a:off x="7264452" y="4320620"/>
            <a:ext cx="486212" cy="469396"/>
          </a:xfrm>
          <a:custGeom>
            <a:avLst/>
            <a:gdLst/>
            <a:ahLst/>
            <a:cxnLst/>
            <a:rect r="r" b="b" t="t" l="l"/>
            <a:pathLst>
              <a:path h="469396" w="486212">
                <a:moveTo>
                  <a:pt x="0" y="0"/>
                </a:moveTo>
                <a:lnTo>
                  <a:pt x="486212" y="0"/>
                </a:lnTo>
                <a:lnTo>
                  <a:pt x="486212" y="469396"/>
                </a:lnTo>
                <a:lnTo>
                  <a:pt x="0" y="4693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2940165" y="4045725"/>
            <a:ext cx="2126721" cy="498097"/>
            <a:chOff x="0" y="0"/>
            <a:chExt cx="2819702" cy="6604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31750" y="31750"/>
              <a:ext cx="2754961" cy="596900"/>
            </a:xfrm>
            <a:custGeom>
              <a:avLst/>
              <a:gdLst/>
              <a:ahLst/>
              <a:cxnLst/>
              <a:rect r="r" b="b" t="t" l="l"/>
              <a:pathLst>
                <a:path h="596900" w="2754961">
                  <a:moveTo>
                    <a:pt x="2663492" y="596900"/>
                  </a:moveTo>
                  <a:lnTo>
                    <a:pt x="92710" y="596900"/>
                  </a:lnTo>
                  <a:cubicBezTo>
                    <a:pt x="41910" y="596900"/>
                    <a:pt x="0" y="554990"/>
                    <a:pt x="0" y="50419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662223" y="0"/>
                  </a:lnTo>
                  <a:cubicBezTo>
                    <a:pt x="2713023" y="0"/>
                    <a:pt x="2754933" y="41910"/>
                    <a:pt x="2754933" y="92710"/>
                  </a:cubicBezTo>
                  <a:lnTo>
                    <a:pt x="2754933" y="502920"/>
                  </a:lnTo>
                  <a:cubicBezTo>
                    <a:pt x="2756203" y="554990"/>
                    <a:pt x="2714292" y="596900"/>
                    <a:pt x="2663492" y="596900"/>
                  </a:cubicBezTo>
                  <a:close/>
                </a:path>
              </a:pathLst>
            </a:custGeom>
            <a:solidFill>
              <a:srgbClr val="FF9858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819703" cy="660400"/>
            </a:xfrm>
            <a:custGeom>
              <a:avLst/>
              <a:gdLst/>
              <a:ahLst/>
              <a:cxnLst/>
              <a:rect r="r" b="b" t="t" l="l"/>
              <a:pathLst>
                <a:path h="660400" w="2819703">
                  <a:moveTo>
                    <a:pt x="2695242" y="59690"/>
                  </a:moveTo>
                  <a:cubicBezTo>
                    <a:pt x="2730803" y="59690"/>
                    <a:pt x="2760013" y="88900"/>
                    <a:pt x="2760013" y="124460"/>
                  </a:cubicBezTo>
                  <a:lnTo>
                    <a:pt x="2760013" y="535940"/>
                  </a:lnTo>
                  <a:cubicBezTo>
                    <a:pt x="2760013" y="571500"/>
                    <a:pt x="2730803" y="600710"/>
                    <a:pt x="2695242" y="600710"/>
                  </a:cubicBezTo>
                  <a:lnTo>
                    <a:pt x="124460" y="600710"/>
                  </a:lnTo>
                  <a:cubicBezTo>
                    <a:pt x="88900" y="600710"/>
                    <a:pt x="59690" y="571500"/>
                    <a:pt x="59690" y="53594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695243" y="59690"/>
                  </a:lnTo>
                  <a:moveTo>
                    <a:pt x="269524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35940"/>
                  </a:lnTo>
                  <a:cubicBezTo>
                    <a:pt x="0" y="604520"/>
                    <a:pt x="55880" y="660400"/>
                    <a:pt x="124460" y="660400"/>
                  </a:cubicBezTo>
                  <a:lnTo>
                    <a:pt x="2695243" y="660400"/>
                  </a:lnTo>
                  <a:cubicBezTo>
                    <a:pt x="2763823" y="660400"/>
                    <a:pt x="2819703" y="604520"/>
                    <a:pt x="2819703" y="535940"/>
                  </a:cubicBezTo>
                  <a:lnTo>
                    <a:pt x="2819703" y="124460"/>
                  </a:lnTo>
                  <a:cubicBezTo>
                    <a:pt x="2819703" y="55880"/>
                    <a:pt x="2763823" y="0"/>
                    <a:pt x="26952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80" id="80"/>
          <p:cNvSpPr/>
          <p:nvPr/>
        </p:nvSpPr>
        <p:spPr>
          <a:xfrm flipH="false" flipV="false" rot="0">
            <a:off x="4643129" y="4305315"/>
            <a:ext cx="486212" cy="469396"/>
          </a:xfrm>
          <a:custGeom>
            <a:avLst/>
            <a:gdLst/>
            <a:ahLst/>
            <a:cxnLst/>
            <a:rect r="r" b="b" t="t" l="l"/>
            <a:pathLst>
              <a:path h="469396" w="486212">
                <a:moveTo>
                  <a:pt x="0" y="0"/>
                </a:moveTo>
                <a:lnTo>
                  <a:pt x="486212" y="0"/>
                </a:lnTo>
                <a:lnTo>
                  <a:pt x="486212" y="469396"/>
                </a:lnTo>
                <a:lnTo>
                  <a:pt x="0" y="4693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1" id="81"/>
          <p:cNvGrpSpPr/>
          <p:nvPr/>
        </p:nvGrpSpPr>
        <p:grpSpPr>
          <a:xfrm rot="0">
            <a:off x="8195850" y="4045725"/>
            <a:ext cx="2126721" cy="498097"/>
            <a:chOff x="0" y="0"/>
            <a:chExt cx="2819702" cy="6604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31750" y="31750"/>
              <a:ext cx="2754961" cy="596900"/>
            </a:xfrm>
            <a:custGeom>
              <a:avLst/>
              <a:gdLst/>
              <a:ahLst/>
              <a:cxnLst/>
              <a:rect r="r" b="b" t="t" l="l"/>
              <a:pathLst>
                <a:path h="596900" w="2754961">
                  <a:moveTo>
                    <a:pt x="2663492" y="596900"/>
                  </a:moveTo>
                  <a:lnTo>
                    <a:pt x="92710" y="596900"/>
                  </a:lnTo>
                  <a:cubicBezTo>
                    <a:pt x="41910" y="596900"/>
                    <a:pt x="0" y="554990"/>
                    <a:pt x="0" y="50419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662223" y="0"/>
                  </a:lnTo>
                  <a:cubicBezTo>
                    <a:pt x="2713023" y="0"/>
                    <a:pt x="2754933" y="41910"/>
                    <a:pt x="2754933" y="92710"/>
                  </a:cubicBezTo>
                  <a:lnTo>
                    <a:pt x="2754933" y="502920"/>
                  </a:lnTo>
                  <a:cubicBezTo>
                    <a:pt x="2756203" y="554990"/>
                    <a:pt x="2714292" y="596900"/>
                    <a:pt x="2663492" y="596900"/>
                  </a:cubicBezTo>
                  <a:close/>
                </a:path>
              </a:pathLst>
            </a:custGeom>
            <a:solidFill>
              <a:srgbClr val="FF9858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819703" cy="660400"/>
            </a:xfrm>
            <a:custGeom>
              <a:avLst/>
              <a:gdLst/>
              <a:ahLst/>
              <a:cxnLst/>
              <a:rect r="r" b="b" t="t" l="l"/>
              <a:pathLst>
                <a:path h="660400" w="2819703">
                  <a:moveTo>
                    <a:pt x="2695242" y="59690"/>
                  </a:moveTo>
                  <a:cubicBezTo>
                    <a:pt x="2730803" y="59690"/>
                    <a:pt x="2760013" y="88900"/>
                    <a:pt x="2760013" y="124460"/>
                  </a:cubicBezTo>
                  <a:lnTo>
                    <a:pt x="2760013" y="535940"/>
                  </a:lnTo>
                  <a:cubicBezTo>
                    <a:pt x="2760013" y="571500"/>
                    <a:pt x="2730803" y="600710"/>
                    <a:pt x="2695242" y="600710"/>
                  </a:cubicBezTo>
                  <a:lnTo>
                    <a:pt x="124460" y="600710"/>
                  </a:lnTo>
                  <a:cubicBezTo>
                    <a:pt x="88900" y="600710"/>
                    <a:pt x="59690" y="571500"/>
                    <a:pt x="59690" y="53594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695243" y="59690"/>
                  </a:lnTo>
                  <a:moveTo>
                    <a:pt x="269524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35940"/>
                  </a:lnTo>
                  <a:cubicBezTo>
                    <a:pt x="0" y="604520"/>
                    <a:pt x="55880" y="660400"/>
                    <a:pt x="124460" y="660400"/>
                  </a:cubicBezTo>
                  <a:lnTo>
                    <a:pt x="2695243" y="660400"/>
                  </a:lnTo>
                  <a:cubicBezTo>
                    <a:pt x="2763823" y="660400"/>
                    <a:pt x="2819703" y="604520"/>
                    <a:pt x="2819703" y="535940"/>
                  </a:cubicBezTo>
                  <a:lnTo>
                    <a:pt x="2819703" y="124460"/>
                  </a:lnTo>
                  <a:cubicBezTo>
                    <a:pt x="2819703" y="55880"/>
                    <a:pt x="2763823" y="0"/>
                    <a:pt x="2695243" y="0"/>
                  </a:cubicBezTo>
                  <a:close/>
                </a:path>
              </a:pathLst>
            </a:custGeom>
            <a:solidFill>
              <a:srgbClr val="FF9858"/>
            </a:solidFill>
          </p:spPr>
        </p:sp>
      </p:grpSp>
      <p:sp>
        <p:nvSpPr>
          <p:cNvPr name="Freeform 84" id="84"/>
          <p:cNvSpPr/>
          <p:nvPr/>
        </p:nvSpPr>
        <p:spPr>
          <a:xfrm flipH="false" flipV="false" rot="0">
            <a:off x="9898814" y="4305315"/>
            <a:ext cx="486212" cy="469396"/>
          </a:xfrm>
          <a:custGeom>
            <a:avLst/>
            <a:gdLst/>
            <a:ahLst/>
            <a:cxnLst/>
            <a:rect r="r" b="b" t="t" l="l"/>
            <a:pathLst>
              <a:path h="469396" w="486212">
                <a:moveTo>
                  <a:pt x="0" y="0"/>
                </a:moveTo>
                <a:lnTo>
                  <a:pt x="486212" y="0"/>
                </a:lnTo>
                <a:lnTo>
                  <a:pt x="486212" y="469396"/>
                </a:lnTo>
                <a:lnTo>
                  <a:pt x="0" y="4693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85" id="8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77427" y="6370186"/>
            <a:ext cx="886951" cy="886951"/>
          </a:xfrm>
          <a:prstGeom prst="rect">
            <a:avLst/>
          </a:prstGeom>
        </p:spPr>
      </p:pic>
      <p:grpSp>
        <p:nvGrpSpPr>
          <p:cNvPr name="Group 86" id="86"/>
          <p:cNvGrpSpPr/>
          <p:nvPr/>
        </p:nvGrpSpPr>
        <p:grpSpPr>
          <a:xfrm rot="0">
            <a:off x="2940165" y="4889011"/>
            <a:ext cx="2189176" cy="766185"/>
            <a:chOff x="0" y="0"/>
            <a:chExt cx="784551" cy="27458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84551" cy="274584"/>
            </a:xfrm>
            <a:custGeom>
              <a:avLst/>
              <a:gdLst/>
              <a:ahLst/>
              <a:cxnLst/>
              <a:rect r="r" b="b" t="t" l="l"/>
              <a:pathLst>
                <a:path h="274584" w="784551">
                  <a:moveTo>
                    <a:pt x="35365" y="0"/>
                  </a:moveTo>
                  <a:lnTo>
                    <a:pt x="749187" y="0"/>
                  </a:lnTo>
                  <a:cubicBezTo>
                    <a:pt x="768718" y="0"/>
                    <a:pt x="784551" y="15833"/>
                    <a:pt x="784551" y="35365"/>
                  </a:cubicBezTo>
                  <a:lnTo>
                    <a:pt x="784551" y="239219"/>
                  </a:lnTo>
                  <a:cubicBezTo>
                    <a:pt x="784551" y="248598"/>
                    <a:pt x="780826" y="257593"/>
                    <a:pt x="774193" y="264225"/>
                  </a:cubicBezTo>
                  <a:cubicBezTo>
                    <a:pt x="767561" y="270858"/>
                    <a:pt x="758566" y="274584"/>
                    <a:pt x="749187" y="274584"/>
                  </a:cubicBezTo>
                  <a:lnTo>
                    <a:pt x="35365" y="274584"/>
                  </a:lnTo>
                  <a:cubicBezTo>
                    <a:pt x="15833" y="274584"/>
                    <a:pt x="0" y="258750"/>
                    <a:pt x="0" y="239219"/>
                  </a:cubicBezTo>
                  <a:lnTo>
                    <a:pt x="0" y="35365"/>
                  </a:lnTo>
                  <a:cubicBezTo>
                    <a:pt x="0" y="15833"/>
                    <a:pt x="15833" y="0"/>
                    <a:pt x="35365" y="0"/>
                  </a:cubicBezTo>
                  <a:close/>
                </a:path>
              </a:pathLst>
            </a:custGeom>
            <a:solidFill>
              <a:srgbClr val="EBE7E5"/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784551" cy="303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561488" y="4889011"/>
            <a:ext cx="2189176" cy="870191"/>
            <a:chOff x="0" y="0"/>
            <a:chExt cx="784551" cy="31185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84551" cy="311857"/>
            </a:xfrm>
            <a:custGeom>
              <a:avLst/>
              <a:gdLst/>
              <a:ahLst/>
              <a:cxnLst/>
              <a:rect r="r" b="b" t="t" l="l"/>
              <a:pathLst>
                <a:path h="311857" w="784551">
                  <a:moveTo>
                    <a:pt x="35365" y="0"/>
                  </a:moveTo>
                  <a:lnTo>
                    <a:pt x="749187" y="0"/>
                  </a:lnTo>
                  <a:cubicBezTo>
                    <a:pt x="768718" y="0"/>
                    <a:pt x="784551" y="15833"/>
                    <a:pt x="784551" y="35365"/>
                  </a:cubicBezTo>
                  <a:lnTo>
                    <a:pt x="784551" y="276492"/>
                  </a:lnTo>
                  <a:cubicBezTo>
                    <a:pt x="784551" y="296024"/>
                    <a:pt x="768718" y="311857"/>
                    <a:pt x="749187" y="311857"/>
                  </a:cubicBezTo>
                  <a:lnTo>
                    <a:pt x="35365" y="311857"/>
                  </a:lnTo>
                  <a:cubicBezTo>
                    <a:pt x="25985" y="311857"/>
                    <a:pt x="16990" y="308131"/>
                    <a:pt x="10358" y="301499"/>
                  </a:cubicBezTo>
                  <a:cubicBezTo>
                    <a:pt x="3726" y="294867"/>
                    <a:pt x="0" y="285871"/>
                    <a:pt x="0" y="276492"/>
                  </a:cubicBezTo>
                  <a:lnTo>
                    <a:pt x="0" y="35365"/>
                  </a:lnTo>
                  <a:cubicBezTo>
                    <a:pt x="0" y="15833"/>
                    <a:pt x="15833" y="0"/>
                    <a:pt x="35365" y="0"/>
                  </a:cubicBezTo>
                  <a:close/>
                </a:path>
              </a:pathLst>
            </a:custGeom>
            <a:solidFill>
              <a:srgbClr val="EBE7E5"/>
            </a:solid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784551" cy="340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92" id="9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773344" y="6370186"/>
            <a:ext cx="886951" cy="886951"/>
          </a:xfrm>
          <a:prstGeom prst="rect">
            <a:avLst/>
          </a:prstGeom>
        </p:spPr>
      </p:pic>
      <p:grpSp>
        <p:nvGrpSpPr>
          <p:cNvPr name="Group 93" id="93"/>
          <p:cNvGrpSpPr/>
          <p:nvPr/>
        </p:nvGrpSpPr>
        <p:grpSpPr>
          <a:xfrm rot="0">
            <a:off x="8195850" y="4889011"/>
            <a:ext cx="2189176" cy="1065883"/>
            <a:chOff x="0" y="0"/>
            <a:chExt cx="784551" cy="38198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84551" cy="381988"/>
            </a:xfrm>
            <a:custGeom>
              <a:avLst/>
              <a:gdLst/>
              <a:ahLst/>
              <a:cxnLst/>
              <a:rect r="r" b="b" t="t" l="l"/>
              <a:pathLst>
                <a:path h="381988" w="784551">
                  <a:moveTo>
                    <a:pt x="35365" y="0"/>
                  </a:moveTo>
                  <a:lnTo>
                    <a:pt x="749187" y="0"/>
                  </a:lnTo>
                  <a:cubicBezTo>
                    <a:pt x="768718" y="0"/>
                    <a:pt x="784551" y="15833"/>
                    <a:pt x="784551" y="35365"/>
                  </a:cubicBezTo>
                  <a:lnTo>
                    <a:pt x="784551" y="346624"/>
                  </a:lnTo>
                  <a:cubicBezTo>
                    <a:pt x="784551" y="366155"/>
                    <a:pt x="768718" y="381988"/>
                    <a:pt x="749187" y="381988"/>
                  </a:cubicBezTo>
                  <a:lnTo>
                    <a:pt x="35365" y="381988"/>
                  </a:lnTo>
                  <a:cubicBezTo>
                    <a:pt x="25985" y="381988"/>
                    <a:pt x="16990" y="378263"/>
                    <a:pt x="10358" y="371630"/>
                  </a:cubicBezTo>
                  <a:cubicBezTo>
                    <a:pt x="3726" y="364998"/>
                    <a:pt x="0" y="356003"/>
                    <a:pt x="0" y="346624"/>
                  </a:cubicBezTo>
                  <a:lnTo>
                    <a:pt x="0" y="35365"/>
                  </a:lnTo>
                  <a:cubicBezTo>
                    <a:pt x="0" y="15833"/>
                    <a:pt x="15833" y="0"/>
                    <a:pt x="35365" y="0"/>
                  </a:cubicBezTo>
                  <a:close/>
                </a:path>
              </a:pathLst>
            </a:custGeom>
            <a:solidFill>
              <a:srgbClr val="EBE7E5"/>
            </a:solid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28575"/>
              <a:ext cx="784551" cy="410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96" id="9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07812" y="6370186"/>
            <a:ext cx="886951" cy="886951"/>
          </a:xfrm>
          <a:prstGeom prst="rect">
            <a:avLst/>
          </a:prstGeom>
        </p:spPr>
      </p:pic>
      <p:sp>
        <p:nvSpPr>
          <p:cNvPr name="Freeform 97" id="97"/>
          <p:cNvSpPr/>
          <p:nvPr/>
        </p:nvSpPr>
        <p:spPr>
          <a:xfrm flipH="false" flipV="true" rot="-5868836">
            <a:off x="697225" y="6244199"/>
            <a:ext cx="960111" cy="560356"/>
          </a:xfrm>
          <a:custGeom>
            <a:avLst/>
            <a:gdLst/>
            <a:ahLst/>
            <a:cxnLst/>
            <a:rect r="r" b="b" t="t" l="l"/>
            <a:pathLst>
              <a:path h="560356" w="960111">
                <a:moveTo>
                  <a:pt x="0" y="560356"/>
                </a:moveTo>
                <a:lnTo>
                  <a:pt x="960111" y="560356"/>
                </a:lnTo>
                <a:lnTo>
                  <a:pt x="960111" y="0"/>
                </a:lnTo>
                <a:lnTo>
                  <a:pt x="0" y="0"/>
                </a:lnTo>
                <a:lnTo>
                  <a:pt x="0" y="560356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8" id="98"/>
          <p:cNvSpPr txBox="true"/>
          <p:nvPr/>
        </p:nvSpPr>
        <p:spPr>
          <a:xfrm rot="0">
            <a:off x="371411" y="1220157"/>
            <a:ext cx="2086381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99"/>
              </a:lnSpc>
            </a:pPr>
            <a:r>
              <a:rPr lang="en-US" sz="999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Quand on veut reprendre une idée d’un-e auteur-ice dans son propre travail, il faut toujours faire des citations exactes des mots de l’auteur-ice entre guillemets pour ne pas être accusé-e de plagiat. </a:t>
            </a:r>
          </a:p>
          <a:p>
            <a:pPr algn="just">
              <a:lnSpc>
                <a:spcPts val="1399"/>
              </a:lnSpc>
            </a:pPr>
          </a:p>
        </p:txBody>
      </p:sp>
      <p:sp>
        <p:nvSpPr>
          <p:cNvPr name="TextBox 99" id="99"/>
          <p:cNvSpPr txBox="true"/>
          <p:nvPr/>
        </p:nvSpPr>
        <p:spPr>
          <a:xfrm rot="-10800000">
            <a:off x="385824" y="2904101"/>
            <a:ext cx="2057554" cy="67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20"/>
              </a:lnSpc>
            </a:pPr>
            <a:r>
              <a:rPr lang="en-US" sz="800" u="sng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Réponse</a:t>
            </a: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:Faux</a:t>
            </a:r>
          </a:p>
          <a:p>
            <a:pPr algn="just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On peut très bien paraphraser l’auteur-ice (et c’est même mieux !)</a:t>
            </a:r>
          </a:p>
          <a:p>
            <a:pPr algn="just">
              <a:lnSpc>
                <a:spcPts val="1120"/>
              </a:lnSpc>
            </a:pPr>
          </a:p>
          <a:p>
            <a:pPr algn="just">
              <a:lnSpc>
                <a:spcPts val="1120"/>
              </a:lnSpc>
            </a:pPr>
          </a:p>
        </p:txBody>
      </p:sp>
      <p:sp>
        <p:nvSpPr>
          <p:cNvPr name="TextBox 100" id="100"/>
          <p:cNvSpPr txBox="true"/>
          <p:nvPr/>
        </p:nvSpPr>
        <p:spPr>
          <a:xfrm rot="0">
            <a:off x="5595209" y="1210632"/>
            <a:ext cx="2073397" cy="269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20"/>
              </a:lnSpc>
            </a:pPr>
            <a:r>
              <a:rPr lang="en-US" b="true" sz="800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Qu’est-ce qu’un DOI ?</a:t>
            </a:r>
          </a:p>
          <a:p>
            <a:pPr algn="just">
              <a:lnSpc>
                <a:spcPts val="1120"/>
              </a:lnSpc>
            </a:pPr>
          </a:p>
        </p:txBody>
      </p:sp>
      <p:sp>
        <p:nvSpPr>
          <p:cNvPr name="TextBox 101" id="101"/>
          <p:cNvSpPr txBox="true"/>
          <p:nvPr/>
        </p:nvSpPr>
        <p:spPr>
          <a:xfrm rot="0">
            <a:off x="5614684" y="1442477"/>
            <a:ext cx="2054975" cy="1209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03"/>
              </a:lnSpc>
            </a:pPr>
            <a:r>
              <a:rPr lang="en-US" b="true" sz="788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A.</a:t>
            </a:r>
            <a:r>
              <a:rPr lang="en-US" sz="7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Digital Object Id</a:t>
            </a:r>
            <a:r>
              <a:rPr lang="en-US" sz="7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entifier </a:t>
            </a:r>
          </a:p>
          <a:p>
            <a:pPr algn="just">
              <a:lnSpc>
                <a:spcPts val="1103"/>
              </a:lnSpc>
            </a:pPr>
          </a:p>
          <a:p>
            <a:pPr algn="just">
              <a:lnSpc>
                <a:spcPts val="1103"/>
              </a:lnSpc>
            </a:pPr>
            <a:r>
              <a:rPr lang="en-US" b="true" sz="788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B.</a:t>
            </a:r>
            <a:r>
              <a:rPr lang="en-US" sz="7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Le DOI fait référence au code source de la page sur lequel est hébergé un contenu en ligne (DOI provient de Yukihiro Doi, l’ingénieur à l’origine de ce type de code source).</a:t>
            </a:r>
          </a:p>
          <a:p>
            <a:pPr algn="just">
              <a:lnSpc>
                <a:spcPts val="1103"/>
              </a:lnSpc>
            </a:pPr>
          </a:p>
          <a:p>
            <a:pPr algn="just">
              <a:lnSpc>
                <a:spcPts val="1103"/>
              </a:lnSpc>
            </a:pPr>
            <a:r>
              <a:rPr lang="en-US" b="true" sz="788" i="true">
                <a:solidFill>
                  <a:srgbClr val="00000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C.</a:t>
            </a:r>
            <a:r>
              <a:rPr lang="en-US" sz="788" i="true">
                <a:solidFill>
                  <a:srgbClr val="AF4C0F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 </a:t>
            </a:r>
            <a:r>
              <a:rPr lang="en-US" sz="788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Documentation ouvrage information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2983467" y="1220157"/>
            <a:ext cx="2086381" cy="84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99"/>
              </a:lnSpc>
            </a:pPr>
            <a:r>
              <a:rPr lang="en-US" sz="999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A la HETS, le corps enseignant dispose d’un logiciel permettant de détecter le plagiat dans les travaux académiques. </a:t>
            </a:r>
          </a:p>
          <a:p>
            <a:pPr algn="just">
              <a:lnSpc>
                <a:spcPts val="1399"/>
              </a:lnSpc>
            </a:pPr>
          </a:p>
        </p:txBody>
      </p:sp>
      <p:sp>
        <p:nvSpPr>
          <p:cNvPr name="TextBox 103" id="103"/>
          <p:cNvSpPr txBox="true"/>
          <p:nvPr/>
        </p:nvSpPr>
        <p:spPr>
          <a:xfrm rot="-10800000">
            <a:off x="3012294" y="2904101"/>
            <a:ext cx="2057554" cy="67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20"/>
              </a:lnSpc>
            </a:pPr>
            <a:r>
              <a:rPr lang="en-US" sz="800" u="sng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Réponse</a:t>
            </a: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:Vrai</a:t>
            </a:r>
          </a:p>
          <a:p>
            <a:pPr algn="just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Il s’agit de Compilatio.</a:t>
            </a:r>
          </a:p>
          <a:p>
            <a:pPr algn="just">
              <a:lnSpc>
                <a:spcPts val="1120"/>
              </a:lnSpc>
            </a:pPr>
          </a:p>
          <a:p>
            <a:pPr algn="just">
              <a:lnSpc>
                <a:spcPts val="1120"/>
              </a:lnSpc>
            </a:pPr>
          </a:p>
          <a:p>
            <a:pPr algn="just">
              <a:lnSpc>
                <a:spcPts val="1120"/>
              </a:lnSpc>
            </a:pPr>
          </a:p>
        </p:txBody>
      </p:sp>
      <p:sp>
        <p:nvSpPr>
          <p:cNvPr name="TextBox 104" id="104"/>
          <p:cNvSpPr txBox="true"/>
          <p:nvPr/>
        </p:nvSpPr>
        <p:spPr>
          <a:xfrm rot="-10800000">
            <a:off x="5679206" y="2768634"/>
            <a:ext cx="2057554" cy="81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20"/>
              </a:lnSpc>
            </a:pPr>
            <a:r>
              <a:rPr lang="en-US" sz="800" u="sng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Réponse</a:t>
            </a: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: A</a:t>
            </a:r>
          </a:p>
          <a:p>
            <a:pPr algn="just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C’est un système d’identification permanent d’un document en ligne. Il garantit un accès permanent aux objets numériques, même si l’URL change.</a:t>
            </a:r>
          </a:p>
          <a:p>
            <a:pPr algn="just">
              <a:lnSpc>
                <a:spcPts val="1120"/>
              </a:lnSpc>
            </a:pPr>
          </a:p>
        </p:txBody>
      </p:sp>
      <p:sp>
        <p:nvSpPr>
          <p:cNvPr name="TextBox 105" id="105"/>
          <p:cNvSpPr txBox="true"/>
          <p:nvPr/>
        </p:nvSpPr>
        <p:spPr>
          <a:xfrm rot="0">
            <a:off x="8238894" y="1220157"/>
            <a:ext cx="2086381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99"/>
              </a:lnSpc>
            </a:pPr>
            <a:r>
              <a:rPr lang="en-US" sz="999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Lorsqu’un document a été traduit, il est obligatoire d’indiquer la personne qui a traduit et l’année d’édition de l’œuvre originale.</a:t>
            </a:r>
          </a:p>
        </p:txBody>
      </p:sp>
      <p:sp>
        <p:nvSpPr>
          <p:cNvPr name="TextBox 106" id="106"/>
          <p:cNvSpPr txBox="true"/>
          <p:nvPr/>
        </p:nvSpPr>
        <p:spPr>
          <a:xfrm rot="-10800000">
            <a:off x="8309593" y="2768634"/>
            <a:ext cx="2057554" cy="81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20"/>
              </a:lnSpc>
            </a:pPr>
            <a:r>
              <a:rPr lang="en-US" sz="800" u="sng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Réponse</a:t>
            </a: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: Faux</a:t>
            </a:r>
          </a:p>
          <a:p>
            <a:pPr algn="just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Pour simplifier, il est recommandé de ne pas mentionner ces indications. A savoir : les citations indirectes sont toujours présentées en français. Voir chapitre 3.3 du Guide APA.</a:t>
            </a:r>
          </a:p>
          <a:p>
            <a:pPr algn="just">
              <a:lnSpc>
                <a:spcPts val="1120"/>
              </a:lnSpc>
            </a:pPr>
          </a:p>
        </p:txBody>
      </p:sp>
      <p:sp>
        <p:nvSpPr>
          <p:cNvPr name="TextBox 107" id="107"/>
          <p:cNvSpPr txBox="true"/>
          <p:nvPr/>
        </p:nvSpPr>
        <p:spPr>
          <a:xfrm rot="0">
            <a:off x="742598" y="4096148"/>
            <a:ext cx="1279208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Joker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2020903" y="4353068"/>
            <a:ext cx="345431" cy="396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+2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5985244" y="4096148"/>
            <a:ext cx="1279208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Joker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3363921" y="4080842"/>
            <a:ext cx="1279208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Joker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8619607" y="4080842"/>
            <a:ext cx="1279208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Joker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370240" y="4996502"/>
            <a:ext cx="2086381" cy="101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99"/>
              </a:lnSpc>
            </a:pPr>
            <a:r>
              <a:rPr lang="en-US" sz="999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Pour gagner du temps dans la réalisation de tes travaux, tu peux t’inscrire à un atelier donné par les bibliothécaires de la HETS pour apprendre à utiliser le logiciel de gestion de références Zotero.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2965118" y="5009202"/>
            <a:ext cx="2121140" cy="49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99"/>
              </a:lnSpc>
            </a:pPr>
            <a:r>
              <a:rPr lang="en-US" sz="999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Tu as un doute avec le guide APA, tu peux écrire un mail à l’Infothèque de la HETS (</a:t>
            </a:r>
            <a:r>
              <a:rPr lang="en-US" sz="999" i="true" u="sng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  <a:hlinkClick r:id="rId11" tooltip="mailto:infotheque.hets@hesge.ch"/>
              </a:rPr>
              <a:t>infotheque.hets@hesge.ch</a:t>
            </a:r>
            <a:r>
              <a:rPr lang="en-US" sz="999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).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5616485" y="4984381"/>
            <a:ext cx="2079182" cy="84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99"/>
              </a:lnSpc>
            </a:pPr>
            <a:r>
              <a:rPr lang="en-US" sz="999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Tu peux télécharger le guide APA ou le mettre en favoris dans ton moteur de recherche afin de l’avoir à p</a:t>
            </a:r>
            <a:r>
              <a:rPr lang="en-US" sz="999" i="true" u="non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o</a:t>
            </a:r>
            <a:r>
              <a:rPr lang="en-US" sz="999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r</a:t>
            </a:r>
            <a:r>
              <a:rPr lang="en-US" sz="999" i="true" u="non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tée</a:t>
            </a:r>
            <a:r>
              <a:rPr lang="en-US" sz="999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d</a:t>
            </a:r>
            <a:r>
              <a:rPr lang="en-US" sz="999" i="true" u="non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e</a:t>
            </a:r>
            <a:r>
              <a:rPr lang="en-US" sz="999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main. </a:t>
            </a:r>
          </a:p>
          <a:p>
            <a:pPr algn="just">
              <a:lnSpc>
                <a:spcPts val="1399"/>
              </a:lnSpc>
            </a:pPr>
          </a:p>
        </p:txBody>
      </p:sp>
      <p:sp>
        <p:nvSpPr>
          <p:cNvPr name="TextBox 115" id="115"/>
          <p:cNvSpPr txBox="true"/>
          <p:nvPr/>
        </p:nvSpPr>
        <p:spPr>
          <a:xfrm rot="0">
            <a:off x="8250847" y="4996502"/>
            <a:ext cx="2079182" cy="84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99"/>
              </a:lnSpc>
            </a:pPr>
            <a:r>
              <a:rPr lang="en-US" sz="999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Tu trouveras sur la page Moodle de l'Infothèque les guides et tutoriels mis à disposition pour ta recherche documentaire e</a:t>
            </a:r>
            <a:r>
              <a:rPr lang="en-US" sz="999" i="true" u="non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t le </a:t>
            </a:r>
            <a:r>
              <a:rPr lang="en-US" sz="999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référenc</a:t>
            </a:r>
            <a:r>
              <a:rPr lang="en-US" sz="999" i="true" u="non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e</a:t>
            </a:r>
            <a:r>
              <a:rPr lang="en-US" sz="999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ment bibliographique.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4647045" y="4332274"/>
            <a:ext cx="345431" cy="396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+2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7264452" y="4332274"/>
            <a:ext cx="345431" cy="396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+2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9898814" y="4328464"/>
            <a:ext cx="345431" cy="396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+2</a:t>
            </a:r>
          </a:p>
        </p:txBody>
      </p:sp>
      <p:sp>
        <p:nvSpPr>
          <p:cNvPr name="Freeform 119" id="119"/>
          <p:cNvSpPr/>
          <p:nvPr/>
        </p:nvSpPr>
        <p:spPr>
          <a:xfrm flipH="false" flipV="true" rot="-5868836">
            <a:off x="5870920" y="5866156"/>
            <a:ext cx="1059222" cy="618201"/>
          </a:xfrm>
          <a:custGeom>
            <a:avLst/>
            <a:gdLst/>
            <a:ahLst/>
            <a:cxnLst/>
            <a:rect r="r" b="b" t="t" l="l"/>
            <a:pathLst>
              <a:path h="618201" w="1059222">
                <a:moveTo>
                  <a:pt x="0" y="618201"/>
                </a:moveTo>
                <a:lnTo>
                  <a:pt x="1059222" y="618201"/>
                </a:lnTo>
                <a:lnTo>
                  <a:pt x="1059222" y="0"/>
                </a:lnTo>
                <a:lnTo>
                  <a:pt x="0" y="0"/>
                </a:lnTo>
                <a:lnTo>
                  <a:pt x="0" y="618201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0" id="120"/>
          <p:cNvSpPr/>
          <p:nvPr/>
        </p:nvSpPr>
        <p:spPr>
          <a:xfrm flipH="false" flipV="true" rot="-5868836">
            <a:off x="8501673" y="6095495"/>
            <a:ext cx="1059222" cy="618201"/>
          </a:xfrm>
          <a:custGeom>
            <a:avLst/>
            <a:gdLst/>
            <a:ahLst/>
            <a:cxnLst/>
            <a:rect r="r" b="b" t="t" l="l"/>
            <a:pathLst>
              <a:path h="618201" w="1059222">
                <a:moveTo>
                  <a:pt x="0" y="618200"/>
                </a:moveTo>
                <a:lnTo>
                  <a:pt x="1059223" y="618200"/>
                </a:lnTo>
                <a:lnTo>
                  <a:pt x="1059223" y="0"/>
                </a:lnTo>
                <a:lnTo>
                  <a:pt x="0" y="0"/>
                </a:lnTo>
                <a:lnTo>
                  <a:pt x="0" y="61820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1" id="121"/>
          <p:cNvSpPr txBox="true"/>
          <p:nvPr/>
        </p:nvSpPr>
        <p:spPr>
          <a:xfrm rot="0">
            <a:off x="6157948" y="4639073"/>
            <a:ext cx="968448" cy="188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199" i="true">
                <a:solidFill>
                  <a:srgbClr val="FF9858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Le savais-tu ?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8854147" y="4639073"/>
            <a:ext cx="968448" cy="188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199" i="true">
                <a:solidFill>
                  <a:srgbClr val="FF9858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Le savais-tu ?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3519301" y="4601421"/>
            <a:ext cx="968448" cy="188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199" i="true">
                <a:solidFill>
                  <a:srgbClr val="FF9858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Le savais-tu ?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897978" y="4601421"/>
            <a:ext cx="968448" cy="188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199" i="true">
                <a:solidFill>
                  <a:srgbClr val="FF9858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Le savais-tu 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41323" y="181223"/>
            <a:ext cx="2431848" cy="3504122"/>
            <a:chOff x="0" y="0"/>
            <a:chExt cx="1864859" cy="26871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96334" y="183221"/>
            <a:ext cx="2431848" cy="3504122"/>
            <a:chOff x="0" y="0"/>
            <a:chExt cx="1864859" cy="26871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818829" y="181223"/>
            <a:ext cx="2431848" cy="3504122"/>
            <a:chOff x="0" y="0"/>
            <a:chExt cx="1864859" cy="26871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063817" y="181223"/>
            <a:ext cx="2431848" cy="3504122"/>
            <a:chOff x="0" y="0"/>
            <a:chExt cx="1864859" cy="26871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891023">
            <a:off x="471742" y="710241"/>
            <a:ext cx="2309202" cy="2450082"/>
          </a:xfrm>
          <a:custGeom>
            <a:avLst/>
            <a:gdLst/>
            <a:ahLst/>
            <a:cxnLst/>
            <a:rect r="r" b="b" t="t" l="l"/>
            <a:pathLst>
              <a:path h="2450082" w="2309202">
                <a:moveTo>
                  <a:pt x="0" y="0"/>
                </a:moveTo>
                <a:lnTo>
                  <a:pt x="2309202" y="0"/>
                </a:lnTo>
                <a:lnTo>
                  <a:pt x="2309202" y="2450082"/>
                </a:lnTo>
                <a:lnTo>
                  <a:pt x="0" y="2450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1686280">
            <a:off x="2758943" y="812686"/>
            <a:ext cx="2302427" cy="2189398"/>
          </a:xfrm>
          <a:custGeom>
            <a:avLst/>
            <a:gdLst/>
            <a:ahLst/>
            <a:cxnLst/>
            <a:rect r="r" b="b" t="t" l="l"/>
            <a:pathLst>
              <a:path h="2189398" w="2302427">
                <a:moveTo>
                  <a:pt x="0" y="0"/>
                </a:moveTo>
                <a:lnTo>
                  <a:pt x="2302426" y="0"/>
                </a:lnTo>
                <a:lnTo>
                  <a:pt x="2302426" y="2189398"/>
                </a:lnTo>
                <a:lnTo>
                  <a:pt x="0" y="2189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-7850717">
            <a:off x="5536736" y="709766"/>
            <a:ext cx="2258905" cy="2238369"/>
          </a:xfrm>
          <a:custGeom>
            <a:avLst/>
            <a:gdLst/>
            <a:ahLst/>
            <a:cxnLst/>
            <a:rect r="r" b="b" t="t" l="l"/>
            <a:pathLst>
              <a:path h="2238369" w="2258905">
                <a:moveTo>
                  <a:pt x="0" y="0"/>
                </a:moveTo>
                <a:lnTo>
                  <a:pt x="2258905" y="0"/>
                </a:lnTo>
                <a:lnTo>
                  <a:pt x="2258905" y="2238369"/>
                </a:lnTo>
                <a:lnTo>
                  <a:pt x="0" y="22383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8404085" y="536475"/>
            <a:ext cx="1751312" cy="2584950"/>
          </a:xfrm>
          <a:custGeom>
            <a:avLst/>
            <a:gdLst/>
            <a:ahLst/>
            <a:cxnLst/>
            <a:rect r="r" b="b" t="t" l="l"/>
            <a:pathLst>
              <a:path h="2584950" w="1751312">
                <a:moveTo>
                  <a:pt x="0" y="0"/>
                </a:moveTo>
                <a:lnTo>
                  <a:pt x="1751313" y="0"/>
                </a:lnTo>
                <a:lnTo>
                  <a:pt x="1751313" y="2584950"/>
                </a:lnTo>
                <a:lnTo>
                  <a:pt x="0" y="258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8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8" id="18"/>
          <p:cNvSpPr txBox="true"/>
          <p:nvPr/>
        </p:nvSpPr>
        <p:spPr>
          <a:xfrm rot="0">
            <a:off x="2988639" y="1496685"/>
            <a:ext cx="2092227" cy="87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16"/>
              </a:lnSpc>
            </a:pPr>
            <a:r>
              <a:rPr lang="en-US" b="true" sz="2511" spc="125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VÉRITÉ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611134" y="1498682"/>
            <a:ext cx="2092227" cy="87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6"/>
              </a:lnSpc>
            </a:pPr>
            <a:r>
              <a:rPr lang="en-US" b="true" sz="2511" spc="125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VÉRITÉ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33628" y="1496685"/>
            <a:ext cx="2092227" cy="87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6"/>
              </a:lnSpc>
            </a:pPr>
            <a:r>
              <a:rPr lang="en-US" b="true" sz="2511" spc="125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VÉRITÉ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66145" y="1496685"/>
            <a:ext cx="2092227" cy="87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6"/>
              </a:lnSpc>
            </a:pPr>
            <a:r>
              <a:rPr lang="en-US" b="true" sz="2511" spc="125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VÉRITÉ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441323" y="3901137"/>
            <a:ext cx="2431848" cy="3504122"/>
            <a:chOff x="0" y="0"/>
            <a:chExt cx="1864859" cy="26871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96334" y="3903135"/>
            <a:ext cx="2431848" cy="3504122"/>
            <a:chOff x="0" y="0"/>
            <a:chExt cx="1864859" cy="268713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818829" y="3901137"/>
            <a:ext cx="2431848" cy="3504122"/>
            <a:chOff x="0" y="0"/>
            <a:chExt cx="1864859" cy="268713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063817" y="3901137"/>
            <a:ext cx="2431848" cy="3504122"/>
            <a:chOff x="0" y="0"/>
            <a:chExt cx="1864859" cy="268713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31750" y="31750"/>
              <a:ext cx="1800117" cy="2623630"/>
            </a:xfrm>
            <a:custGeom>
              <a:avLst/>
              <a:gdLst/>
              <a:ahLst/>
              <a:cxnLst/>
              <a:rect r="r" b="b" t="t" l="l"/>
              <a:pathLst>
                <a:path h="2623630" w="1800117">
                  <a:moveTo>
                    <a:pt x="170864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07379" y="0"/>
                  </a:lnTo>
                  <a:cubicBezTo>
                    <a:pt x="1758179" y="0"/>
                    <a:pt x="1800089" y="41910"/>
                    <a:pt x="1800089" y="92710"/>
                  </a:cubicBezTo>
                  <a:lnTo>
                    <a:pt x="1800089" y="2529650"/>
                  </a:lnTo>
                  <a:cubicBezTo>
                    <a:pt x="1801359" y="2581720"/>
                    <a:pt x="1759449" y="2623630"/>
                    <a:pt x="1708649" y="2623630"/>
                  </a:cubicBezTo>
                  <a:close/>
                </a:path>
              </a:pathLst>
            </a:custGeom>
            <a:solidFill>
              <a:srgbClr val="F4BB97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64859" cy="2687131"/>
            </a:xfrm>
            <a:custGeom>
              <a:avLst/>
              <a:gdLst/>
              <a:ahLst/>
              <a:cxnLst/>
              <a:rect r="r" b="b" t="t" l="l"/>
              <a:pathLst>
                <a:path h="2687131" w="1864859">
                  <a:moveTo>
                    <a:pt x="1740399" y="59690"/>
                  </a:moveTo>
                  <a:cubicBezTo>
                    <a:pt x="1775959" y="59690"/>
                    <a:pt x="1805169" y="88900"/>
                    <a:pt x="1805169" y="124460"/>
                  </a:cubicBezTo>
                  <a:lnTo>
                    <a:pt x="1805169" y="2562671"/>
                  </a:lnTo>
                  <a:cubicBezTo>
                    <a:pt x="1805169" y="2598231"/>
                    <a:pt x="1775959" y="2627440"/>
                    <a:pt x="174039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40399" y="59690"/>
                  </a:lnTo>
                  <a:moveTo>
                    <a:pt x="17403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1740399" y="2687131"/>
                  </a:lnTo>
                  <a:cubicBezTo>
                    <a:pt x="1808979" y="2687131"/>
                    <a:pt x="1864859" y="2631250"/>
                    <a:pt x="1864859" y="2562671"/>
                  </a:cubicBezTo>
                  <a:lnTo>
                    <a:pt x="1864859" y="124460"/>
                  </a:lnTo>
                  <a:cubicBezTo>
                    <a:pt x="1864859" y="55880"/>
                    <a:pt x="1808979" y="0"/>
                    <a:pt x="17403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34" id="34"/>
          <p:cNvSpPr/>
          <p:nvPr/>
        </p:nvSpPr>
        <p:spPr>
          <a:xfrm flipH="false" flipV="false" rot="891023">
            <a:off x="471742" y="4430155"/>
            <a:ext cx="2309202" cy="2450082"/>
          </a:xfrm>
          <a:custGeom>
            <a:avLst/>
            <a:gdLst/>
            <a:ahLst/>
            <a:cxnLst/>
            <a:rect r="r" b="b" t="t" l="l"/>
            <a:pathLst>
              <a:path h="2450082" w="2309202">
                <a:moveTo>
                  <a:pt x="0" y="0"/>
                </a:moveTo>
                <a:lnTo>
                  <a:pt x="2309202" y="0"/>
                </a:lnTo>
                <a:lnTo>
                  <a:pt x="2309202" y="2450082"/>
                </a:lnTo>
                <a:lnTo>
                  <a:pt x="0" y="24500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85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5" id="35"/>
          <p:cNvSpPr/>
          <p:nvPr/>
        </p:nvSpPr>
        <p:spPr>
          <a:xfrm flipH="false" flipV="false" rot="-7850717">
            <a:off x="5536736" y="4429679"/>
            <a:ext cx="2258905" cy="2238369"/>
          </a:xfrm>
          <a:custGeom>
            <a:avLst/>
            <a:gdLst/>
            <a:ahLst/>
            <a:cxnLst/>
            <a:rect r="r" b="b" t="t" l="l"/>
            <a:pathLst>
              <a:path h="2238369" w="2258905">
                <a:moveTo>
                  <a:pt x="0" y="0"/>
                </a:moveTo>
                <a:lnTo>
                  <a:pt x="2258905" y="0"/>
                </a:lnTo>
                <a:lnTo>
                  <a:pt x="2258905" y="2238370"/>
                </a:lnTo>
                <a:lnTo>
                  <a:pt x="0" y="22383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85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6" id="36"/>
          <p:cNvSpPr/>
          <p:nvPr/>
        </p:nvSpPr>
        <p:spPr>
          <a:xfrm flipH="false" flipV="false" rot="1686280">
            <a:off x="2758943" y="4532600"/>
            <a:ext cx="2302427" cy="2189398"/>
          </a:xfrm>
          <a:custGeom>
            <a:avLst/>
            <a:gdLst/>
            <a:ahLst/>
            <a:cxnLst/>
            <a:rect r="r" b="b" t="t" l="l"/>
            <a:pathLst>
              <a:path h="2189398" w="2302427">
                <a:moveTo>
                  <a:pt x="0" y="0"/>
                </a:moveTo>
                <a:lnTo>
                  <a:pt x="2302426" y="0"/>
                </a:lnTo>
                <a:lnTo>
                  <a:pt x="2302426" y="2189398"/>
                </a:lnTo>
                <a:lnTo>
                  <a:pt x="0" y="218939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85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7" id="37"/>
          <p:cNvSpPr/>
          <p:nvPr/>
        </p:nvSpPr>
        <p:spPr>
          <a:xfrm flipH="false" flipV="false" rot="0">
            <a:off x="8404085" y="4256389"/>
            <a:ext cx="1751312" cy="2584950"/>
          </a:xfrm>
          <a:custGeom>
            <a:avLst/>
            <a:gdLst/>
            <a:ahLst/>
            <a:cxnLst/>
            <a:rect r="r" b="b" t="t" l="l"/>
            <a:pathLst>
              <a:path h="2584950" w="1751312">
                <a:moveTo>
                  <a:pt x="0" y="0"/>
                </a:moveTo>
                <a:lnTo>
                  <a:pt x="1751313" y="0"/>
                </a:lnTo>
                <a:lnTo>
                  <a:pt x="1751313" y="2584950"/>
                </a:lnTo>
                <a:lnTo>
                  <a:pt x="0" y="258495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85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8" id="38"/>
          <p:cNvSpPr txBox="true"/>
          <p:nvPr/>
        </p:nvSpPr>
        <p:spPr>
          <a:xfrm rot="0">
            <a:off x="2988639" y="5216598"/>
            <a:ext cx="2092227" cy="87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16"/>
              </a:lnSpc>
            </a:pPr>
            <a:r>
              <a:rPr lang="en-US" b="true" sz="2511" spc="125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JOKER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611134" y="5218596"/>
            <a:ext cx="2092227" cy="87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6"/>
              </a:lnSpc>
            </a:pPr>
            <a:r>
              <a:rPr lang="en-US" b="true" sz="2511" spc="125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JOKER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233628" y="5218596"/>
            <a:ext cx="2092227" cy="87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6"/>
              </a:lnSpc>
            </a:pPr>
            <a:r>
              <a:rPr lang="en-US" b="true" sz="2511" spc="125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JOKER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66145" y="5216598"/>
            <a:ext cx="2092227" cy="87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6"/>
              </a:lnSpc>
            </a:pPr>
            <a:r>
              <a:rPr lang="en-US" b="true" sz="2511" spc="125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CARTE JOKER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DAGws_2yAEo</dc:identifier>
  <dcterms:modified xsi:type="dcterms:W3CDTF">2011-08-01T06:04:30Z</dcterms:modified>
  <cp:revision>1</cp:revision>
  <dc:title>Jeu_plateau_APA_cartes</dc:title>
</cp:coreProperties>
</file>