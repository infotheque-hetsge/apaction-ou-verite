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8953500" cy="7505700"/>
  <p:notesSz cx="6858000" cy="9144000"/>
  <p:embeddedFontLst>
    <p:embeddedFont>
      <p:font typeface="Anton Italics" charset="1" panose="00000500000000000000"/>
      <p:regular r:id="rId30"/>
    </p:embeddedFont>
    <p:embeddedFont>
      <p:font typeface="Open Sans" charset="1" panose="00000000000000000000"/>
      <p:regular r:id="rId31"/>
    </p:embeddedFont>
    <p:embeddedFont>
      <p:font typeface="Open Sans Bold" charset="1" panose="00000000000000000000"/>
      <p:regular r:id="rId32"/>
    </p:embeddedFont>
    <p:embeddedFont>
      <p:font typeface="Open Sans Italics" charset="1" panose="00000000000000000000"/>
      <p:regular r:id="rId33"/>
    </p:embeddedFont>
    <p:embeddedFont>
      <p:font typeface="The Seasons Bold" charset="1" panose="00000000000000000000"/>
      <p:regular r:id="rId34"/>
    </p:embeddedFont>
    <p:embeddedFont>
      <p:font typeface="Cocomat Pro Bold" charset="1" panose="00000700000000000000"/>
      <p:regular r:id="rId35"/>
    </p:embeddedFont>
    <p:embeddedFont>
      <p:font typeface="Anton" charset="1" panose="000005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https://doi.org/10.3917/nect.007.0050" TargetMode="External" Type="http://schemas.openxmlformats.org/officeDocument/2006/relationships/hyperlink"/><Relationship Id="rId7" Target="https://www.cairn.info/revue-agora-debats-jeunesses-2017-2.htm?contenu=presentation" TargetMode="External" Type="http://schemas.openxmlformats.org/officeDocument/2006/relationships/hyperlink"/><Relationship Id="rId8" Target="https://doi.org/10.3917/nect.007.0050" TargetMode="External" Type="http://schemas.openxmlformats.org/officeDocument/2006/relationships/hyperlink"/><Relationship Id="rId9" Target="https://www.cairn.info/revue-agora-debats-jeunesses-2017-2.htm?contenu=presentation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https://www.youtube.com/watch?v=LraCqUXc04Y" TargetMode="External" Type="http://schemas.openxmlformats.org/officeDocument/2006/relationships/hyperlink"/><Relationship Id="rId7" Target="../media/image11.png" Type="http://schemas.openxmlformats.org/officeDocument/2006/relationships/image"/><Relationship Id="rId8" Target="https://www.youtube.com/watch?v=LraCqUXc04Y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https://www.hospicegeneral.ch/fr/aide-pour-votre-reinsertion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https://shs.cairn.info/revue-sociographe-2024-1-page-73?lang=fr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Relationship Id="rId7" Target="https://drive.google.com/file/d/13_VVlC9ppRXoduRiIUHpDefXpYfF5lav/view" TargetMode="External" Type="http://schemas.openxmlformats.org/officeDocument/2006/relationships/hyperlink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https://shs.cairn.info/revue-empan-2024-1-page-14?lang=fr" TargetMode="External" Type="http://schemas.openxmlformats.org/officeDocument/2006/relationships/hyperlink"/><Relationship Id="rId7" Target="../media/image1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png" Type="http://schemas.openxmlformats.org/officeDocument/2006/relationships/image"/><Relationship Id="rId7" Target="https://doi.org/10.3917/eres.gueno.2025.01.0030" TargetMode="External" Type="http://schemas.openxmlformats.org/officeDocument/2006/relationships/hyperlink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8.png" Type="http://schemas.openxmlformats.org/officeDocument/2006/relationships/image"/><Relationship Id="rId7" Target="https://www.bfs.admin.ch/bfs/fr/home/statistiques/securite-sociale/aide-sociale.html" TargetMode="External" Type="http://schemas.openxmlformats.org/officeDocument/2006/relationships/hyperlink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BB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0415" y="971220"/>
            <a:ext cx="5592671" cy="7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8"/>
              </a:lnSpc>
              <a:spcBef>
                <a:spcPct val="0"/>
              </a:spcBef>
            </a:pPr>
            <a:r>
              <a:rPr lang="en-US" sz="4127" i="true">
                <a:solidFill>
                  <a:srgbClr val="8A68CF"/>
                </a:solidFill>
                <a:latin typeface="Anton Italics"/>
                <a:ea typeface="Anton Italics"/>
                <a:cs typeface="Anton Italics"/>
                <a:sym typeface="Anton Italics"/>
              </a:rPr>
              <a:t>Référencer une ressource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9755117">
            <a:off x="2863358" y="3950524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7"/>
                </a:moveTo>
                <a:lnTo>
                  <a:pt x="0" y="6318967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7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41045" y="3166374"/>
            <a:ext cx="7452360" cy="1172952"/>
            <a:chOff x="0" y="0"/>
            <a:chExt cx="9936480" cy="156393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9936480" cy="1253697"/>
              <a:chOff x="0" y="0"/>
              <a:chExt cx="5234160" cy="660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23416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5234160">
                    <a:moveTo>
                      <a:pt x="5109700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109700" y="0"/>
                    </a:lnTo>
                    <a:cubicBezTo>
                      <a:pt x="5178280" y="0"/>
                      <a:pt x="5234160" y="55880"/>
                      <a:pt x="5234160" y="124460"/>
                    </a:cubicBezTo>
                    <a:lnTo>
                      <a:pt x="5234160" y="535940"/>
                    </a:lnTo>
                    <a:cubicBezTo>
                      <a:pt x="5234160" y="604520"/>
                      <a:pt x="5178280" y="660400"/>
                      <a:pt x="5109700" y="660400"/>
                    </a:cubicBezTo>
                    <a:close/>
                  </a:path>
                </a:pathLst>
              </a:custGeom>
              <a:solidFill>
                <a:srgbClr val="EF6F4E"/>
              </a:solid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193194" y="111165"/>
              <a:ext cx="9550091" cy="1452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4"/>
                </a:lnSpc>
              </a:pP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Kaufmann, Jean-Claude. (2016). L’entretien compréhensif. Armand Colin. 126 pages.</a:t>
              </a:r>
            </a:p>
            <a:p>
              <a:pPr algn="l">
                <a:lnSpc>
                  <a:spcPts val="294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95466" y="1888429"/>
            <a:ext cx="7162568" cy="1470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4"/>
              </a:lnSpc>
            </a:pPr>
            <a:r>
              <a:rPr lang="en-US" b="true" sz="2103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référence ci-dessous n’est pas correcte. Saurez-vous la corriger ? Aidez-vous du document à disposition.</a:t>
            </a: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-10800000">
            <a:off x="253674" y="6224628"/>
            <a:ext cx="8444037" cy="1025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4"/>
              </a:lnSpc>
            </a:pPr>
            <a:r>
              <a:rPr lang="en-US" sz="1903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Réponse :</a:t>
            </a:r>
            <a:r>
              <a:rPr lang="en-US" sz="19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just">
              <a:lnSpc>
                <a:spcPts val="2664"/>
              </a:lnSpc>
            </a:pPr>
            <a:r>
              <a:rPr lang="en-US" sz="19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Kaufmann, J.-C. (2016).</a:t>
            </a:r>
            <a:r>
              <a:rPr lang="en-US" sz="1903" i="true">
                <a:solidFill>
                  <a:srgbClr val="8A68C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L’entretien compréhensif</a:t>
            </a:r>
            <a:r>
              <a:rPr lang="en-US" sz="19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. Armand Colin.</a:t>
            </a: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1360762">
            <a:off x="7895654" y="133181"/>
            <a:ext cx="877535" cy="931071"/>
          </a:xfrm>
          <a:custGeom>
            <a:avLst/>
            <a:gdLst/>
            <a:ahLst/>
            <a:cxnLst/>
            <a:rect r="r" b="b" t="t" l="l"/>
            <a:pathLst>
              <a:path h="931071" w="877535">
                <a:moveTo>
                  <a:pt x="0" y="0"/>
                </a:moveTo>
                <a:lnTo>
                  <a:pt x="877535" y="0"/>
                </a:lnTo>
                <a:lnTo>
                  <a:pt x="877535" y="931071"/>
                </a:lnTo>
                <a:lnTo>
                  <a:pt x="0" y="931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033339" y="372497"/>
            <a:ext cx="320133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892309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+2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B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829676">
            <a:off x="5444016" y="1023245"/>
            <a:ext cx="4117273" cy="4368460"/>
          </a:xfrm>
          <a:custGeom>
            <a:avLst/>
            <a:gdLst/>
            <a:ahLst/>
            <a:cxnLst/>
            <a:rect r="r" b="b" t="t" l="l"/>
            <a:pathLst>
              <a:path h="4368460" w="4117273">
                <a:moveTo>
                  <a:pt x="0" y="0"/>
                </a:moveTo>
                <a:lnTo>
                  <a:pt x="4117273" y="0"/>
                </a:lnTo>
                <a:lnTo>
                  <a:pt x="4117273" y="4368460"/>
                </a:lnTo>
                <a:lnTo>
                  <a:pt x="0" y="4368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95200" y="2507020"/>
            <a:ext cx="5563101" cy="252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2"/>
              </a:lnSpc>
            </a:pPr>
            <a:r>
              <a:rPr lang="en-US" b="true" sz="8541" spc="427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ACTION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BB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0415" y="971220"/>
            <a:ext cx="5592671" cy="7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8"/>
              </a:lnSpc>
              <a:spcBef>
                <a:spcPct val="0"/>
              </a:spcBef>
            </a:pPr>
            <a:r>
              <a:rPr lang="en-US" sz="4127" i="true">
                <a:solidFill>
                  <a:srgbClr val="8A68CF"/>
                </a:solidFill>
                <a:latin typeface="Anton Italics"/>
                <a:ea typeface="Anton Italics"/>
                <a:cs typeface="Anton Italics"/>
                <a:sym typeface="Anton Italics"/>
              </a:rPr>
              <a:t>Référencer une ressource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9755117">
            <a:off x="2863358" y="3950524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7"/>
                </a:moveTo>
                <a:lnTo>
                  <a:pt x="0" y="6318967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7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41045" y="3359007"/>
            <a:ext cx="7452360" cy="1544427"/>
            <a:chOff x="0" y="0"/>
            <a:chExt cx="9936480" cy="205923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9936480" cy="1253697"/>
              <a:chOff x="0" y="0"/>
              <a:chExt cx="5234160" cy="660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23416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5234160">
                    <a:moveTo>
                      <a:pt x="5109700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109700" y="0"/>
                    </a:lnTo>
                    <a:cubicBezTo>
                      <a:pt x="5178280" y="0"/>
                      <a:pt x="5234160" y="55880"/>
                      <a:pt x="5234160" y="124460"/>
                    </a:cubicBezTo>
                    <a:lnTo>
                      <a:pt x="5234160" y="535940"/>
                    </a:lnTo>
                    <a:cubicBezTo>
                      <a:pt x="5234160" y="604520"/>
                      <a:pt x="5178280" y="660400"/>
                      <a:pt x="5109700" y="660400"/>
                    </a:cubicBezTo>
                    <a:close/>
                  </a:path>
                </a:pathLst>
              </a:custGeom>
              <a:solidFill>
                <a:srgbClr val="EF6F4E"/>
              </a:solid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193194" y="111165"/>
              <a:ext cx="9550091" cy="19480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4"/>
                </a:lnSpc>
              </a:pP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Paugam, S. (Éd.). (2024). 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L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es 100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m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ots 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 l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soc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io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log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ie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.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Paris 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: 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res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Univ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ers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tai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</a:t>
              </a:r>
              <a:r>
                <a:rPr lang="en-US" sz="210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de France. </a:t>
              </a:r>
            </a:p>
            <a:p>
              <a:pPr algn="l">
                <a:lnSpc>
                  <a:spcPts val="2944"/>
                </a:lnSpc>
              </a:pPr>
            </a:p>
            <a:p>
              <a:pPr algn="l">
                <a:lnSpc>
                  <a:spcPts val="294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95466" y="1888429"/>
            <a:ext cx="7162568" cy="1470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4"/>
              </a:lnSpc>
            </a:pPr>
            <a:r>
              <a:rPr lang="en-US" b="true" sz="2103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référence ci-dessous n’est pas correcte. Saurez-vous la corriger ? Aidez-vous du document à disposition.</a:t>
            </a: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-10800000">
            <a:off x="253674" y="5891253"/>
            <a:ext cx="8444037" cy="1358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4"/>
              </a:lnSpc>
            </a:pPr>
            <a:r>
              <a:rPr lang="en-US" sz="1903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Réponse :</a:t>
            </a:r>
            <a:r>
              <a:rPr lang="en-US" sz="19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just">
              <a:lnSpc>
                <a:spcPts val="2664"/>
              </a:lnSpc>
            </a:pPr>
            <a:r>
              <a:rPr lang="en-US" sz="19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Paugam, S. (Éd.). (2024).</a:t>
            </a:r>
            <a:r>
              <a:rPr lang="en-US" sz="19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03" i="true">
                <a:solidFill>
                  <a:srgbClr val="8A68C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Les 100 mots de la sociologie</a:t>
            </a:r>
            <a:r>
              <a:rPr lang="en-US" sz="19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. Pr</a:t>
            </a:r>
            <a:r>
              <a:rPr lang="en-US" sz="19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19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sses</a:t>
            </a:r>
            <a:r>
              <a:rPr lang="en-US" sz="19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19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19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iversit</a:t>
            </a:r>
            <a:r>
              <a:rPr lang="en-US" sz="19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19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ires</a:t>
            </a:r>
            <a:r>
              <a:rPr lang="en-US" sz="19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9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Fran</a:t>
            </a:r>
            <a:r>
              <a:rPr lang="en-US" sz="19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ce</a:t>
            </a:r>
            <a:r>
              <a:rPr lang="en-US" sz="19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1360762">
            <a:off x="7895654" y="133181"/>
            <a:ext cx="877535" cy="931071"/>
          </a:xfrm>
          <a:custGeom>
            <a:avLst/>
            <a:gdLst/>
            <a:ahLst/>
            <a:cxnLst/>
            <a:rect r="r" b="b" t="t" l="l"/>
            <a:pathLst>
              <a:path h="931071" w="877535">
                <a:moveTo>
                  <a:pt x="0" y="0"/>
                </a:moveTo>
                <a:lnTo>
                  <a:pt x="877535" y="0"/>
                </a:lnTo>
                <a:lnTo>
                  <a:pt x="877535" y="931071"/>
                </a:lnTo>
                <a:lnTo>
                  <a:pt x="0" y="931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033339" y="372497"/>
            <a:ext cx="320133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892309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+2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B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829676">
            <a:off x="5444016" y="1023245"/>
            <a:ext cx="4117273" cy="4368460"/>
          </a:xfrm>
          <a:custGeom>
            <a:avLst/>
            <a:gdLst/>
            <a:ahLst/>
            <a:cxnLst/>
            <a:rect r="r" b="b" t="t" l="l"/>
            <a:pathLst>
              <a:path h="4368460" w="4117273">
                <a:moveTo>
                  <a:pt x="0" y="0"/>
                </a:moveTo>
                <a:lnTo>
                  <a:pt x="4117273" y="0"/>
                </a:lnTo>
                <a:lnTo>
                  <a:pt x="4117273" y="4368460"/>
                </a:lnTo>
                <a:lnTo>
                  <a:pt x="0" y="4368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95200" y="2507020"/>
            <a:ext cx="5563101" cy="252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2"/>
              </a:lnSpc>
            </a:pPr>
            <a:r>
              <a:rPr lang="en-US" b="true" sz="8541" spc="427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ACTION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BB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7285" y="971220"/>
            <a:ext cx="7712890" cy="7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78"/>
              </a:lnSpc>
              <a:spcBef>
                <a:spcPct val="0"/>
              </a:spcBef>
            </a:pPr>
            <a:r>
              <a:rPr lang="en-US" sz="4127" i="true">
                <a:solidFill>
                  <a:srgbClr val="8A68CF"/>
                </a:solidFill>
                <a:latin typeface="Anton Italics"/>
                <a:ea typeface="Anton Italics"/>
                <a:cs typeface="Anton Italics"/>
                <a:sym typeface="Anton Italics"/>
              </a:rPr>
              <a:t>Organiser une liste de références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9755117">
            <a:off x="2863358" y="3950524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7"/>
                </a:moveTo>
                <a:lnTo>
                  <a:pt x="0" y="6318967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7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53674" y="2835841"/>
            <a:ext cx="8444037" cy="1905103"/>
            <a:chOff x="0" y="0"/>
            <a:chExt cx="5930664" cy="13380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30664" cy="1338048"/>
            </a:xfrm>
            <a:custGeom>
              <a:avLst/>
              <a:gdLst/>
              <a:ahLst/>
              <a:cxnLst/>
              <a:rect r="r" b="b" t="t" l="l"/>
              <a:pathLst>
                <a:path h="1338048" w="5930664">
                  <a:moveTo>
                    <a:pt x="5806204" y="1338048"/>
                  </a:moveTo>
                  <a:lnTo>
                    <a:pt x="124460" y="1338048"/>
                  </a:lnTo>
                  <a:cubicBezTo>
                    <a:pt x="55880" y="1338048"/>
                    <a:pt x="0" y="1282168"/>
                    <a:pt x="0" y="121358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806204" y="0"/>
                  </a:lnTo>
                  <a:cubicBezTo>
                    <a:pt x="5874784" y="0"/>
                    <a:pt x="5930664" y="55880"/>
                    <a:pt x="5930664" y="124460"/>
                  </a:cubicBezTo>
                  <a:lnTo>
                    <a:pt x="5930664" y="1213588"/>
                  </a:lnTo>
                  <a:cubicBezTo>
                    <a:pt x="5930664" y="1282168"/>
                    <a:pt x="5874784" y="1338048"/>
                    <a:pt x="5806204" y="1338048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367285" y="2954831"/>
            <a:ext cx="8178849" cy="235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0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Amyot, J.-J., Argoud, D., &amp; Chevalier, N. (2021). </a:t>
            </a:r>
            <a:r>
              <a:rPr lang="en-US" sz="1200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Les aidants entre solidarités privées et politiques publiques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Erès.</a:t>
            </a:r>
          </a:p>
          <a:p>
            <a:pPr algn="just">
              <a:lnSpc>
                <a:spcPts val="1200"/>
              </a:lnSpc>
            </a:pPr>
          </a:p>
          <a:p>
            <a:pPr algn="just">
              <a:lnSpc>
                <a:spcPts val="120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Tronto, J. C. (2013). </a:t>
            </a:r>
            <a:r>
              <a:rPr lang="en-US" sz="1200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Un monde vulnérable : pour une politique du care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La Découverte.</a:t>
            </a:r>
          </a:p>
          <a:p>
            <a:pPr algn="just">
              <a:lnSpc>
                <a:spcPts val="1200"/>
              </a:lnSpc>
            </a:pPr>
          </a:p>
          <a:p>
            <a:pPr algn="just">
              <a:lnSpc>
                <a:spcPts val="120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Arcand, M., &amp; Brissette, L. (2020).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Accompagner les proches aidants : guide à l’intention des intervenants psychosociaux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</a:p>
          <a:p>
            <a:pPr algn="just">
              <a:lnSpc>
                <a:spcPts val="120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L’Harmattan.</a:t>
            </a:r>
          </a:p>
          <a:p>
            <a:pPr algn="just">
              <a:lnSpc>
                <a:spcPts val="1200"/>
              </a:lnSpc>
            </a:pPr>
          </a:p>
          <a:p>
            <a:pPr algn="just">
              <a:lnSpc>
                <a:spcPts val="120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Arcand, M., &amp; Brissette, L. (2022). </a:t>
            </a:r>
            <a:r>
              <a:rPr lang="en-US" sz="1200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Guide de survie des proches aidants : conseils pratiques pour soutenir sans s’épuiser.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just">
              <a:lnSpc>
                <a:spcPts val="120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Les Editions de l’Homme.</a:t>
            </a:r>
          </a:p>
          <a:p>
            <a:pPr algn="just">
              <a:lnSpc>
                <a:spcPts val="1200"/>
              </a:lnSpc>
            </a:pPr>
          </a:p>
          <a:p>
            <a:pPr algn="just">
              <a:lnSpc>
                <a:spcPts val="120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Delc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roix, C. (2015). </a:t>
            </a:r>
            <a:r>
              <a:rPr lang="en-US" sz="1200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Vers une société du « care » ?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u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niv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ers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tai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Strasbourg.</a:t>
            </a:r>
          </a:p>
          <a:p>
            <a:pPr algn="l">
              <a:lnSpc>
                <a:spcPts val="1920"/>
              </a:lnSpc>
            </a:pPr>
          </a:p>
          <a:p>
            <a:pPr algn="l">
              <a:lnSpc>
                <a:spcPts val="1920"/>
              </a:lnSpc>
            </a:pPr>
          </a:p>
          <a:p>
            <a:pPr algn="l">
              <a:lnSpc>
                <a:spcPts val="192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95466" y="1888429"/>
            <a:ext cx="7162568" cy="109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4"/>
              </a:lnSpc>
            </a:pPr>
            <a:r>
              <a:rPr lang="en-US" sz="2103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Saurez-vous organiser correctement la liste de références ci-dessous ?</a:t>
            </a: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-10800000">
            <a:off x="254732" y="3582325"/>
            <a:ext cx="8444037" cy="3825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4"/>
              </a:lnSpc>
            </a:pPr>
            <a:r>
              <a:rPr lang="en-US" sz="1903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Réponse :</a:t>
            </a:r>
            <a:r>
              <a:rPr lang="en-US" sz="19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just">
              <a:lnSpc>
                <a:spcPts val="1200"/>
              </a:lnSpc>
            </a:pP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Amyot, J.-J., Argoud, D., &amp; Chevalier, N. (2021).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 Les 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aidants entre solidarités privées et politiques publiques. Erès.</a:t>
            </a:r>
          </a:p>
          <a:p>
            <a:pPr algn="just">
              <a:lnSpc>
                <a:spcPts val="1200"/>
              </a:lnSpc>
            </a:pPr>
          </a:p>
          <a:p>
            <a:pPr algn="just">
              <a:lnSpc>
                <a:spcPts val="1200"/>
              </a:lnSpc>
            </a:pPr>
            <a:r>
              <a:rPr lang="en-US" sz="1200" i="true">
                <a:solidFill>
                  <a:srgbClr val="8A68C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Arcand, M., &amp; Brissette, L. (2020). Accompagner les proches aidants : guide à l’intention des intervenants psychosociaux. </a:t>
            </a:r>
          </a:p>
          <a:p>
            <a:pPr algn="just">
              <a:lnSpc>
                <a:spcPts val="1200"/>
              </a:lnSpc>
            </a:pPr>
            <a:r>
              <a:rPr lang="en-US" sz="1200" i="true">
                <a:solidFill>
                  <a:srgbClr val="8A68C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    L’Harmattan</a:t>
            </a:r>
          </a:p>
          <a:p>
            <a:pPr algn="just">
              <a:lnSpc>
                <a:spcPts val="1200"/>
              </a:lnSpc>
            </a:pPr>
          </a:p>
          <a:p>
            <a:pPr algn="just">
              <a:lnSpc>
                <a:spcPts val="1200"/>
              </a:lnSpc>
            </a:pP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Arcand, M., &amp; Brissette, L. (2022). Guide de survie des pr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ches aidants : consei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s pratiques p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ur souten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r sans s’épuis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r. </a:t>
            </a:r>
          </a:p>
          <a:p>
            <a:pPr algn="just">
              <a:lnSpc>
                <a:spcPts val="1200"/>
              </a:lnSpc>
            </a:pP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     Les Editions de l’Homme.</a:t>
            </a:r>
          </a:p>
          <a:p>
            <a:pPr algn="just">
              <a:lnSpc>
                <a:spcPts val="1200"/>
              </a:lnSpc>
            </a:pPr>
          </a:p>
          <a:p>
            <a:pPr algn="just">
              <a:lnSpc>
                <a:spcPts val="1200"/>
              </a:lnSpc>
            </a:pP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Delcroix, C. (2015). Vers une société du « care » ? Pr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sses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 un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iversit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ires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 de St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rasbourg.Tronto, J. C. (2013). Un monde vulnérable : pour une politique du care. La Découverte.</a:t>
            </a:r>
          </a:p>
          <a:p>
            <a:pPr algn="just">
              <a:lnSpc>
                <a:spcPts val="1200"/>
              </a:lnSpc>
            </a:pPr>
          </a:p>
          <a:p>
            <a:pPr algn="just">
              <a:lnSpc>
                <a:spcPts val="1200"/>
              </a:lnSpc>
            </a:pP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Tronto, J. C. (2013). </a:t>
            </a:r>
            <a:r>
              <a:rPr lang="en-US" sz="1200" i="true">
                <a:solidFill>
                  <a:srgbClr val="8A68C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Un monde vulnérable : pour une politique du care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. La Découverte.</a:t>
            </a:r>
          </a:p>
          <a:p>
            <a:pPr algn="just">
              <a:lnSpc>
                <a:spcPts val="1200"/>
              </a:lnSpc>
            </a:pPr>
          </a:p>
          <a:p>
            <a:pPr algn="just">
              <a:lnSpc>
                <a:spcPts val="1200"/>
              </a:lnSpc>
            </a:pPr>
            <a:r>
              <a:rPr lang="en-US" sz="1200" i="true">
                <a:solidFill>
                  <a:srgbClr val="EF6F4E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Voir les explications au chapitre 5 du guide APA.</a:t>
            </a:r>
          </a:p>
          <a:p>
            <a:pPr algn="just">
              <a:lnSpc>
                <a:spcPts val="2664"/>
              </a:lnSpc>
            </a:pPr>
          </a:p>
          <a:p>
            <a:pPr algn="just">
              <a:lnSpc>
                <a:spcPts val="2664"/>
              </a:lnSpc>
            </a:pPr>
          </a:p>
          <a:p>
            <a:pPr algn="just">
              <a:lnSpc>
                <a:spcPts val="2664"/>
              </a:lnSpc>
            </a:pP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1360762">
            <a:off x="7895654" y="133181"/>
            <a:ext cx="877535" cy="931071"/>
          </a:xfrm>
          <a:custGeom>
            <a:avLst/>
            <a:gdLst/>
            <a:ahLst/>
            <a:cxnLst/>
            <a:rect r="r" b="b" t="t" l="l"/>
            <a:pathLst>
              <a:path h="931071" w="877535">
                <a:moveTo>
                  <a:pt x="0" y="0"/>
                </a:moveTo>
                <a:lnTo>
                  <a:pt x="877535" y="0"/>
                </a:lnTo>
                <a:lnTo>
                  <a:pt x="877535" y="931071"/>
                </a:lnTo>
                <a:lnTo>
                  <a:pt x="0" y="931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033339" y="372497"/>
            <a:ext cx="320133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892309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+2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B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829676">
            <a:off x="5444016" y="1023245"/>
            <a:ext cx="4117273" cy="4368460"/>
          </a:xfrm>
          <a:custGeom>
            <a:avLst/>
            <a:gdLst/>
            <a:ahLst/>
            <a:cxnLst/>
            <a:rect r="r" b="b" t="t" l="l"/>
            <a:pathLst>
              <a:path h="4368460" w="4117273">
                <a:moveTo>
                  <a:pt x="0" y="0"/>
                </a:moveTo>
                <a:lnTo>
                  <a:pt x="4117273" y="0"/>
                </a:lnTo>
                <a:lnTo>
                  <a:pt x="4117273" y="4368460"/>
                </a:lnTo>
                <a:lnTo>
                  <a:pt x="0" y="4368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95200" y="2507020"/>
            <a:ext cx="5563101" cy="252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2"/>
              </a:lnSpc>
            </a:pPr>
            <a:r>
              <a:rPr lang="en-US" b="true" sz="8541" spc="427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ACTION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BB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7285" y="971220"/>
            <a:ext cx="7712890" cy="7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78"/>
              </a:lnSpc>
              <a:spcBef>
                <a:spcPct val="0"/>
              </a:spcBef>
            </a:pPr>
            <a:r>
              <a:rPr lang="en-US" sz="4127" i="true">
                <a:solidFill>
                  <a:srgbClr val="8A68CF"/>
                </a:solidFill>
                <a:latin typeface="Anton Italics"/>
                <a:ea typeface="Anton Italics"/>
                <a:cs typeface="Anton Italics"/>
                <a:sym typeface="Anton Italics"/>
              </a:rPr>
              <a:t>Organiser une liste de références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9755117">
            <a:off x="2863358" y="3950524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7"/>
                </a:moveTo>
                <a:lnTo>
                  <a:pt x="0" y="6318967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7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53674" y="2725150"/>
            <a:ext cx="8444037" cy="2650733"/>
            <a:chOff x="0" y="0"/>
            <a:chExt cx="5930664" cy="18617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30664" cy="1861740"/>
            </a:xfrm>
            <a:custGeom>
              <a:avLst/>
              <a:gdLst/>
              <a:ahLst/>
              <a:cxnLst/>
              <a:rect r="r" b="b" t="t" l="l"/>
              <a:pathLst>
                <a:path h="1861740" w="5930664">
                  <a:moveTo>
                    <a:pt x="5806204" y="1861740"/>
                  </a:moveTo>
                  <a:lnTo>
                    <a:pt x="124460" y="1861740"/>
                  </a:lnTo>
                  <a:cubicBezTo>
                    <a:pt x="55880" y="1861740"/>
                    <a:pt x="0" y="1805860"/>
                    <a:pt x="0" y="17372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806204" y="0"/>
                  </a:lnTo>
                  <a:cubicBezTo>
                    <a:pt x="5874784" y="0"/>
                    <a:pt x="5930664" y="55880"/>
                    <a:pt x="5930664" y="124460"/>
                  </a:cubicBezTo>
                  <a:lnTo>
                    <a:pt x="5930664" y="1737280"/>
                  </a:lnTo>
                  <a:cubicBezTo>
                    <a:pt x="5930664" y="1805860"/>
                    <a:pt x="5874784" y="1861740"/>
                    <a:pt x="5806204" y="1861740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311537" y="2895891"/>
            <a:ext cx="8330426" cy="317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00"/>
              </a:lnSpc>
            </a:pPr>
            <a:r>
              <a:rPr lang="en-US" sz="1200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Livres</a:t>
            </a:r>
          </a:p>
          <a:p>
            <a:pPr algn="just">
              <a:lnSpc>
                <a:spcPts val="1200"/>
              </a:lnSpc>
            </a:pPr>
          </a:p>
          <a:p>
            <a:pPr algn="just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Lebon, F., &amp; Lescure, E. de. (2016). </a:t>
            </a:r>
            <a:r>
              <a:rPr lang="en-US" sz="1200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L’éducation populaire au tournant du XXIe siècle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Ed. du Croquant.</a:t>
            </a:r>
          </a:p>
          <a:p>
            <a:pPr algn="just">
              <a:lnSpc>
                <a:spcPts val="120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Restoin, A., &amp; Corond, M. (2008). </a:t>
            </a:r>
            <a:r>
              <a:rPr lang="en-US" sz="1200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Education populaire, enjeu démocratique : défis et perspectives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L’Harmattan.</a:t>
            </a:r>
          </a:p>
          <a:p>
            <a:pPr algn="just">
              <a:lnSpc>
                <a:spcPts val="1200"/>
              </a:lnSpc>
            </a:pPr>
          </a:p>
          <a:p>
            <a:pPr algn="just">
              <a:lnSpc>
                <a:spcPts val="1200"/>
              </a:lnSpc>
            </a:pPr>
            <a:r>
              <a:rPr lang="en-US" sz="1200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Articles</a:t>
            </a:r>
          </a:p>
          <a:p>
            <a:pPr algn="just">
              <a:lnSpc>
                <a:spcPts val="1200"/>
              </a:lnSpc>
            </a:pPr>
          </a:p>
          <a:p>
            <a:pPr algn="just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Arnaud, L. (2018). Une éducation populaire 2.0 ? </a:t>
            </a:r>
            <a:r>
              <a:rPr lang="en-US" sz="1200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Nectart, 7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(2), 50‑57. </a:t>
            </a:r>
            <a:r>
              <a:rPr lang="en-US" sz="1200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6" tooltip="https://doi.org/10.3917/nect.007.0050"/>
              </a:rPr>
              <a:t>https://doi.org/10.3917/nect.007.0050</a:t>
            </a:r>
          </a:p>
          <a:p>
            <a:pPr algn="l">
              <a:lnSpc>
                <a:spcPts val="120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Lescure, E. de, &amp; Porte, E. (2017). Education populaire : Politisation et pratiques d’émancipation : dossier. </a:t>
            </a:r>
            <a:r>
              <a:rPr lang="en-US" sz="1200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Agora : débats/jeunesses, 76, 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53-136. </a:t>
            </a:r>
            <a:r>
              <a:rPr lang="en-US" sz="1200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7" tooltip="https://www.cairn.info/revue-agora-debats-jeunesses-2017-2.htm?contenu=presentation"/>
              </a:rPr>
              <a:t>https://www.cairn.info/revue-agora-debats-jeunesses-2017-2.htm?contenu=presentation</a:t>
            </a:r>
          </a:p>
          <a:p>
            <a:pPr algn="just">
              <a:lnSpc>
                <a:spcPts val="1200"/>
              </a:lnSpc>
            </a:pPr>
          </a:p>
          <a:p>
            <a:pPr algn="just">
              <a:lnSpc>
                <a:spcPts val="1200"/>
              </a:lnSpc>
            </a:pPr>
            <a:r>
              <a:rPr lang="en-US" sz="1200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Sites web</a:t>
            </a:r>
          </a:p>
          <a:p>
            <a:pPr algn="just">
              <a:lnSpc>
                <a:spcPts val="1200"/>
              </a:lnSpc>
            </a:pPr>
          </a:p>
          <a:p>
            <a:pPr algn="just">
              <a:lnSpc>
                <a:spcPts val="120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Institut national de la jeunesse et de l’éducation populaire (INJEP). (s. d.). </a:t>
            </a:r>
            <a:r>
              <a:rPr lang="en-US" sz="1200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Observatoire de la jeunesse, du sport, de la vie associative et de l’éducation populaire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INJEP. Consulté 14 juin 2023, à l’adresse https://injep.fr/</a:t>
            </a:r>
          </a:p>
          <a:p>
            <a:pPr algn="just">
              <a:lnSpc>
                <a:spcPts val="1200"/>
              </a:lnSpc>
            </a:pPr>
          </a:p>
          <a:p>
            <a:pPr algn="l">
              <a:lnSpc>
                <a:spcPts val="1920"/>
              </a:lnSpc>
            </a:pPr>
          </a:p>
          <a:p>
            <a:pPr algn="l">
              <a:lnSpc>
                <a:spcPts val="1920"/>
              </a:lnSpc>
            </a:pPr>
          </a:p>
          <a:p>
            <a:pPr algn="l">
              <a:lnSpc>
                <a:spcPts val="192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95466" y="1888429"/>
            <a:ext cx="7162568" cy="109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4"/>
              </a:lnSpc>
            </a:pPr>
            <a:r>
              <a:rPr lang="en-US" sz="2103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Saurez-vous organiser correctement la liste de références ci-dessous ?</a:t>
            </a: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-10800000">
            <a:off x="253674" y="4398338"/>
            <a:ext cx="8444037" cy="3009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4"/>
              </a:lnSpc>
            </a:pPr>
            <a:r>
              <a:rPr lang="en-US" sz="1903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Réponse :</a:t>
            </a:r>
            <a:r>
              <a:rPr lang="en-US" sz="19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just">
              <a:lnSpc>
                <a:spcPts val="1200"/>
              </a:lnSpc>
            </a:pP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Arnaud, L. (2018). Une éducation populaire 2.0 ? </a:t>
            </a:r>
            <a:r>
              <a:rPr lang="en-US" sz="1200" i="true">
                <a:solidFill>
                  <a:srgbClr val="8A68C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Nectart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200" i="true">
                <a:solidFill>
                  <a:srgbClr val="8A68C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7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(2), 50‑57. </a:t>
            </a:r>
            <a:r>
              <a:rPr lang="en-US" sz="1200" u="sng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  <a:hlinkClick r:id="rId8" tooltip="https://doi.org/10.3917/nect.007.0050"/>
              </a:rPr>
              <a:t>https://doi.org/10.3917/nect.007.0050</a:t>
            </a:r>
          </a:p>
          <a:p>
            <a:pPr algn="just">
              <a:lnSpc>
                <a:spcPts val="700"/>
              </a:lnSpc>
            </a:pPr>
          </a:p>
          <a:p>
            <a:pPr algn="just">
              <a:lnSpc>
                <a:spcPts val="1200"/>
              </a:lnSpc>
            </a:pP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Institut national de la jeunesse et de l’éducation populaire (INJEP). (s. d.). </a:t>
            </a:r>
            <a:r>
              <a:rPr lang="en-US" sz="1200" i="true">
                <a:solidFill>
                  <a:srgbClr val="8A68C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Observatoire de la jeunesse, du sport, de la vie associative et de l’éducation populaire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. INJEP. Consulté 14 juin 2023, à l’adresse https://injep.fr/</a:t>
            </a:r>
          </a:p>
          <a:p>
            <a:pPr algn="just">
              <a:lnSpc>
                <a:spcPts val="699"/>
              </a:lnSpc>
            </a:pPr>
          </a:p>
          <a:p>
            <a:pPr algn="just">
              <a:lnSpc>
                <a:spcPts val="1200"/>
              </a:lnSpc>
            </a:pP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Lebon, F., &amp; Lescure, E. de. (2016). </a:t>
            </a:r>
            <a:r>
              <a:rPr lang="en-US" sz="1200" i="true">
                <a:solidFill>
                  <a:srgbClr val="8A68C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L’éducation populaire au tournant du XXIe siècle.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 Ed. du Croquant.</a:t>
            </a:r>
          </a:p>
          <a:p>
            <a:pPr algn="just">
              <a:lnSpc>
                <a:spcPts val="700"/>
              </a:lnSpc>
            </a:pPr>
          </a:p>
          <a:p>
            <a:pPr algn="just">
              <a:lnSpc>
                <a:spcPts val="1200"/>
              </a:lnSpc>
            </a:pP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Lescure, E. de, &amp; Porte, E. (2017). Education populaire : Politisation et pratiques d’émancipation : dossier.</a:t>
            </a:r>
            <a:r>
              <a:rPr lang="en-US" sz="1200" i="true">
                <a:solidFill>
                  <a:srgbClr val="8A68C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Agora : débats/jeunesses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200" i="true">
                <a:solidFill>
                  <a:srgbClr val="8A68C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76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, 53-136. </a:t>
            </a:r>
            <a:r>
              <a:rPr lang="en-US" sz="1200" u="sng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  <a:hlinkClick r:id="rId9" tooltip="https://www.cairn.info/revue-agora-debats-jeunesses-2017-2.htm?contenu=presentation"/>
              </a:rPr>
              <a:t>https://www.cairn.info/revue-agora-debats-jeunesses-2017-2.htm?contenu=presentation</a:t>
            </a:r>
          </a:p>
          <a:p>
            <a:pPr algn="just">
              <a:lnSpc>
                <a:spcPts val="700"/>
              </a:lnSpc>
            </a:pPr>
          </a:p>
          <a:p>
            <a:pPr algn="just">
              <a:lnSpc>
                <a:spcPts val="1200"/>
              </a:lnSpc>
            </a:pP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Restoin, A., &amp; Corond, M. (2008). </a:t>
            </a:r>
            <a:r>
              <a:rPr lang="en-US" sz="1200" i="true">
                <a:solidFill>
                  <a:srgbClr val="8A68C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Education populaire, enjeu démocratique : défis et perspectives</a:t>
            </a:r>
            <a:r>
              <a:rPr lang="en-US" sz="12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. L’Harmattan.</a:t>
            </a:r>
          </a:p>
          <a:p>
            <a:pPr algn="just">
              <a:lnSpc>
                <a:spcPts val="1200"/>
              </a:lnSpc>
            </a:pPr>
            <a:r>
              <a:rPr lang="en-US" sz="1200" i="true">
                <a:solidFill>
                  <a:srgbClr val="EF6F4E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Voir les explications au chapitre 5 du guide APA.</a:t>
            </a:r>
          </a:p>
          <a:p>
            <a:pPr algn="just">
              <a:lnSpc>
                <a:spcPts val="1200"/>
              </a:lnSpc>
            </a:pPr>
          </a:p>
          <a:p>
            <a:pPr algn="just">
              <a:lnSpc>
                <a:spcPts val="1200"/>
              </a:lnSpc>
            </a:pPr>
          </a:p>
          <a:p>
            <a:pPr algn="just">
              <a:lnSpc>
                <a:spcPts val="1200"/>
              </a:lnSpc>
            </a:pPr>
          </a:p>
          <a:p>
            <a:pPr algn="just">
              <a:lnSpc>
                <a:spcPts val="2664"/>
              </a:lnSpc>
            </a:pP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1360762">
            <a:off x="7895654" y="133181"/>
            <a:ext cx="877535" cy="931071"/>
          </a:xfrm>
          <a:custGeom>
            <a:avLst/>
            <a:gdLst/>
            <a:ahLst/>
            <a:cxnLst/>
            <a:rect r="r" b="b" t="t" l="l"/>
            <a:pathLst>
              <a:path h="931071" w="877535">
                <a:moveTo>
                  <a:pt x="0" y="0"/>
                </a:moveTo>
                <a:lnTo>
                  <a:pt x="877535" y="0"/>
                </a:lnTo>
                <a:lnTo>
                  <a:pt x="877535" y="931071"/>
                </a:lnTo>
                <a:lnTo>
                  <a:pt x="0" y="931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033339" y="372497"/>
            <a:ext cx="320133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892309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+2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B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829676">
            <a:off x="5444016" y="1023245"/>
            <a:ext cx="4117273" cy="4368460"/>
          </a:xfrm>
          <a:custGeom>
            <a:avLst/>
            <a:gdLst/>
            <a:ahLst/>
            <a:cxnLst/>
            <a:rect r="r" b="b" t="t" l="l"/>
            <a:pathLst>
              <a:path h="4368460" w="4117273">
                <a:moveTo>
                  <a:pt x="0" y="0"/>
                </a:moveTo>
                <a:lnTo>
                  <a:pt x="4117273" y="0"/>
                </a:lnTo>
                <a:lnTo>
                  <a:pt x="4117273" y="4368460"/>
                </a:lnTo>
                <a:lnTo>
                  <a:pt x="0" y="4368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95200" y="2507020"/>
            <a:ext cx="5563101" cy="252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2"/>
              </a:lnSpc>
            </a:pPr>
            <a:r>
              <a:rPr lang="en-US" b="true" sz="8541" spc="427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ACTION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BB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60762">
            <a:off x="7895654" y="133181"/>
            <a:ext cx="877535" cy="931071"/>
          </a:xfrm>
          <a:custGeom>
            <a:avLst/>
            <a:gdLst/>
            <a:ahLst/>
            <a:cxnLst/>
            <a:rect r="r" b="b" t="t" l="l"/>
            <a:pathLst>
              <a:path h="931071" w="877535">
                <a:moveTo>
                  <a:pt x="0" y="0"/>
                </a:moveTo>
                <a:lnTo>
                  <a:pt x="877535" y="0"/>
                </a:lnTo>
                <a:lnTo>
                  <a:pt x="877535" y="931071"/>
                </a:lnTo>
                <a:lnTo>
                  <a:pt x="0" y="931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8844" y="971220"/>
            <a:ext cx="7712890" cy="7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8"/>
              </a:lnSpc>
              <a:spcBef>
                <a:spcPct val="0"/>
              </a:spcBef>
            </a:pPr>
            <a:r>
              <a:rPr lang="en-US" sz="4127">
                <a:solidFill>
                  <a:srgbClr val="8A68CF"/>
                </a:solidFill>
                <a:latin typeface="Anton"/>
                <a:ea typeface="Anton"/>
                <a:cs typeface="Anton"/>
                <a:sym typeface="Anton"/>
              </a:rPr>
              <a:t>Référencer un document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9755117">
            <a:off x="2863358" y="3950524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7"/>
                </a:moveTo>
                <a:lnTo>
                  <a:pt x="0" y="6318967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7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95466" y="1888429"/>
            <a:ext cx="7162568" cy="109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4"/>
              </a:lnSpc>
            </a:pPr>
            <a:r>
              <a:rPr lang="en-US" sz="2103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Saurez-vous construire la référence du document disponible via le lien suivant ? </a:t>
            </a: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-10800000">
            <a:off x="395860" y="5715249"/>
            <a:ext cx="8249025" cy="1616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9"/>
              </a:lnSpc>
            </a:pPr>
            <a:r>
              <a:rPr lang="en-US" sz="1899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Réponse :</a:t>
            </a:r>
            <a:r>
              <a:rPr lang="en-US" sz="1899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just">
              <a:lnSpc>
                <a:spcPts val="1899"/>
              </a:lnSpc>
            </a:pPr>
            <a:r>
              <a:rPr lang="en-US" sz="1899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AvenirSocial. (2025, 12 juin). </a:t>
            </a:r>
            <a:r>
              <a:rPr lang="en-US" sz="1899" i="true">
                <a:solidFill>
                  <a:srgbClr val="8A68C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Webinaire : La formation et l'emploi dans le travail social en suisse</a:t>
            </a:r>
            <a:r>
              <a:rPr lang="en-US" sz="1899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 [Vidéo]. YouTube. </a:t>
            </a:r>
            <a:r>
              <a:rPr lang="en-US" sz="1899" u="sng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  <a:hlinkClick r:id="rId6" tooltip="https://www.youtube.com/watch?v=LraCqUXc04Y"/>
              </a:rPr>
              <a:t>https://www.youtube.com/watch?v=LraCqUXc04Y</a:t>
            </a:r>
          </a:p>
          <a:p>
            <a:pPr algn="just">
              <a:lnSpc>
                <a:spcPts val="2664"/>
              </a:lnSpc>
            </a:pP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033339" y="372497"/>
            <a:ext cx="320133" cy="396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892309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+3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351632" y="2807490"/>
            <a:ext cx="2337482" cy="2337482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004005" y="4992587"/>
            <a:ext cx="7162568" cy="64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4"/>
              </a:lnSpc>
            </a:pPr>
            <a:r>
              <a:rPr lang="en-US" sz="1703" u="sng">
                <a:solidFill>
                  <a:srgbClr val="F1823D"/>
                </a:solidFill>
                <a:latin typeface="Open Sans"/>
                <a:ea typeface="Open Sans"/>
                <a:cs typeface="Open Sans"/>
                <a:sym typeface="Open Sans"/>
                <a:hlinkClick r:id="rId8" tooltip="https://www.youtube.com/watch?v=LraCqUXc04Y"/>
              </a:rPr>
              <a:t>https://www.youtube.com/watch?v=LraCqUXc04Y</a:t>
            </a: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B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829676">
            <a:off x="5444016" y="1023245"/>
            <a:ext cx="4117273" cy="4368460"/>
          </a:xfrm>
          <a:custGeom>
            <a:avLst/>
            <a:gdLst/>
            <a:ahLst/>
            <a:cxnLst/>
            <a:rect r="r" b="b" t="t" l="l"/>
            <a:pathLst>
              <a:path h="4368460" w="4117273">
                <a:moveTo>
                  <a:pt x="0" y="0"/>
                </a:moveTo>
                <a:lnTo>
                  <a:pt x="4117273" y="0"/>
                </a:lnTo>
                <a:lnTo>
                  <a:pt x="4117273" y="4368460"/>
                </a:lnTo>
                <a:lnTo>
                  <a:pt x="0" y="4368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95200" y="2507020"/>
            <a:ext cx="5563101" cy="252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2"/>
              </a:lnSpc>
            </a:pPr>
            <a:r>
              <a:rPr lang="en-US" b="true" sz="8541" spc="427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ACTION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BB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60762">
            <a:off x="7895654" y="133181"/>
            <a:ext cx="877535" cy="931071"/>
          </a:xfrm>
          <a:custGeom>
            <a:avLst/>
            <a:gdLst/>
            <a:ahLst/>
            <a:cxnLst/>
            <a:rect r="r" b="b" t="t" l="l"/>
            <a:pathLst>
              <a:path h="931071" w="877535">
                <a:moveTo>
                  <a:pt x="0" y="0"/>
                </a:moveTo>
                <a:lnTo>
                  <a:pt x="877535" y="0"/>
                </a:lnTo>
                <a:lnTo>
                  <a:pt x="877535" y="931071"/>
                </a:lnTo>
                <a:lnTo>
                  <a:pt x="0" y="931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8844" y="971220"/>
            <a:ext cx="7712890" cy="7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8"/>
              </a:lnSpc>
              <a:spcBef>
                <a:spcPct val="0"/>
              </a:spcBef>
            </a:pPr>
            <a:r>
              <a:rPr lang="en-US" sz="4127">
                <a:solidFill>
                  <a:srgbClr val="8A68CF"/>
                </a:solidFill>
                <a:latin typeface="Anton"/>
                <a:ea typeface="Anton"/>
                <a:cs typeface="Anton"/>
                <a:sym typeface="Anton"/>
              </a:rPr>
              <a:t>Référencer un document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9755117">
            <a:off x="2863358" y="3950524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7"/>
                </a:moveTo>
                <a:lnTo>
                  <a:pt x="0" y="6318967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7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95466" y="1888429"/>
            <a:ext cx="7162568" cy="109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4"/>
              </a:lnSpc>
            </a:pPr>
            <a:r>
              <a:rPr lang="en-US" sz="2103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Saurez-vous construire la référence du document disponible via le lien suivant ? </a:t>
            </a: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-10800000">
            <a:off x="395860" y="5690021"/>
            <a:ext cx="8249025" cy="165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00"/>
              </a:lnSpc>
            </a:pPr>
            <a:r>
              <a:rPr lang="en-US" sz="1900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Réponse :</a:t>
            </a:r>
            <a:r>
              <a:rPr lang="en-US" sz="19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just">
              <a:lnSpc>
                <a:spcPts val="2944"/>
              </a:lnSpc>
            </a:pPr>
            <a:r>
              <a:rPr lang="en-US" sz="21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Hospice général. (s.d.).</a:t>
            </a:r>
            <a:r>
              <a:rPr lang="en-US" sz="2103" i="true">
                <a:solidFill>
                  <a:srgbClr val="8A68C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Aide pour votre réinsertion</a:t>
            </a:r>
            <a:r>
              <a:rPr lang="en-US" sz="21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. Consulté le [date du jour] à l’adresse https://www.hospicegeneral.ch/fr/aide-pour-votre-reinsertion</a:t>
            </a:r>
          </a:p>
          <a:p>
            <a:pPr algn="just">
              <a:lnSpc>
                <a:spcPts val="704"/>
              </a:lnSpc>
            </a:pPr>
            <a:r>
              <a:rPr lang="en-US" sz="5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just">
              <a:lnSpc>
                <a:spcPts val="1824"/>
              </a:lnSpc>
              <a:spcBef>
                <a:spcPct val="0"/>
              </a:spcBef>
            </a:pPr>
            <a:r>
              <a:rPr lang="en-US" sz="1303" i="true">
                <a:solidFill>
                  <a:srgbClr val="EF6F4E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Lorsqu’aucune date n’apparaît sur la page web, il faut indiquer s.d. et mentionner la date de consultation.</a:t>
            </a:r>
            <a:r>
              <a:rPr lang="en-US" sz="1303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33339" y="372497"/>
            <a:ext cx="320133" cy="396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892309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+3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351632" y="2807490"/>
            <a:ext cx="2337482" cy="2337482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004005" y="4992587"/>
            <a:ext cx="7162568" cy="28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4"/>
              </a:lnSpc>
            </a:pPr>
            <a:r>
              <a:rPr lang="en-US" sz="1703" u="sng">
                <a:solidFill>
                  <a:srgbClr val="F1823D"/>
                </a:solidFill>
                <a:latin typeface="Open Sans"/>
                <a:ea typeface="Open Sans"/>
                <a:cs typeface="Open Sans"/>
                <a:sym typeface="Open Sans"/>
                <a:hlinkClick r:id="rId7" tooltip="https://www.hospicegeneral.ch/fr/aide-pour-votre-reinsertion"/>
              </a:rPr>
              <a:t>https://www.hospicegeneral.ch/fr/aide-pour-votre-reinsertion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B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829676">
            <a:off x="5444016" y="1023245"/>
            <a:ext cx="4117273" cy="4368460"/>
          </a:xfrm>
          <a:custGeom>
            <a:avLst/>
            <a:gdLst/>
            <a:ahLst/>
            <a:cxnLst/>
            <a:rect r="r" b="b" t="t" l="l"/>
            <a:pathLst>
              <a:path h="4368460" w="4117273">
                <a:moveTo>
                  <a:pt x="0" y="0"/>
                </a:moveTo>
                <a:lnTo>
                  <a:pt x="4117273" y="0"/>
                </a:lnTo>
                <a:lnTo>
                  <a:pt x="4117273" y="4368460"/>
                </a:lnTo>
                <a:lnTo>
                  <a:pt x="0" y="4368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95200" y="2507020"/>
            <a:ext cx="5563101" cy="252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2"/>
              </a:lnSpc>
            </a:pPr>
            <a:r>
              <a:rPr lang="en-US" b="true" sz="8541" spc="427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ACTION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BB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60762">
            <a:off x="7895654" y="133181"/>
            <a:ext cx="877535" cy="931071"/>
          </a:xfrm>
          <a:custGeom>
            <a:avLst/>
            <a:gdLst/>
            <a:ahLst/>
            <a:cxnLst/>
            <a:rect r="r" b="b" t="t" l="l"/>
            <a:pathLst>
              <a:path h="931071" w="877535">
                <a:moveTo>
                  <a:pt x="0" y="0"/>
                </a:moveTo>
                <a:lnTo>
                  <a:pt x="877535" y="0"/>
                </a:lnTo>
                <a:lnTo>
                  <a:pt x="877535" y="931071"/>
                </a:lnTo>
                <a:lnTo>
                  <a:pt x="0" y="931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8844" y="971220"/>
            <a:ext cx="7712890" cy="7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8"/>
              </a:lnSpc>
              <a:spcBef>
                <a:spcPct val="0"/>
              </a:spcBef>
            </a:pPr>
            <a:r>
              <a:rPr lang="en-US" sz="4127">
                <a:solidFill>
                  <a:srgbClr val="8A68CF"/>
                </a:solidFill>
                <a:latin typeface="Anton"/>
                <a:ea typeface="Anton"/>
                <a:cs typeface="Anton"/>
                <a:sym typeface="Anton"/>
              </a:rPr>
              <a:t>Référencer un document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9755117">
            <a:off x="2863358" y="3950524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7"/>
                </a:moveTo>
                <a:lnTo>
                  <a:pt x="0" y="6318967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7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95466" y="1888429"/>
            <a:ext cx="7162568" cy="109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4"/>
              </a:lnSpc>
            </a:pPr>
            <a:r>
              <a:rPr lang="en-US" sz="2103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Saurez-vous construire la référence du document disponible via le lien suivant ? </a:t>
            </a: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-10800000">
            <a:off x="395860" y="5715249"/>
            <a:ext cx="8249025" cy="1616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9"/>
              </a:lnSpc>
            </a:pPr>
            <a:r>
              <a:rPr lang="en-US" sz="1899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Réponse :</a:t>
            </a:r>
            <a:r>
              <a:rPr lang="en-US" sz="1899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just">
              <a:lnSpc>
                <a:spcPts val="1899"/>
              </a:lnSpc>
            </a:pPr>
            <a:r>
              <a:rPr lang="en-US" sz="1899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Ghilas, K. (2024). De l’analyse de la pratique professionnelle au praticien réflexif. </a:t>
            </a:r>
            <a:r>
              <a:rPr lang="en-US" sz="1899" i="true">
                <a:solidFill>
                  <a:srgbClr val="8A68C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Sociographe</a:t>
            </a:r>
            <a:r>
              <a:rPr lang="en-US" sz="1899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899" i="true">
                <a:solidFill>
                  <a:srgbClr val="8A68C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85</a:t>
            </a:r>
            <a:r>
              <a:rPr lang="en-US" sz="1899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, 73-82. </a:t>
            </a:r>
            <a:r>
              <a:rPr lang="en-US" sz="1899" u="sng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https://doi.org/10.3917/graph1.085.0073</a:t>
            </a:r>
          </a:p>
          <a:p>
            <a:pPr algn="just">
              <a:lnSpc>
                <a:spcPts val="1899"/>
              </a:lnSpc>
            </a:pPr>
          </a:p>
          <a:p>
            <a:pPr algn="just">
              <a:lnSpc>
                <a:spcPts val="2664"/>
              </a:lnSpc>
            </a:pP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042864" y="371862"/>
            <a:ext cx="320133" cy="396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892309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+3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351632" y="2807490"/>
            <a:ext cx="2337482" cy="2337482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004005" y="4992587"/>
            <a:ext cx="7162568" cy="28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4"/>
              </a:lnSpc>
            </a:pPr>
            <a:r>
              <a:rPr lang="en-US" sz="1703" u="sng">
                <a:solidFill>
                  <a:srgbClr val="F1823D"/>
                </a:solidFill>
                <a:latin typeface="Open Sans"/>
                <a:ea typeface="Open Sans"/>
                <a:cs typeface="Open Sans"/>
                <a:sym typeface="Open Sans"/>
                <a:hlinkClick r:id="rId7" tooltip="https://shs.cairn.info/revue-sociographe-2024-1-page-73?lang=fr"/>
              </a:rPr>
              <a:t>https://shs.cairn.info/revue-sociographe-2024-1-page-73?lang=fr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B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829676">
            <a:off x="5444016" y="1023245"/>
            <a:ext cx="4117273" cy="4368460"/>
          </a:xfrm>
          <a:custGeom>
            <a:avLst/>
            <a:gdLst/>
            <a:ahLst/>
            <a:cxnLst/>
            <a:rect r="r" b="b" t="t" l="l"/>
            <a:pathLst>
              <a:path h="4368460" w="4117273">
                <a:moveTo>
                  <a:pt x="0" y="0"/>
                </a:moveTo>
                <a:lnTo>
                  <a:pt x="4117273" y="0"/>
                </a:lnTo>
                <a:lnTo>
                  <a:pt x="4117273" y="4368460"/>
                </a:lnTo>
                <a:lnTo>
                  <a:pt x="0" y="4368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95200" y="2507020"/>
            <a:ext cx="5563101" cy="252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2"/>
              </a:lnSpc>
            </a:pPr>
            <a:r>
              <a:rPr lang="en-US" b="true" sz="8541" spc="427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ACTION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BB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60762">
            <a:off x="7895654" y="133181"/>
            <a:ext cx="877535" cy="931071"/>
          </a:xfrm>
          <a:custGeom>
            <a:avLst/>
            <a:gdLst/>
            <a:ahLst/>
            <a:cxnLst/>
            <a:rect r="r" b="b" t="t" l="l"/>
            <a:pathLst>
              <a:path h="931071" w="877535">
                <a:moveTo>
                  <a:pt x="0" y="0"/>
                </a:moveTo>
                <a:lnTo>
                  <a:pt x="877535" y="0"/>
                </a:lnTo>
                <a:lnTo>
                  <a:pt x="877535" y="931071"/>
                </a:lnTo>
                <a:lnTo>
                  <a:pt x="0" y="931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8844" y="971220"/>
            <a:ext cx="7712890" cy="7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8"/>
              </a:lnSpc>
              <a:spcBef>
                <a:spcPct val="0"/>
              </a:spcBef>
            </a:pPr>
            <a:r>
              <a:rPr lang="en-US" sz="4127">
                <a:solidFill>
                  <a:srgbClr val="8A68CF"/>
                </a:solidFill>
                <a:latin typeface="Anton"/>
                <a:ea typeface="Anton"/>
                <a:cs typeface="Anton"/>
                <a:sym typeface="Anton"/>
              </a:rPr>
              <a:t>Citer une image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9755117">
            <a:off x="2863358" y="3950524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7"/>
                </a:moveTo>
                <a:lnTo>
                  <a:pt x="0" y="6318967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7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033339" y="372497"/>
            <a:ext cx="320133" cy="396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892309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+3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404284" y="2851563"/>
            <a:ext cx="3451206" cy="2995569"/>
          </a:xfrm>
          <a:custGeom>
            <a:avLst/>
            <a:gdLst/>
            <a:ahLst/>
            <a:cxnLst/>
            <a:rect r="r" b="b" t="t" l="l"/>
            <a:pathLst>
              <a:path h="2995569" w="3451206">
                <a:moveTo>
                  <a:pt x="0" y="0"/>
                </a:moveTo>
                <a:lnTo>
                  <a:pt x="3451207" y="0"/>
                </a:lnTo>
                <a:lnTo>
                  <a:pt x="3451207" y="2995570"/>
                </a:lnTo>
                <a:lnTo>
                  <a:pt x="0" y="29955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95466" y="1888429"/>
            <a:ext cx="7162568" cy="109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4"/>
              </a:lnSpc>
            </a:pPr>
            <a:r>
              <a:rPr lang="en-US" sz="2103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Saurez-vous citer l’image ci-dessous présente dans le livre de Couzon et Dorn ? </a:t>
            </a: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-10800000">
            <a:off x="395860" y="5077074"/>
            <a:ext cx="8249025" cy="2264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00"/>
              </a:lnSpc>
            </a:pPr>
            <a:r>
              <a:rPr lang="en-US" sz="1900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Réponse :</a:t>
            </a:r>
            <a:r>
              <a:rPr lang="en-US" sz="19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just">
              <a:lnSpc>
                <a:spcPts val="1900"/>
              </a:lnSpc>
            </a:pPr>
          </a:p>
          <a:p>
            <a:pPr algn="just">
              <a:lnSpc>
                <a:spcPts val="1900"/>
              </a:lnSpc>
            </a:pPr>
            <a:r>
              <a:rPr lang="en-US" sz="19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Sous l’image, on indique :   </a:t>
            </a:r>
            <a:r>
              <a:rPr lang="en-US" sz="1900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Tiré de : Couzon &amp; D</a:t>
            </a:r>
            <a:r>
              <a:rPr lang="en-US" b="true" sz="1900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</a:t>
            </a:r>
            <a:r>
              <a:rPr lang="en-US" sz="1900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n, 20</a:t>
            </a:r>
            <a:r>
              <a:rPr lang="en-US" b="true" sz="1900" u="non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19</a:t>
            </a:r>
            <a:r>
              <a:rPr lang="en-US" sz="1900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</a:t>
            </a:r>
            <a:r>
              <a:rPr lang="en-US" b="true" sz="1900" u="non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p.</a:t>
            </a:r>
            <a:r>
              <a:rPr lang="en-US" sz="1900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4</a:t>
            </a:r>
            <a:r>
              <a:rPr lang="en-US" b="true" sz="1900" u="non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</a:t>
            </a:r>
          </a:p>
          <a:p>
            <a:pPr algn="just">
              <a:lnSpc>
                <a:spcPts val="1900"/>
              </a:lnSpc>
            </a:pPr>
          </a:p>
          <a:p>
            <a:pPr algn="just">
              <a:lnSpc>
                <a:spcPts val="1300"/>
              </a:lnSpc>
            </a:pPr>
            <a:r>
              <a:rPr lang="en-US" sz="1300" i="true" u="none">
                <a:solidFill>
                  <a:srgbClr val="EF6F4E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Voir explication au chapitre 3.4. du guide APA</a:t>
            </a:r>
          </a:p>
          <a:p>
            <a:pPr algn="just">
              <a:lnSpc>
                <a:spcPts val="1900"/>
              </a:lnSpc>
            </a:pPr>
          </a:p>
          <a:p>
            <a:pPr algn="just">
              <a:lnSpc>
                <a:spcPts val="1900"/>
              </a:lnSpc>
            </a:pPr>
          </a:p>
          <a:p>
            <a:pPr algn="just">
              <a:lnSpc>
                <a:spcPts val="2664"/>
              </a:lnSpc>
            </a:pP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80240" y="4079078"/>
            <a:ext cx="2737898" cy="1033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69"/>
              </a:lnSpc>
            </a:pPr>
            <a:r>
              <a:rPr lang="en-US" sz="11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Référence du livre :</a:t>
            </a:r>
          </a:p>
          <a:p>
            <a:pPr algn="l">
              <a:lnSpc>
                <a:spcPts val="1870"/>
              </a:lnSpc>
            </a:pPr>
            <a:r>
              <a:rPr lang="en-US" sz="11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Couzon, E. &amp; Dorn, F. (2019). </a:t>
            </a:r>
            <a:r>
              <a:rPr lang="en-US" sz="1169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La magie des émotions</a:t>
            </a:r>
            <a:r>
              <a:rPr lang="en-US" sz="11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ESF.</a:t>
            </a:r>
          </a:p>
          <a:p>
            <a:pPr algn="l">
              <a:lnSpc>
                <a:spcPts val="1870"/>
              </a:lnSpc>
            </a:pPr>
          </a:p>
          <a:p>
            <a:pPr algn="l">
              <a:lnSpc>
                <a:spcPts val="1870"/>
              </a:lnSpc>
            </a:pPr>
            <a:r>
              <a:rPr lang="en-US" sz="11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L’image se trouve à la page 40.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B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829676">
            <a:off x="5444016" y="1023245"/>
            <a:ext cx="4117273" cy="4368460"/>
          </a:xfrm>
          <a:custGeom>
            <a:avLst/>
            <a:gdLst/>
            <a:ahLst/>
            <a:cxnLst/>
            <a:rect r="r" b="b" t="t" l="l"/>
            <a:pathLst>
              <a:path h="4368460" w="4117273">
                <a:moveTo>
                  <a:pt x="0" y="0"/>
                </a:moveTo>
                <a:lnTo>
                  <a:pt x="4117273" y="0"/>
                </a:lnTo>
                <a:lnTo>
                  <a:pt x="4117273" y="4368460"/>
                </a:lnTo>
                <a:lnTo>
                  <a:pt x="0" y="4368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95200" y="2507020"/>
            <a:ext cx="5563101" cy="252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2"/>
              </a:lnSpc>
            </a:pPr>
            <a:r>
              <a:rPr lang="en-US" b="true" sz="8541" spc="427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ACTION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BB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60762">
            <a:off x="7895654" y="133181"/>
            <a:ext cx="877535" cy="931071"/>
          </a:xfrm>
          <a:custGeom>
            <a:avLst/>
            <a:gdLst/>
            <a:ahLst/>
            <a:cxnLst/>
            <a:rect r="r" b="b" t="t" l="l"/>
            <a:pathLst>
              <a:path h="931071" w="877535">
                <a:moveTo>
                  <a:pt x="0" y="0"/>
                </a:moveTo>
                <a:lnTo>
                  <a:pt x="877535" y="0"/>
                </a:lnTo>
                <a:lnTo>
                  <a:pt x="877535" y="931071"/>
                </a:lnTo>
                <a:lnTo>
                  <a:pt x="0" y="931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8844" y="971220"/>
            <a:ext cx="7712890" cy="7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8"/>
              </a:lnSpc>
              <a:spcBef>
                <a:spcPct val="0"/>
              </a:spcBef>
            </a:pPr>
            <a:r>
              <a:rPr lang="en-US" sz="4127">
                <a:solidFill>
                  <a:srgbClr val="8A68CF"/>
                </a:solidFill>
                <a:latin typeface="Anton"/>
                <a:ea typeface="Anton"/>
                <a:cs typeface="Anton"/>
                <a:sym typeface="Anton"/>
              </a:rPr>
              <a:t>Identifier la nature d’un document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9755117">
            <a:off x="2863358" y="3950524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7"/>
                </a:moveTo>
                <a:lnTo>
                  <a:pt x="0" y="6318967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7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033339" y="372497"/>
            <a:ext cx="320133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892309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+2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5466" y="1888429"/>
            <a:ext cx="7162568" cy="109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4"/>
              </a:lnSpc>
            </a:pPr>
            <a:r>
              <a:rPr lang="en-US" sz="2103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 quel type peut être caractérisé le document suivant ?</a:t>
            </a: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true" flipV="true" rot="9755117">
            <a:off x="2863358" y="3950524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7"/>
                </a:moveTo>
                <a:lnTo>
                  <a:pt x="0" y="6318967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7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10800000">
            <a:off x="395860" y="5953374"/>
            <a:ext cx="8249025" cy="1388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00"/>
              </a:lnSpc>
            </a:pPr>
            <a:r>
              <a:rPr lang="en-US" sz="1900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Réponse :</a:t>
            </a:r>
            <a:r>
              <a:rPr lang="en-US" sz="19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 b</a:t>
            </a:r>
          </a:p>
          <a:p>
            <a:pPr algn="just">
              <a:lnSpc>
                <a:spcPts val="1900"/>
              </a:lnSpc>
            </a:pPr>
          </a:p>
          <a:p>
            <a:pPr algn="just">
              <a:lnSpc>
                <a:spcPts val="1900"/>
              </a:lnSpc>
            </a:pPr>
          </a:p>
          <a:p>
            <a:pPr algn="just">
              <a:lnSpc>
                <a:spcPts val="2664"/>
              </a:lnSpc>
            </a:pP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79831" y="2599081"/>
            <a:ext cx="1881083" cy="1881083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004005" y="4355648"/>
            <a:ext cx="7162568" cy="24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4"/>
              </a:lnSpc>
            </a:pPr>
            <a:r>
              <a:rPr lang="en-US" sz="1403" u="sng">
                <a:solidFill>
                  <a:srgbClr val="F1823D"/>
                </a:solidFill>
                <a:latin typeface="Open Sans"/>
                <a:ea typeface="Open Sans"/>
                <a:cs typeface="Open Sans"/>
                <a:sym typeface="Open Sans"/>
                <a:hlinkClick r:id="rId7" tooltip="https://drive.google.com/file/d/13_VVlC9ppRXoduRiIUHpDefXpYfF5lav/view"/>
              </a:rPr>
              <a:t>https://drive.google.com/file/d/13_VVlC9ppRXoduRiIUHpDefXpYfF5lav/view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566256" y="4740216"/>
            <a:ext cx="3908232" cy="1613657"/>
            <a:chOff x="0" y="0"/>
            <a:chExt cx="2744944" cy="11333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44944" cy="1133351"/>
            </a:xfrm>
            <a:custGeom>
              <a:avLst/>
              <a:gdLst/>
              <a:ahLst/>
              <a:cxnLst/>
              <a:rect r="r" b="b" t="t" l="l"/>
              <a:pathLst>
                <a:path h="1133351" w="2744944">
                  <a:moveTo>
                    <a:pt x="2620484" y="1133351"/>
                  </a:moveTo>
                  <a:lnTo>
                    <a:pt x="124460" y="1133351"/>
                  </a:lnTo>
                  <a:cubicBezTo>
                    <a:pt x="55880" y="1133351"/>
                    <a:pt x="0" y="1077471"/>
                    <a:pt x="0" y="100889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620484" y="0"/>
                  </a:lnTo>
                  <a:cubicBezTo>
                    <a:pt x="2689064" y="0"/>
                    <a:pt x="2744944" y="55880"/>
                    <a:pt x="2744944" y="124460"/>
                  </a:cubicBezTo>
                  <a:lnTo>
                    <a:pt x="2744944" y="1008891"/>
                  </a:lnTo>
                  <a:cubicBezTo>
                    <a:pt x="2744944" y="1077471"/>
                    <a:pt x="2689064" y="1133351"/>
                    <a:pt x="2620484" y="1133351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837533" y="4796256"/>
            <a:ext cx="3756257" cy="221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21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a. Site web</a:t>
            </a:r>
          </a:p>
          <a:p>
            <a:pPr algn="l">
              <a:lnSpc>
                <a:spcPts val="2944"/>
              </a:lnSpc>
            </a:pPr>
            <a:r>
              <a:rPr lang="en-US" sz="21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b. Article de presse</a:t>
            </a:r>
          </a:p>
          <a:p>
            <a:pPr algn="l">
              <a:lnSpc>
                <a:spcPts val="2944"/>
              </a:lnSpc>
            </a:pPr>
            <a:r>
              <a:rPr lang="en-US" sz="21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c. Article de revue</a:t>
            </a:r>
          </a:p>
          <a:p>
            <a:pPr algn="l">
              <a:lnSpc>
                <a:spcPts val="2944"/>
              </a:lnSpc>
            </a:pPr>
            <a:r>
              <a:rPr lang="en-US" sz="21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d. PDF</a:t>
            </a:r>
          </a:p>
          <a:p>
            <a:pPr algn="l">
              <a:lnSpc>
                <a:spcPts val="2944"/>
              </a:lnSpc>
            </a:pPr>
          </a:p>
          <a:p>
            <a:pPr algn="l">
              <a:lnSpc>
                <a:spcPts val="294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B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829676">
            <a:off x="5444016" y="1023245"/>
            <a:ext cx="4117273" cy="4368460"/>
          </a:xfrm>
          <a:custGeom>
            <a:avLst/>
            <a:gdLst/>
            <a:ahLst/>
            <a:cxnLst/>
            <a:rect r="r" b="b" t="t" l="l"/>
            <a:pathLst>
              <a:path h="4368460" w="4117273">
                <a:moveTo>
                  <a:pt x="0" y="0"/>
                </a:moveTo>
                <a:lnTo>
                  <a:pt x="4117273" y="0"/>
                </a:lnTo>
                <a:lnTo>
                  <a:pt x="4117273" y="4368460"/>
                </a:lnTo>
                <a:lnTo>
                  <a:pt x="0" y="4368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95200" y="2507020"/>
            <a:ext cx="5563101" cy="252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2"/>
              </a:lnSpc>
            </a:pPr>
            <a:r>
              <a:rPr lang="en-US" b="true" sz="8541" spc="427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ACTION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BB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60762">
            <a:off x="7895654" y="133181"/>
            <a:ext cx="877535" cy="931071"/>
          </a:xfrm>
          <a:custGeom>
            <a:avLst/>
            <a:gdLst/>
            <a:ahLst/>
            <a:cxnLst/>
            <a:rect r="r" b="b" t="t" l="l"/>
            <a:pathLst>
              <a:path h="931071" w="877535">
                <a:moveTo>
                  <a:pt x="0" y="0"/>
                </a:moveTo>
                <a:lnTo>
                  <a:pt x="877535" y="0"/>
                </a:lnTo>
                <a:lnTo>
                  <a:pt x="877535" y="931071"/>
                </a:lnTo>
                <a:lnTo>
                  <a:pt x="0" y="931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8844" y="971220"/>
            <a:ext cx="7712890" cy="7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8"/>
              </a:lnSpc>
              <a:spcBef>
                <a:spcPct val="0"/>
              </a:spcBef>
            </a:pPr>
            <a:r>
              <a:rPr lang="en-US" sz="4127">
                <a:solidFill>
                  <a:srgbClr val="8A68CF"/>
                </a:solidFill>
                <a:latin typeface="Anton"/>
                <a:ea typeface="Anton"/>
                <a:cs typeface="Anton"/>
                <a:sym typeface="Anton"/>
              </a:rPr>
              <a:t>Identifier la nature d’un document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9755117">
            <a:off x="2863358" y="3950524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7"/>
                </a:moveTo>
                <a:lnTo>
                  <a:pt x="0" y="6318967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7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033339" y="372497"/>
            <a:ext cx="320133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892309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+2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5466" y="1888429"/>
            <a:ext cx="7162568" cy="109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4"/>
              </a:lnSpc>
            </a:pPr>
            <a:r>
              <a:rPr lang="en-US" sz="2103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 quel type peut être caractérisé le document suivant ?</a:t>
            </a: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true" flipV="true" rot="9755117">
            <a:off x="2863358" y="3950524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7"/>
                </a:moveTo>
                <a:lnTo>
                  <a:pt x="0" y="6318967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7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10800000">
            <a:off x="395860" y="6429624"/>
            <a:ext cx="8249025" cy="91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00"/>
              </a:lnSpc>
            </a:pPr>
            <a:r>
              <a:rPr lang="en-US" sz="1900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Réponse :</a:t>
            </a:r>
            <a:r>
              <a:rPr lang="en-US" sz="19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 c</a:t>
            </a:r>
          </a:p>
          <a:p>
            <a:pPr algn="just">
              <a:lnSpc>
                <a:spcPts val="2664"/>
              </a:lnSpc>
            </a:pP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04005" y="4355648"/>
            <a:ext cx="7162568" cy="24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4"/>
              </a:lnSpc>
            </a:pPr>
            <a:r>
              <a:rPr lang="en-US" sz="1403" u="sng">
                <a:solidFill>
                  <a:srgbClr val="F1823D"/>
                </a:solidFill>
                <a:latin typeface="Open Sans"/>
                <a:ea typeface="Open Sans"/>
                <a:cs typeface="Open Sans"/>
                <a:sym typeface="Open Sans"/>
                <a:hlinkClick r:id="rId6" tooltip="https://shs.cairn.info/revue-empan-2024-1-page-14?lang=fr"/>
              </a:rPr>
              <a:t>https://shs.cairn.info/revue-empan-2024-1-page-14?lang=fr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566256" y="4740216"/>
            <a:ext cx="3908232" cy="1613657"/>
            <a:chOff x="0" y="0"/>
            <a:chExt cx="2744944" cy="1133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4944" cy="1133351"/>
            </a:xfrm>
            <a:custGeom>
              <a:avLst/>
              <a:gdLst/>
              <a:ahLst/>
              <a:cxnLst/>
              <a:rect r="r" b="b" t="t" l="l"/>
              <a:pathLst>
                <a:path h="1133351" w="2744944">
                  <a:moveTo>
                    <a:pt x="2620484" y="1133351"/>
                  </a:moveTo>
                  <a:lnTo>
                    <a:pt x="124460" y="1133351"/>
                  </a:lnTo>
                  <a:cubicBezTo>
                    <a:pt x="55880" y="1133351"/>
                    <a:pt x="0" y="1077471"/>
                    <a:pt x="0" y="100889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620484" y="0"/>
                  </a:lnTo>
                  <a:cubicBezTo>
                    <a:pt x="2689064" y="0"/>
                    <a:pt x="2744944" y="55880"/>
                    <a:pt x="2744944" y="124460"/>
                  </a:cubicBezTo>
                  <a:lnTo>
                    <a:pt x="2744944" y="1008891"/>
                  </a:lnTo>
                  <a:cubicBezTo>
                    <a:pt x="2744944" y="1077471"/>
                    <a:pt x="2689064" y="1133351"/>
                    <a:pt x="2620484" y="1133351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837533" y="4796256"/>
            <a:ext cx="3756257" cy="221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21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a. Site web</a:t>
            </a:r>
          </a:p>
          <a:p>
            <a:pPr algn="l">
              <a:lnSpc>
                <a:spcPts val="2944"/>
              </a:lnSpc>
            </a:pPr>
            <a:r>
              <a:rPr lang="en-US" sz="21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b. Livre</a:t>
            </a:r>
          </a:p>
          <a:p>
            <a:pPr algn="l">
              <a:lnSpc>
                <a:spcPts val="2944"/>
              </a:lnSpc>
            </a:pPr>
            <a:r>
              <a:rPr lang="en-US" sz="21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c. Article de revue</a:t>
            </a:r>
          </a:p>
          <a:p>
            <a:pPr algn="l">
              <a:lnSpc>
                <a:spcPts val="2944"/>
              </a:lnSpc>
            </a:pPr>
            <a:r>
              <a:rPr lang="en-US" sz="21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d. Chapitre de livre</a:t>
            </a:r>
          </a:p>
          <a:p>
            <a:pPr algn="l">
              <a:lnSpc>
                <a:spcPts val="2944"/>
              </a:lnSpc>
            </a:pPr>
          </a:p>
          <a:p>
            <a:pPr algn="l">
              <a:lnSpc>
                <a:spcPts val="2944"/>
              </a:lnSpc>
              <a:spcBef>
                <a:spcPct val="0"/>
              </a:spcBef>
            </a:pP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568060" y="2642092"/>
            <a:ext cx="1817380" cy="18173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B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829676">
            <a:off x="5444016" y="1023245"/>
            <a:ext cx="4117273" cy="4368460"/>
          </a:xfrm>
          <a:custGeom>
            <a:avLst/>
            <a:gdLst/>
            <a:ahLst/>
            <a:cxnLst/>
            <a:rect r="r" b="b" t="t" l="l"/>
            <a:pathLst>
              <a:path h="4368460" w="4117273">
                <a:moveTo>
                  <a:pt x="0" y="0"/>
                </a:moveTo>
                <a:lnTo>
                  <a:pt x="4117273" y="0"/>
                </a:lnTo>
                <a:lnTo>
                  <a:pt x="4117273" y="4368460"/>
                </a:lnTo>
                <a:lnTo>
                  <a:pt x="0" y="4368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95200" y="2507020"/>
            <a:ext cx="5563101" cy="252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2"/>
              </a:lnSpc>
            </a:pPr>
            <a:r>
              <a:rPr lang="en-US" b="true" sz="8541" spc="427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ACTION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BB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60762">
            <a:off x="7895654" y="133181"/>
            <a:ext cx="877535" cy="931071"/>
          </a:xfrm>
          <a:custGeom>
            <a:avLst/>
            <a:gdLst/>
            <a:ahLst/>
            <a:cxnLst/>
            <a:rect r="r" b="b" t="t" l="l"/>
            <a:pathLst>
              <a:path h="931071" w="877535">
                <a:moveTo>
                  <a:pt x="0" y="0"/>
                </a:moveTo>
                <a:lnTo>
                  <a:pt x="877535" y="0"/>
                </a:lnTo>
                <a:lnTo>
                  <a:pt x="877535" y="931071"/>
                </a:lnTo>
                <a:lnTo>
                  <a:pt x="0" y="931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8844" y="971220"/>
            <a:ext cx="7712890" cy="7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8"/>
              </a:lnSpc>
              <a:spcBef>
                <a:spcPct val="0"/>
              </a:spcBef>
            </a:pPr>
            <a:r>
              <a:rPr lang="en-US" sz="4127">
                <a:solidFill>
                  <a:srgbClr val="8A68CF"/>
                </a:solidFill>
                <a:latin typeface="Anton"/>
                <a:ea typeface="Anton"/>
                <a:cs typeface="Anton"/>
                <a:sym typeface="Anton"/>
              </a:rPr>
              <a:t>Identifier la nature d’un document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9755117">
            <a:off x="2863358" y="3950524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7"/>
                </a:moveTo>
                <a:lnTo>
                  <a:pt x="0" y="6318967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7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033339" y="372497"/>
            <a:ext cx="320133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892309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+2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5466" y="1888429"/>
            <a:ext cx="7162568" cy="109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4"/>
              </a:lnSpc>
            </a:pPr>
            <a:r>
              <a:rPr lang="en-US" sz="2103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 quel type peut être caractérisé le document suivant ?</a:t>
            </a: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true" flipV="true" rot="9755117">
            <a:off x="2863358" y="3950524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7"/>
                </a:moveTo>
                <a:lnTo>
                  <a:pt x="0" y="6318967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7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10800000">
            <a:off x="395860" y="6429624"/>
            <a:ext cx="8249025" cy="91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00"/>
              </a:lnSpc>
            </a:pPr>
            <a:r>
              <a:rPr lang="en-US" sz="1900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Réponse :</a:t>
            </a:r>
            <a:r>
              <a:rPr lang="en-US" sz="19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 a</a:t>
            </a:r>
          </a:p>
          <a:p>
            <a:pPr algn="just">
              <a:lnSpc>
                <a:spcPts val="2664"/>
              </a:lnSpc>
            </a:pP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796655" y="2895992"/>
            <a:ext cx="1577267" cy="1577267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004005" y="4355648"/>
            <a:ext cx="7162568" cy="24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4"/>
              </a:lnSpc>
            </a:pPr>
            <a:r>
              <a:rPr lang="en-US" sz="1403" u="sng">
                <a:solidFill>
                  <a:srgbClr val="F1823D"/>
                </a:solidFill>
                <a:latin typeface="Open Sans"/>
                <a:ea typeface="Open Sans"/>
                <a:cs typeface="Open Sans"/>
                <a:sym typeface="Open Sans"/>
                <a:hlinkClick r:id="rId7" tooltip="https://doi.org/10.3917/eres.gueno.2025.01.0030"/>
              </a:rPr>
              <a:t>https://doi.org/10.3917/eres.gueno.2025.01.0030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566256" y="4740216"/>
            <a:ext cx="3908232" cy="1613657"/>
            <a:chOff x="0" y="0"/>
            <a:chExt cx="2744944" cy="11333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44944" cy="1133351"/>
            </a:xfrm>
            <a:custGeom>
              <a:avLst/>
              <a:gdLst/>
              <a:ahLst/>
              <a:cxnLst/>
              <a:rect r="r" b="b" t="t" l="l"/>
              <a:pathLst>
                <a:path h="1133351" w="2744944">
                  <a:moveTo>
                    <a:pt x="2620484" y="1133351"/>
                  </a:moveTo>
                  <a:lnTo>
                    <a:pt x="124460" y="1133351"/>
                  </a:lnTo>
                  <a:cubicBezTo>
                    <a:pt x="55880" y="1133351"/>
                    <a:pt x="0" y="1077471"/>
                    <a:pt x="0" y="100889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620484" y="0"/>
                  </a:lnTo>
                  <a:cubicBezTo>
                    <a:pt x="2689064" y="0"/>
                    <a:pt x="2744944" y="55880"/>
                    <a:pt x="2744944" y="124460"/>
                  </a:cubicBezTo>
                  <a:lnTo>
                    <a:pt x="2744944" y="1008891"/>
                  </a:lnTo>
                  <a:cubicBezTo>
                    <a:pt x="2744944" y="1077471"/>
                    <a:pt x="2689064" y="1133351"/>
                    <a:pt x="2620484" y="1133351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837533" y="4796256"/>
            <a:ext cx="3756257" cy="221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21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a. Chapitre de livre</a:t>
            </a:r>
          </a:p>
          <a:p>
            <a:pPr algn="l">
              <a:lnSpc>
                <a:spcPts val="2944"/>
              </a:lnSpc>
            </a:pPr>
            <a:r>
              <a:rPr lang="en-US" sz="21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b. Article de revue</a:t>
            </a:r>
          </a:p>
          <a:p>
            <a:pPr algn="l">
              <a:lnSpc>
                <a:spcPts val="2944"/>
              </a:lnSpc>
            </a:pPr>
            <a:r>
              <a:rPr lang="en-US" sz="21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c. Billet de blog</a:t>
            </a:r>
          </a:p>
          <a:p>
            <a:pPr algn="l">
              <a:lnSpc>
                <a:spcPts val="2944"/>
              </a:lnSpc>
            </a:pPr>
            <a:r>
              <a:rPr lang="en-US" sz="21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d. Vidéo</a:t>
            </a:r>
          </a:p>
          <a:p>
            <a:pPr algn="l">
              <a:lnSpc>
                <a:spcPts val="2944"/>
              </a:lnSpc>
            </a:pPr>
          </a:p>
          <a:p>
            <a:pPr algn="l">
              <a:lnSpc>
                <a:spcPts val="294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B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829676">
            <a:off x="5444016" y="1023245"/>
            <a:ext cx="4117273" cy="4368460"/>
          </a:xfrm>
          <a:custGeom>
            <a:avLst/>
            <a:gdLst/>
            <a:ahLst/>
            <a:cxnLst/>
            <a:rect r="r" b="b" t="t" l="l"/>
            <a:pathLst>
              <a:path h="4368460" w="4117273">
                <a:moveTo>
                  <a:pt x="0" y="0"/>
                </a:moveTo>
                <a:lnTo>
                  <a:pt x="4117273" y="0"/>
                </a:lnTo>
                <a:lnTo>
                  <a:pt x="4117273" y="4368460"/>
                </a:lnTo>
                <a:lnTo>
                  <a:pt x="0" y="4368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95200" y="2507020"/>
            <a:ext cx="5563101" cy="252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2"/>
              </a:lnSpc>
            </a:pPr>
            <a:r>
              <a:rPr lang="en-US" b="true" sz="8541" spc="427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ACTION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BB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60762">
            <a:off x="7895654" y="133181"/>
            <a:ext cx="877535" cy="931071"/>
          </a:xfrm>
          <a:custGeom>
            <a:avLst/>
            <a:gdLst/>
            <a:ahLst/>
            <a:cxnLst/>
            <a:rect r="r" b="b" t="t" l="l"/>
            <a:pathLst>
              <a:path h="931071" w="877535">
                <a:moveTo>
                  <a:pt x="0" y="0"/>
                </a:moveTo>
                <a:lnTo>
                  <a:pt x="877535" y="0"/>
                </a:lnTo>
                <a:lnTo>
                  <a:pt x="877535" y="931071"/>
                </a:lnTo>
                <a:lnTo>
                  <a:pt x="0" y="931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8844" y="971220"/>
            <a:ext cx="7712890" cy="7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8"/>
              </a:lnSpc>
              <a:spcBef>
                <a:spcPct val="0"/>
              </a:spcBef>
            </a:pPr>
            <a:r>
              <a:rPr lang="en-US" sz="4127">
                <a:solidFill>
                  <a:srgbClr val="8A68CF"/>
                </a:solidFill>
                <a:latin typeface="Anton"/>
                <a:ea typeface="Anton"/>
                <a:cs typeface="Anton"/>
                <a:sym typeface="Anton"/>
              </a:rPr>
              <a:t>Identifier la nature d’un document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9755117">
            <a:off x="2863358" y="3950524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7"/>
                </a:moveTo>
                <a:lnTo>
                  <a:pt x="0" y="6318967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7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033339" y="372497"/>
            <a:ext cx="320133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892309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+2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5466" y="1888429"/>
            <a:ext cx="7162568" cy="109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4"/>
              </a:lnSpc>
            </a:pPr>
            <a:r>
              <a:rPr lang="en-US" sz="2103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 quel type peut être caractérisé le document suivant ?</a:t>
            </a: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true" flipV="true" rot="9755117">
            <a:off x="2863358" y="3950524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7"/>
                </a:moveTo>
                <a:lnTo>
                  <a:pt x="0" y="6318967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7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10800000">
            <a:off x="395860" y="6762999"/>
            <a:ext cx="8249025" cy="578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00"/>
              </a:lnSpc>
            </a:pPr>
            <a:r>
              <a:rPr lang="en-US" sz="1900" b="true">
                <a:solidFill>
                  <a:srgbClr val="8A68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Réponse :</a:t>
            </a:r>
            <a:r>
              <a:rPr lang="en-US" sz="1900">
                <a:solidFill>
                  <a:srgbClr val="8A68CF"/>
                </a:solidFill>
                <a:latin typeface="Open Sans"/>
                <a:ea typeface="Open Sans"/>
                <a:cs typeface="Open Sans"/>
                <a:sym typeface="Open Sans"/>
              </a:rPr>
              <a:t> c</a:t>
            </a:r>
          </a:p>
          <a:p>
            <a:pPr algn="just">
              <a:lnSpc>
                <a:spcPts val="2944"/>
              </a:lnSpc>
              <a:spcBef>
                <a:spcPct val="0"/>
              </a:spcBef>
            </a:pP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796655" y="2895992"/>
            <a:ext cx="1577267" cy="1577267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004005" y="4355648"/>
            <a:ext cx="7162568" cy="24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4"/>
              </a:lnSpc>
            </a:pPr>
            <a:r>
              <a:rPr lang="en-US" sz="1403" u="sng">
                <a:solidFill>
                  <a:srgbClr val="F1823D"/>
                </a:solidFill>
                <a:latin typeface="Open Sans"/>
                <a:ea typeface="Open Sans"/>
                <a:cs typeface="Open Sans"/>
                <a:sym typeface="Open Sans"/>
                <a:hlinkClick r:id="rId7" tooltip="https://www.bfs.admin.ch/bfs/fr/home/statistiques/securite-sociale/aide-sociale.html"/>
              </a:rPr>
              <a:t>https://www.bfs.admin.ch/bfs/fr/home/statistiques/securite-sociale/aide-sociale.html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566256" y="4740216"/>
            <a:ext cx="3908232" cy="1613657"/>
            <a:chOff x="0" y="0"/>
            <a:chExt cx="2744944" cy="11333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44944" cy="1133351"/>
            </a:xfrm>
            <a:custGeom>
              <a:avLst/>
              <a:gdLst/>
              <a:ahLst/>
              <a:cxnLst/>
              <a:rect r="r" b="b" t="t" l="l"/>
              <a:pathLst>
                <a:path h="1133351" w="2744944">
                  <a:moveTo>
                    <a:pt x="2620484" y="1133351"/>
                  </a:moveTo>
                  <a:lnTo>
                    <a:pt x="124460" y="1133351"/>
                  </a:lnTo>
                  <a:cubicBezTo>
                    <a:pt x="55880" y="1133351"/>
                    <a:pt x="0" y="1077471"/>
                    <a:pt x="0" y="100889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620484" y="0"/>
                  </a:lnTo>
                  <a:cubicBezTo>
                    <a:pt x="2689064" y="0"/>
                    <a:pt x="2744944" y="55880"/>
                    <a:pt x="2744944" y="124460"/>
                  </a:cubicBezTo>
                  <a:lnTo>
                    <a:pt x="2744944" y="1008891"/>
                  </a:lnTo>
                  <a:cubicBezTo>
                    <a:pt x="2744944" y="1077471"/>
                    <a:pt x="2689064" y="1133351"/>
                    <a:pt x="2620484" y="1133351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837533" y="4796256"/>
            <a:ext cx="3756257" cy="221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21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a. Texte législatif</a:t>
            </a:r>
          </a:p>
          <a:p>
            <a:pPr algn="l">
              <a:lnSpc>
                <a:spcPts val="2944"/>
              </a:lnSpc>
            </a:pPr>
            <a:r>
              <a:rPr lang="en-US" sz="21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b. Rapport</a:t>
            </a:r>
          </a:p>
          <a:p>
            <a:pPr algn="l">
              <a:lnSpc>
                <a:spcPts val="2944"/>
              </a:lnSpc>
            </a:pPr>
            <a:r>
              <a:rPr lang="en-US" sz="21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c. Page web</a:t>
            </a:r>
          </a:p>
          <a:p>
            <a:pPr algn="l">
              <a:lnSpc>
                <a:spcPts val="2944"/>
              </a:lnSpc>
            </a:pPr>
            <a:r>
              <a:rPr lang="en-US" sz="21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d. Article de revue</a:t>
            </a:r>
          </a:p>
          <a:p>
            <a:pPr algn="l">
              <a:lnSpc>
                <a:spcPts val="2944"/>
              </a:lnSpc>
            </a:pPr>
          </a:p>
          <a:p>
            <a:pPr algn="l">
              <a:lnSpc>
                <a:spcPts val="294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B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25337">
            <a:off x="-3172345" y="-157203"/>
            <a:ext cx="7136410" cy="6318967"/>
          </a:xfrm>
          <a:custGeom>
            <a:avLst/>
            <a:gdLst/>
            <a:ahLst/>
            <a:cxnLst/>
            <a:rect r="r" b="b" t="t" l="l"/>
            <a:pathLst>
              <a:path h="6318967" w="7136410">
                <a:moveTo>
                  <a:pt x="7136410" y="6318966"/>
                </a:moveTo>
                <a:lnTo>
                  <a:pt x="0" y="6318966"/>
                </a:lnTo>
                <a:lnTo>
                  <a:pt x="0" y="0"/>
                </a:lnTo>
                <a:lnTo>
                  <a:pt x="7136410" y="0"/>
                </a:lnTo>
                <a:lnTo>
                  <a:pt x="7136410" y="6318966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0762">
            <a:off x="-1324542" y="-444195"/>
            <a:ext cx="2829649" cy="3002280"/>
          </a:xfrm>
          <a:custGeom>
            <a:avLst/>
            <a:gdLst/>
            <a:ahLst/>
            <a:cxnLst/>
            <a:rect r="r" b="b" t="t" l="l"/>
            <a:pathLst>
              <a:path h="3002280" w="2829649">
                <a:moveTo>
                  <a:pt x="0" y="0"/>
                </a:moveTo>
                <a:lnTo>
                  <a:pt x="2829649" y="0"/>
                </a:lnTo>
                <a:lnTo>
                  <a:pt x="2829649" y="3002280"/>
                </a:lnTo>
                <a:lnTo>
                  <a:pt x="0" y="300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973917">
            <a:off x="7027859" y="549910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1" y="0"/>
                </a:lnTo>
                <a:lnTo>
                  <a:pt x="3036551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829676">
            <a:off x="-767705" y="5759116"/>
            <a:ext cx="3036550" cy="3221804"/>
          </a:xfrm>
          <a:custGeom>
            <a:avLst/>
            <a:gdLst/>
            <a:ahLst/>
            <a:cxnLst/>
            <a:rect r="r" b="b" t="t" l="l"/>
            <a:pathLst>
              <a:path h="3221804" w="3036550">
                <a:moveTo>
                  <a:pt x="0" y="0"/>
                </a:moveTo>
                <a:lnTo>
                  <a:pt x="3036550" y="0"/>
                </a:lnTo>
                <a:lnTo>
                  <a:pt x="3036550" y="3221804"/>
                </a:lnTo>
                <a:lnTo>
                  <a:pt x="0" y="322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829676">
            <a:off x="5444016" y="1023245"/>
            <a:ext cx="4117273" cy="4368460"/>
          </a:xfrm>
          <a:custGeom>
            <a:avLst/>
            <a:gdLst/>
            <a:ahLst/>
            <a:cxnLst/>
            <a:rect r="r" b="b" t="t" l="l"/>
            <a:pathLst>
              <a:path h="4368460" w="4117273">
                <a:moveTo>
                  <a:pt x="0" y="0"/>
                </a:moveTo>
                <a:lnTo>
                  <a:pt x="4117273" y="0"/>
                </a:lnTo>
                <a:lnTo>
                  <a:pt x="4117273" y="4368460"/>
                </a:lnTo>
                <a:lnTo>
                  <a:pt x="0" y="4368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95200" y="2507020"/>
            <a:ext cx="5563101" cy="252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2"/>
              </a:lnSpc>
            </a:pPr>
            <a:r>
              <a:rPr lang="en-US" b="true" sz="8541" spc="427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DAGwxn-kFdc</dc:identifier>
  <dcterms:modified xsi:type="dcterms:W3CDTF">2011-08-01T06:04:30Z</dcterms:modified>
  <cp:revision>1</cp:revision>
  <dc:title>Jeu_plateau_APA_Cartes_Actions</dc:title>
</cp:coreProperties>
</file>